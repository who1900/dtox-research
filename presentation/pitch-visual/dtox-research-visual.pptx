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b8ef063bf704e16" /><Relationship Type="http://schemas.openxmlformats.org/officeDocument/2006/relationships/extended-properties" Target="/docProps/app.xml" Id="R402de2c4c84f4bde" /><Relationship Type="http://schemas.openxmlformats.org/officeDocument/2006/relationships/officeDocument" Target="/ppt/presentation.xml" Id="Rb3915e04d9ee48c6" /></Relationships>
</file>

<file path=ppt/presentation.xml><?xml version="1.0" encoding="utf-8"?>
<p:presentation xmlns:p="http://schemas.openxmlformats.org/presentationml/2006/main">
  <p:sldMasterIdLst>
    <p:sldMasterId xmlns:r="http://schemas.openxmlformats.org/officeDocument/2006/relationships" id="2147483648" r:id="R43eb9618775d44b1"/>
  </p:sldMasterIdLst>
  <p:notesMasterIdLst>
    <p:notesMasterId xmlns:r="http://schemas.openxmlformats.org/officeDocument/2006/relationships" r:id="R066144152b794fc6"/>
  </p:notesMasterIdLst>
  <p:sldIdLst>
    <p:sldId xmlns:r="http://schemas.openxmlformats.org/officeDocument/2006/relationships" id="256" r:id="R3fb28276c6a648cd"/>
    <p:sldId xmlns:r="http://schemas.openxmlformats.org/officeDocument/2006/relationships" id="257" r:id="R17361f93d5c84d62"/>
    <p:sldId xmlns:r="http://schemas.openxmlformats.org/officeDocument/2006/relationships" id="258" r:id="R077c4a49d63a423b"/>
    <p:sldId xmlns:r="http://schemas.openxmlformats.org/officeDocument/2006/relationships" id="259" r:id="Refd6527a4ace4157"/>
    <p:sldId xmlns:r="http://schemas.openxmlformats.org/officeDocument/2006/relationships" id="260" r:id="R357efb258ff04a02"/>
    <p:sldId xmlns:r="http://schemas.openxmlformats.org/officeDocument/2006/relationships" id="261" r:id="R81c026808b394eea"/>
    <p:sldId xmlns:r="http://schemas.openxmlformats.org/officeDocument/2006/relationships" id="262" r:id="R73c959561ee94d73"/>
    <p:sldId xmlns:r="http://schemas.openxmlformats.org/officeDocument/2006/relationships" id="263" r:id="R79c89cedabc745c3"/>
    <p:sldId xmlns:r="http://schemas.openxmlformats.org/officeDocument/2006/relationships" id="264" r:id="Rd101d5e50d3a4d88"/>
    <p:sldId xmlns:r="http://schemas.openxmlformats.org/officeDocument/2006/relationships" id="265" r:id="R75b71919e41346db"/>
    <p:sldId xmlns:r="http://schemas.openxmlformats.org/officeDocument/2006/relationships" id="266" r:id="R631b6ba9e6c24d70"/>
    <p:sldId xmlns:r="http://schemas.openxmlformats.org/officeDocument/2006/relationships" id="267" r:id="Re523a23b6dc24b0b"/>
    <p:sldId xmlns:r="http://schemas.openxmlformats.org/officeDocument/2006/relationships" id="268" r:id="Rb8ebe3ad897f412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51f098c07e4d18" /><Relationship Type="http://schemas.openxmlformats.org/officeDocument/2006/relationships/slideMaster" Target="/ppt/slideMasters/slideMaster1.xml" Id="R43eb9618775d44b1" /><Relationship Type="http://schemas.openxmlformats.org/officeDocument/2006/relationships/notesMaster" Target="/ppt/notesMasters/notesMaster1.xml" Id="R066144152b794fc6" /><Relationship Type="http://schemas.openxmlformats.org/officeDocument/2006/relationships/presProps" Target="/ppt/presProps.xml" Id="R6a2706e0308948ff" /><Relationship Type="http://schemas.openxmlformats.org/officeDocument/2006/relationships/tableStyles" Target="/ppt/tableStyles.xml" Id="Rd816cca8ba3544a3" /><Relationship Type="http://schemas.openxmlformats.org/officeDocument/2006/relationships/slide" Target="/ppt/slides/slide1.xml" Id="R3fb28276c6a648cd" /><Relationship Type="http://schemas.openxmlformats.org/officeDocument/2006/relationships/slide" Target="/ppt/slides/slide2.xml" Id="R17361f93d5c84d62" /><Relationship Type="http://schemas.openxmlformats.org/officeDocument/2006/relationships/slide" Target="/ppt/slides/slide3.xml" Id="R077c4a49d63a423b" /><Relationship Type="http://schemas.openxmlformats.org/officeDocument/2006/relationships/slide" Target="/ppt/slides/slide4.xml" Id="Refd6527a4ace4157" /><Relationship Type="http://schemas.openxmlformats.org/officeDocument/2006/relationships/slide" Target="/ppt/slides/slide5.xml" Id="R357efb258ff04a02" /><Relationship Type="http://schemas.openxmlformats.org/officeDocument/2006/relationships/slide" Target="/ppt/slides/slide6.xml" Id="R81c026808b394eea" /><Relationship Type="http://schemas.openxmlformats.org/officeDocument/2006/relationships/slide" Target="/ppt/slides/slide7.xml" Id="R73c959561ee94d73" /><Relationship Type="http://schemas.openxmlformats.org/officeDocument/2006/relationships/slide" Target="/ppt/slides/slide8.xml" Id="R79c89cedabc745c3" /><Relationship Type="http://schemas.openxmlformats.org/officeDocument/2006/relationships/slide" Target="/ppt/slides/slide9.xml" Id="Rd101d5e50d3a4d88" /><Relationship Type="http://schemas.openxmlformats.org/officeDocument/2006/relationships/slide" Target="/ppt/slides/slide10.xml" Id="R75b71919e41346db" /><Relationship Type="http://schemas.openxmlformats.org/officeDocument/2006/relationships/slide" Target="/ppt/slides/slide11.xml" Id="R631b6ba9e6c24d70" /><Relationship Type="http://schemas.openxmlformats.org/officeDocument/2006/relationships/slide" Target="/ppt/slides/slide12.xml" Id="Re523a23b6dc24b0b" /><Relationship Type="http://schemas.openxmlformats.org/officeDocument/2006/relationships/slide" Target="/ppt/slides/slide13.xml" Id="Rb8ebe3ad897f412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5ab591bdae44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1433a2f534d46be" /><Relationship Type="http://schemas.openxmlformats.org/officeDocument/2006/relationships/notesMaster" Target="/ppt/notesMasters/notesMaster1.xml" Id="Ra24841cfa4d54c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b6cf88caafd14444" /><Relationship Type="http://schemas.openxmlformats.org/officeDocument/2006/relationships/notesMaster" Target="/ppt/notesMasters/notesMaster1.xml" Id="R609298684dc14a3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16ea655f51a46cf" /><Relationship Type="http://schemas.openxmlformats.org/officeDocument/2006/relationships/notesMaster" Target="/ppt/notesMasters/notesMaster1.xml" Id="Rec56635e71f44e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47f57a70e64de4" /><Relationship Type="http://schemas.openxmlformats.org/officeDocument/2006/relationships/notesMaster" Target="/ppt/notesMasters/notesMaster1.xml" Id="R03ed6dfd5fad46ab"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a9d24bb69046e8" /><Relationship Type="http://schemas.openxmlformats.org/officeDocument/2006/relationships/notesMaster" Target="/ppt/notesMasters/notesMaster1.xml" Id="Rae3bf9a61e3e4d4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09e4c6411e4d84" /><Relationship Type="http://schemas.openxmlformats.org/officeDocument/2006/relationships/notesMaster" Target="/ppt/notesMasters/notesMaster1.xml" Id="R751a518a1a5047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885bb952874dcf" /><Relationship Type="http://schemas.openxmlformats.org/officeDocument/2006/relationships/notesMaster" Target="/ppt/notesMasters/notesMaster1.xml" Id="Rfcd22c2cb5894bc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9f7fdd73fd44352" /><Relationship Type="http://schemas.openxmlformats.org/officeDocument/2006/relationships/notesMaster" Target="/ppt/notesMasters/notesMaster1.xml" Id="Rbf00d2fbb60c4efe" /></Relationships>
</file>

<file path=ppt/notesSlides/_rels/notesSlide9.xml.rels>&#65279;<?xml version="1.0" encoding="utf-8"?><Relationships xmlns="http://schemas.openxmlformats.org/package/2006/relationships"><Relationship Type="http://schemas.openxmlformats.org/officeDocument/2006/relationships/slide" Target="/ppt/slides/slide9.xml" Id="Rdb6146dc56494ace" /><Relationship Type="http://schemas.openxmlformats.org/officeDocument/2006/relationships/notesMaster" Target="/ppt/notesMasters/notesMaster1.xml" Id="R5d6fea0f1b14423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511ee605924c94" /><Relationship Type="http://schemas.openxmlformats.org/officeDocument/2006/relationships/notesMaster" Target="/ppt/notesMasters/notesMaster1.xml" Id="R4d3010b3e45d43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6c166030df5418a" /><Relationship Type="http://schemas.openxmlformats.org/officeDocument/2006/relationships/notesMaster" Target="/ppt/notesMasters/notesMaster1.xml" Id="Rc0e3414cc7cc4ed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5de3c33c7304931" /><Relationship Type="http://schemas.openxmlformats.org/officeDocument/2006/relationships/notesMaster" Target="/ppt/notesMasters/notesMaster1.xml" Id="R1c9deb01fbd5479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c0b79fc88b464e" /><Relationship Type="http://schemas.openxmlformats.org/officeDocument/2006/relationships/notesMaster" Target="/ppt/notesMasters/notesMaster1.xml" Id="R41ba64f8a89245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dtox helps AI agents test Web3 ideas against scientific research with source-linked papers, equations, and author-stated limitations. The visual is an original crop of Equation 4 from the source PDF.</a:t>
            </a:r>
          </a:p>
          <a:p xmlns:a="http://schemas.openxmlformats.org/drawingml/2006/main">
            <a:r>
              <a:t>Source: https://arxiv.org/abs/2101.05511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BEV auction model assumes independent player rewards drawn from a common uniform distribution, with the participant count n and distribution known. The implication is a design check, not a claim that the paper validates any specific protocol. The source line is an original crop from the supplied PDF.</a:t>
            </a:r>
          </a:p>
          <a:p xmlns:a="http://schemas.openxmlformats.org/drawingml/2006/main">
            <a:r>
              <a:t>Source: https://arxiv.org/abs/2101.05511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Example question: What bidding strategy does the BEV auction model derive, and under which assumptions? Verified MCP calls: get_code_or_math_spec returned 6/6 equations, exact_latex=true, 1,245 characters, not truncated; read_paper_section for paper_id 2101.05511 and section ‘Incentive Compatibility of the Relay auction Participation’ returned 3,087 characters of full text with the uniform-distribution assumptions. The diagram is editable.</a:t>
            </a:r>
          </a:p>
          <a:p xmlns:a="http://schemas.openxmlformats.org/drawingml/2006/main">
            <a:r>
              <a:t>Exact LaTeX: b_i^{\text{PA}}(\mathcal{O}, \mathcal{S}_i)=\frac{n-1}{n}\mathcal{R}_i(\mathcal{O})</a:t>
            </a:r>
          </a:p>
          <a:p xmlns:a="http://schemas.openxmlformats.org/drawingml/2006/main">
            <a:r>
              <a:t>The model assumes independent player rewards from a common uniform distribution, with n and that distribution known.</a:t>
            </a:r>
          </a:p>
          <a:p xmlns:a="http://schemas.openxmlformats.org/drawingml/2006/main">
            <a:r>
              <a:t>Source: https://arxiv.org/abs/2101.05511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Equation 4 from Quantifying Blockchain Extractable Value: How dark is the forest? The original source crop preserves PA in the superscript. The LaTeX below is the exact returned string from get_code_or_math_spec, verified exact_latex=true and not truncated. The authors assume player rewards are independently drawn from the same uniform distribution, with n and that distribution known.</a:t>
            </a:r>
          </a:p>
          <a:p xmlns:a="http://schemas.openxmlformats.org/drawingml/2006/main">
            <a:r>
              <a:t>Exact LaTeX: b_i^{\text{PA}}(\mathcal{O}, \mathcal{S}_i)=\frac{n-1}{n}\mathcal{R}_i(\mathcal{O})</a:t>
            </a:r>
          </a:p>
          <a:p xmlns:a="http://schemas.openxmlformats.org/drawingml/2006/main">
            <a:r>
              <a:t>Source: https://arxiv.org/abs/2101.05511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EIP-4337 Security Considerations describe EntryPoint as a central trust point and say it concentrates risk. The authors recommend auditing and formal verification. This is the authors' warning, not a dtox security audit. The screenshot is from the CC0 EIP-4337 site and has not been altered.</a:t>
            </a:r>
          </a:p>
          <a:p xmlns:a="http://schemas.openxmlformats.org/drawingml/2006/main">
            <a:r>
              <a:t>Source: https://eips.ethereum.org/EIPS/eip-4337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Initial beachhead and adjacent segments are product hypotheses, not a measured market-size claim. The first target is protocol engineering teams; DeFi, MEV, ZK and wallet research are example question areas. AI/LLM research tools are an adjacent integration audience.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is based on public product documentation. Elicit has literature synthesis and extraction, plus API and MCP. Semantic Scholar offers scholarly discovery, metadata, and citation graph APIs. arxiv-mcp-server supports original LaTeX-oriented workflows. dtox focuses on Web3 papers and protocol specifications, with structured math and implementation evidence.</a:t>
            </a:r>
          </a:p>
          <a:p xmlns:a="http://schemas.openxmlformats.org/drawingml/2006/main">
            <a:r>
              <a:t>Sources: https://elicit.com/</a:t>
            </a:r>
          </a:p>
          <a:p xmlns:a="http://schemas.openxmlformats.org/drawingml/2006/main">
            <a:r>
              <a:t>https://elicit.com/blog/the-elicit-api-and-mcp-powering-autonomous-research-engines</a:t>
            </a:r>
          </a:p>
          <a:p xmlns:a="http://schemas.openxmlformats.org/drawingml/2006/main">
            <a:r>
              <a:t>https://api.semanticscholar.org/api-docs/</a:t>
            </a:r>
          </a:p>
          <a:p xmlns:a="http://schemas.openxmlformats.org/drawingml/2006/main">
            <a:r>
              <a:t>https://github.com/blazickjp/arxiv-mcp-server</a:t>
            </a:r>
          </a:p>
          <a:p xmlns:a="http://schemas.openxmlformats.org/drawingml/2006/main">
            <a:r>
              <a:t>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MCP: 13 tools. Corpus counters observed at 10:00 UTC: 17,365 Web3 records, 180,834 documents, 10,801,902 chunks, and 3,388,476 citation edges. This is an observation timestamp, not an immutable snapshot. Full text is not available for every record. Dense retrieval covers paper/chunk embeddings, BM25, and a citation graph. Graph seeds depend on the initial retrieval, so this deck does not claim graph search is independent of query wording.</a:t>
            </a:r>
          </a:p>
          <a:p xmlns:a="http://schemas.openxmlformats.org/drawingml/2006/main">
            <a:r>
              <a:t>Sources: https://read.whoim.space/research/stats.json</a:t>
            </a:r>
          </a:p>
          <a:p xmlns:a="http://schemas.openxmlformats.org/drawingml/2006/main">
            <a:r>
              <a:t>https://read.whoim.space/mcp</a:t>
            </a:r>
          </a:p>
          <a:p xmlns:a="http://schemas.openxmlformats.org/drawingml/2006/main">
            <a:r>
              <a:t>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free read endpoint is live. An optional usage-based model for intensive research is a future hypothesis, not a launched paid product. No prices or customer willingness-to-pay evidence are claimed. Historical Solana devnet payment demonstrations do not establish a paid product.</a:t>
            </a:r>
          </a:p>
          <a:p xmlns:a="http://schemas.openxmlformats.org/drawingml/2006/main">
            <a:r>
              <a:t>Sources: https://read.whoim.space/mcp</a:t>
            </a:r>
          </a:p>
          <a:p xmlns:a="http://schemas.openxmlformats.org/drawingml/2006/main">
            <a:r>
              <a:t>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hypothesis: integrate through MCP clients developers already use, recruit pilot teams with real protocol questions, and measure source usefulness and repeated research. Codex, Claude, and compatible MCP clients are target integration environments. These are proposed pilot goals, not completed pilots or validated results.</a:t>
            </a:r>
          </a:p>
          <a:p xmlns:a="http://schemas.openxmlformats.org/drawingml/2006/main">
            <a:r>
              <a:t>Source: https://read.whoim.space/mcp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Solana devnet payment and signed reading demonstration confirmed. Base, Ethereum and Arbitrum Sepolia testnets are configured, with end-to-end checks pending. Wallet signature can establish attribution to a key, not truth, correctness, or independent review. Research is readable without a wallet; payment is optional. No mainnet deployment is claimed.</a:t>
            </a:r>
          </a:p>
          <a:p xmlns:a="http://schemas.openxmlformats.org/drawingml/2006/main">
            <a:r>
              <a:t>Sources: https://github.com/who1900/dtox-research</a:t>
            </a:r>
          </a:p>
          <a:p xmlns:a="http://schemas.openxmlformats.org/drawingml/2006/main">
            <a:r>
              <a:t>Historical devnet transaction and attestation links are retained in the project evidence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Daniyar Gabdullin. Relevant experience: mobile product engineering and blockchain/dApp/wallet QA. The slide intentionally uses an editable capability map rather than an unavailable portrait. No timeline dates, unsupported roles, or products are claimed.</a:t>
            </a:r>
          </a:p>
          <a:p xmlns:a="http://schemas.openxmlformats.org/drawingml/2006/main">
            <a:r>
              <a:t>Portfolio: https://portfolio.whoim.space/</a:t>
            </a:r>
          </a:p>
          <a:p xmlns:a="http://schemas.openxmlformats.org/drawingml/2006/main">
            <a:r>
              <a:t>LinkedIn: https://www.linkedin.com/in/daniyar-gabdullin-11312b252/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Seeking three pilot teams is a proposed target, not current traction. Pilot teams should bring a real protocol research question. Evaluate whether cited sources are useful and whether teams return for repeat research.</a:t>
            </a:r>
          </a:p>
          <a:p xmlns:a="http://schemas.openxmlformats.org/drawingml/2006/main">
            <a:r>
              <a:t>Research: https://read.whoim.space/research/</a:t>
            </a:r>
          </a:p>
          <a:p xmlns:a="http://schemas.openxmlformats.org/drawingml/2006/main">
            <a:r>
              <a:t>Code: https://github.com/who1900/dtox-research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27156c97dd4a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199bb8f9c3546ea" /><Relationship Type="http://schemas.openxmlformats.org/officeDocument/2006/relationships/slideLayout" Target="/ppt/slideLayouts/slideLayout1.xml" Id="R02a2d11354534b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2a2d11354534b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99c3045d4f4fbd" /><Relationship Type="http://schemas.openxmlformats.org/officeDocument/2006/relationships/image" Target="/ppt/media/image.png" Id="Ra2b07b2e90d24b08" /><Relationship Type="http://schemas.openxmlformats.org/officeDocument/2006/relationships/notesSlide" Target="/ppt/notesSlides/notesSlide1.xml" Id="R362a80000c214f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33b9c0642c041af" /><Relationship Type="http://schemas.openxmlformats.org/officeDocument/2006/relationships/image" Target="/ppt/media/image2.png" Id="Rcc9577fd03444843" /><Relationship Type="http://schemas.openxmlformats.org/officeDocument/2006/relationships/notesSlide" Target="/ppt/notesSlides/notesSlide2.xml" Id="R88cc7eabf07b48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40c8de42fbb4a88" /><Relationship Type="http://schemas.openxmlformats.org/officeDocument/2006/relationships/image" Target="/ppt/media/image3.png" Id="Rc8ef779114f14a26" /><Relationship Type="http://schemas.openxmlformats.org/officeDocument/2006/relationships/notesSlide" Target="/ppt/notesSlides/notesSlide3.xml" Id="Rc9b414a42e3a4d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dea491c2d54ad9" /><Relationship Type="http://schemas.openxmlformats.org/officeDocument/2006/relationships/image" Target="/ppt/media/image4.png" Id="R416ac79a3fa54507" /><Relationship Type="http://schemas.openxmlformats.org/officeDocument/2006/relationships/image" Target="/ppt/media/image5.png" Id="R001a58b72fb2440d" /><Relationship Type="http://schemas.openxmlformats.org/officeDocument/2006/relationships/notesSlide" Target="/ppt/notesSlides/notesSlide4.xml" Id="Rf0b49d362d3043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a58df6964664469" /><Relationship Type="http://schemas.openxmlformats.org/officeDocument/2006/relationships/image" Target="/ppt/media/image6.png" Id="R0e8426b164c14ee6" /><Relationship Type="http://schemas.openxmlformats.org/officeDocument/2006/relationships/notesSlide" Target="/ppt/notesSlides/notesSlide5.xml" Id="Rb724c77a43744b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d6a97c50994b9e" /><Relationship Type="http://schemas.openxmlformats.org/officeDocument/2006/relationships/notesSlide" Target="/ppt/notesSlides/notesSlide6.xml" Id="R67819c82449d40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a8e96774dc46fa" /><Relationship Type="http://schemas.openxmlformats.org/officeDocument/2006/relationships/notesSlide" Target="/ppt/notesSlides/notesSlide7.xml" Id="Rb221530f8d4546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6d83932a01407f" /><Relationship Type="http://schemas.openxmlformats.org/officeDocument/2006/relationships/notesSlide" Target="/ppt/notesSlides/notesSlide8.xml" Id="R9e0c81add7f6407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c267cd060924e18" /><Relationship Type="http://schemas.openxmlformats.org/officeDocument/2006/relationships/notesSlide" Target="/ppt/notesSlides/notesSlide9.xml" Id="R70a59368d5584c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1cdf878b524147" /><Relationship Type="http://schemas.openxmlformats.org/officeDocument/2006/relationships/notesSlide" Target="/ppt/notesSlides/notesSlide10.xml" Id="R2ecd58f98b634a8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ec93114136a49e2" /><Relationship Type="http://schemas.openxmlformats.org/officeDocument/2006/relationships/notesSlide" Target="/ppt/notesSlides/notesSlide11.xml" Id="Rd8e03e15fee540b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0f308a2d1734106" /><Relationship Type="http://schemas.openxmlformats.org/officeDocument/2006/relationships/hyperlink" Target="https://portfolio.whoim.space/" TargetMode="External" Id="R52f59ac46d20445d" /><Relationship Type="http://schemas.openxmlformats.org/officeDocument/2006/relationships/hyperlink" Target="https://www.linkedin.com/in/daniyar-gabdullin-11312b252/" TargetMode="External" Id="Rab5d211ad8454b65" /><Relationship Type="http://schemas.openxmlformats.org/officeDocument/2006/relationships/notesSlide" Target="/ppt/notesSlides/notesSlide12.xml" Id="R3df1cb84f8e34c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230143b7c91409b" /><Relationship Type="http://schemas.openxmlformats.org/officeDocument/2006/relationships/notesSlide" Target="/ppt/notesSlides/notesSlide13.xml" Id="Rad4fa0bbd3784a30" /></Relationships>
</file>

<file path=ppt/slides/slide1.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0" name="cover-evidence-field">
            <a:extLst xmlns:a="http://schemas.openxmlformats.org/drawingml/2006/main">
              <a:ext uri="{FF2B5EF4-FFF2-40B4-BE49-F238E27FC236}">
                <a16:creationId xmlns:a16="http://schemas.microsoft.com/office/drawing/2014/main" id="{E55A9A12-A9F5-45F9-A158-2DA1380C0074}"/>
              </a:ext>
            </a:extLst>
          </p:cNvPr>
          <p:cNvSpPr>
            <a:spLocks xmlns:a="http://schemas.openxmlformats.org/drawingml/2006/main" noGrp="1"/>
          </p:cNvSpPr>
          <p:nvPr/>
        </p:nvSpPr>
        <p:spPr>
          <a:xfrm xmlns:a="http://schemas.openxmlformats.org/drawingml/2006/main">
            <a:off x="7239000" y="0"/>
            <a:ext cx="4953000" cy="685800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2" name="cover-brand">
            <a:extLst xmlns:a="http://schemas.openxmlformats.org/drawingml/2006/main">
              <a:ext uri="{FF2B5EF4-FFF2-40B4-BE49-F238E27FC236}">
                <a16:creationId xmlns:a16="http://schemas.microsoft.com/office/drawing/2014/main" id="{CFD06857-06B6-439E-A4CF-D3CE3208771A}"/>
              </a:ext>
            </a:extLst>
          </p:cNvPr>
          <p:cNvSpPr>
            <a:spLocks xmlns:a="http://schemas.openxmlformats.org/drawingml/2006/main" noGrp="1"/>
          </p:cNvSpPr>
          <p:nvPr/>
        </p:nvSpPr>
        <p:spPr>
          <a:xfrm xmlns:a="http://schemas.openxmlformats.org/drawingml/2006/main">
            <a:off x="742950" y="6381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244BEA"/>
                </a:solidFill>
                <a:latin typeface="Consolas"/>
                <a:ea typeface="Consolas"/>
                <a:cs typeface="Consolas"/>
              </a:defRPr>
            </a:pPr>
            <a:r>
              <a:rPr sz="1350" b="1">
                <a:solidFill>
                  <a:srgbClr val="244BEA"/>
                </a:solidFill>
                <a:latin typeface="Consolas"/>
                <a:ea typeface="Consolas"/>
                <a:cs typeface="Consolas"/>
              </a:rPr>
              <a:t>DTOX RESEARCH</a:t>
            </a:r>
          </a:p>
        </p:txBody>
      </p:sp>
      <p:sp>
        <p:nvSpPr>
          <p:cNvPr id="3" name="cover-one-liner">
            <a:extLst xmlns:a="http://schemas.openxmlformats.org/drawingml/2006/main">
              <a:ext uri="{FF2B5EF4-FFF2-40B4-BE49-F238E27FC236}">
                <a16:creationId xmlns:a16="http://schemas.microsoft.com/office/drawing/2014/main" id="{7AB6B597-68AE-4C17-AF7E-368D98176E2D}"/>
              </a:ext>
            </a:extLst>
          </p:cNvPr>
          <p:cNvSpPr>
            <a:spLocks xmlns:a="http://schemas.openxmlformats.org/drawingml/2006/main" noGrp="1"/>
          </p:cNvSpPr>
          <p:nvPr/>
        </p:nvSpPr>
        <p:spPr>
          <a:xfrm xmlns:a="http://schemas.openxmlformats.org/drawingml/2006/main">
            <a:off x="723900" y="1524000"/>
            <a:ext cx="6191250" cy="2628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dtox helps AI agents</a:t>
            </a:r>
          </a:p>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test Web3 ideas against</a:t>
            </a:r>
          </a:p>
          <a:p xmlns:a="http://schemas.openxmlformats.org/drawingml/2006/main">
            <a:pPr algn="l">
              <a:defRPr sz="4050" b="1">
                <a:solidFill>
                  <a:srgbClr val="1A1A1A"/>
                </a:solidFill>
                <a:latin typeface="Arial"/>
                <a:ea typeface="Arial"/>
                <a:cs typeface="Arial"/>
              </a:defRPr>
            </a:pPr>
            <a:r>
              <a:rPr sz="4050" b="1">
                <a:solidFill>
                  <a:srgbClr val="1A1A1A"/>
                </a:solidFill>
                <a:latin typeface="Arial"/>
                <a:ea typeface="Arial"/>
                <a:cs typeface="Arial"/>
              </a:rPr>
              <a:t>scientific research.</a:t>
            </a:r>
          </a:p>
        </p:txBody>
      </p:sp>
      <p:sp>
        <p:nvSpPr>
          <p:cNvPr id="4" name="cover-support">
            <a:extLst xmlns:a="http://schemas.openxmlformats.org/drawingml/2006/main">
              <a:ext uri="{FF2B5EF4-FFF2-40B4-BE49-F238E27FC236}">
                <a16:creationId xmlns:a16="http://schemas.microsoft.com/office/drawing/2014/main" id="{D5A14F8E-ED30-4ABE-9C28-2DBA544CB73F}"/>
              </a:ext>
            </a:extLst>
          </p:cNvPr>
          <p:cNvSpPr>
            <a:spLocks xmlns:a="http://schemas.openxmlformats.org/drawingml/2006/main" noGrp="1"/>
          </p:cNvSpPr>
          <p:nvPr/>
        </p:nvSpPr>
        <p:spPr>
          <a:xfrm xmlns:a="http://schemas.openxmlformats.org/drawingml/2006/main">
            <a:off x="762000" y="4591050"/>
            <a:ext cx="5857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0">
                <a:solidFill>
                  <a:srgbClr val="5A5B58"/>
                </a:solidFill>
                <a:latin typeface="Arial"/>
                <a:ea typeface="Arial"/>
                <a:cs typeface="Arial"/>
              </a:defRPr>
            </a:pPr>
            <a:r>
              <a:rPr sz="2025" b="0">
                <a:solidFill>
                  <a:srgbClr val="5A5B58"/>
                </a:solidFill>
                <a:latin typeface="Arial"/>
                <a:ea typeface="Arial"/>
                <a:cs typeface="Arial"/>
              </a:rPr>
              <a:t>Source-linked papers, equations, and author-stated limits.</a:t>
            </a:r>
          </a:p>
        </p:txBody>
      </p:sp>
      <p:sp>
        <p:nvSpPr>
          <p:cNvPr id="5" name="cover-source-label">
            <a:extLst xmlns:a="http://schemas.openxmlformats.org/drawingml/2006/main">
              <a:ext uri="{FF2B5EF4-FFF2-40B4-BE49-F238E27FC236}">
                <a16:creationId xmlns:a16="http://schemas.microsoft.com/office/drawing/2014/main" id="{1E5AE98D-D43B-4CEC-A226-D50C27B8A9C3}"/>
              </a:ext>
            </a:extLst>
          </p:cNvPr>
          <p:cNvSpPr>
            <a:spLocks xmlns:a="http://schemas.openxmlformats.org/drawingml/2006/main" noGrp="1"/>
          </p:cNvSpPr>
          <p:nvPr/>
        </p:nvSpPr>
        <p:spPr>
          <a:xfrm xmlns:a="http://schemas.openxmlformats.org/drawingml/2006/main">
            <a:off x="7581900" y="1981200"/>
            <a:ext cx="426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FFFFFF"/>
                </a:solidFill>
                <a:latin typeface="Consolas"/>
                <a:ea typeface="Consolas"/>
                <a:cs typeface="Consolas"/>
              </a:defRPr>
            </a:pPr>
            <a:r>
              <a:rPr sz="1275" b="1">
                <a:solidFill>
                  <a:srgbClr val="FFFFFF"/>
                </a:solidFill>
                <a:latin typeface="Consolas"/>
                <a:ea typeface="Consolas"/>
                <a:cs typeface="Consolas"/>
              </a:rPr>
              <a:t>BEV AUCTION MODEL  /  EQUATION 4</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a2b07b2e90d24b08"/>
          <a:stretch xmlns:a="http://schemas.openxmlformats.org/drawingml/2006/main"/>
        </p:blipFill>
        <p:spPr>
          <a:xfrm xmlns:a="http://schemas.openxmlformats.org/drawingml/2006/main">
            <a:off x="7524750" y="2520784"/>
            <a:ext cx="4381500" cy="997282"/>
          </a:xfrm>
          <a:prstGeom xmlns:a="http://schemas.openxmlformats.org/drawingml/2006/main" prst="rect">
            <a:avLst/>
          </a:prstGeom>
        </p:spPr>
      </p:pic>
      <p:sp>
        <p:nvSpPr>
          <p:cNvPr id="7" name="cover-source-caption">
            <a:extLst xmlns:a="http://schemas.openxmlformats.org/drawingml/2006/main">
              <a:ext uri="{FF2B5EF4-FFF2-40B4-BE49-F238E27FC236}">
                <a16:creationId xmlns:a16="http://schemas.microsoft.com/office/drawing/2014/main" id="{2A631EA7-ED2B-4E67-B45C-9434EAF5ED22}"/>
              </a:ext>
            </a:extLst>
          </p:cNvPr>
          <p:cNvSpPr>
            <a:spLocks xmlns:a="http://schemas.openxmlformats.org/drawingml/2006/main" noGrp="1"/>
          </p:cNvSpPr>
          <p:nvPr/>
        </p:nvSpPr>
        <p:spPr>
          <a:xfrm xmlns:a="http://schemas.openxmlformats.org/drawingml/2006/main">
            <a:off x="7600950" y="3867150"/>
            <a:ext cx="3905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Equation + assumptions</a:t>
            </a:r>
          </a:p>
        </p:txBody>
      </p:sp>
      <p:sp>
        <p:nvSpPr>
          <p:cNvPr id="8" name="cover-source-title">
            <a:extLst xmlns:a="http://schemas.openxmlformats.org/drawingml/2006/main">
              <a:ext uri="{FF2B5EF4-FFF2-40B4-BE49-F238E27FC236}">
                <a16:creationId xmlns:a16="http://schemas.microsoft.com/office/drawing/2014/main" id="{7E1BF50D-B538-49B1-B12D-BB0297FB628B}"/>
              </a:ext>
            </a:extLst>
          </p:cNvPr>
          <p:cNvSpPr>
            <a:spLocks xmlns:a="http://schemas.openxmlformats.org/drawingml/2006/main" noGrp="1"/>
          </p:cNvSpPr>
          <p:nvPr/>
        </p:nvSpPr>
        <p:spPr>
          <a:xfrm xmlns:a="http://schemas.openxmlformats.org/drawingml/2006/main">
            <a:off x="7600950" y="4933950"/>
            <a:ext cx="400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Quantifying Blockchain Extractable Value</a:t>
            </a:r>
          </a:p>
        </p:txBody>
      </p:sp>
      <p:sp>
        <p:nvSpPr>
          <p:cNvPr id="9" name="cover-source-id">
            <a:extLst xmlns:a="http://schemas.openxmlformats.org/drawingml/2006/main">
              <a:ext uri="{FF2B5EF4-FFF2-40B4-BE49-F238E27FC236}">
                <a16:creationId xmlns:a16="http://schemas.microsoft.com/office/drawing/2014/main" id="{D980BE22-39C9-4B4F-BC62-04882827C950}"/>
              </a:ext>
            </a:extLst>
          </p:cNvPr>
          <p:cNvSpPr>
            <a:spLocks xmlns:a="http://schemas.openxmlformats.org/drawingml/2006/main" noGrp="1"/>
          </p:cNvSpPr>
          <p:nvPr/>
        </p:nvSpPr>
        <p:spPr>
          <a:xfrm xmlns:a="http://schemas.openxmlformats.org/drawingml/2006/main">
            <a:off x="7600950" y="565785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FFFF"/>
                </a:solidFill>
                <a:latin typeface="Consolas"/>
                <a:ea typeface="Consolas"/>
                <a:cs typeface="Consolas"/>
              </a:defRPr>
            </a:pPr>
            <a:r>
              <a:rPr sz="1350" b="0">
                <a:solidFill>
                  <a:srgbClr val="FFFFFF"/>
                </a:solidFill>
                <a:latin typeface="Consolas"/>
                <a:ea typeface="Consolas"/>
                <a:cs typeface="Consolas"/>
              </a:rPr>
              <a:t>arXiv:2101.05511</a:t>
            </a:r>
          </a:p>
        </p:txBody>
      </p:sp>
    </p:spTree>
    <p:extLst>
      <p:ext uri="{BB962C8B-B14F-4D97-AF65-F5344CB8AC3E}">
        <p14:creationId xmlns:p14="http://schemas.microsoft.com/office/powerpoint/2010/main" val="1878184937"/>
      </p:ext>
    </p:extLst>
  </p:cSld>
</p:sld>
</file>

<file path=ppt/slides/slide2.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9" name="assumption-kicker">
            <a:extLst xmlns:a="http://schemas.openxmlformats.org/drawingml/2006/main">
              <a:ext uri="{FF2B5EF4-FFF2-40B4-BE49-F238E27FC236}">
                <a16:creationId xmlns:a16="http://schemas.microsoft.com/office/drawing/2014/main" id="{0C48AD7A-A545-42EF-9A72-169146DAB646}"/>
              </a:ext>
            </a:extLst>
          </p:cNvPr>
          <p:cNvSpPr>
            <a:spLocks xmlns:a="http://schemas.openxmlformats.org/drawingml/2006/main" noGrp="1"/>
          </p:cNvSpPr>
          <p:nvPr/>
        </p:nvSpPr>
        <p:spPr>
          <a:xfrm xmlns:a="http://schemas.openxmlformats.org/drawingml/2006/main">
            <a:off x="762000" y="51435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MODEL ASSUMPTION</a:t>
            </a:r>
          </a:p>
        </p:txBody>
      </p:sp>
      <p:sp>
        <p:nvSpPr>
          <p:cNvPr id="2" name="assumption-title">
            <a:extLst xmlns:a="http://schemas.openxmlformats.org/drawingml/2006/main">
              <a:ext uri="{FF2B5EF4-FFF2-40B4-BE49-F238E27FC236}">
                <a16:creationId xmlns:a16="http://schemas.microsoft.com/office/drawing/2014/main" id="{88DC7632-DEAE-47F6-AFE9-ED0FBC981DFF}"/>
              </a:ext>
            </a:extLst>
          </p:cNvPr>
          <p:cNvSpPr>
            <a:spLocks xmlns:a="http://schemas.openxmlformats.org/drawingml/2006/main" noGrp="1"/>
          </p:cNvSpPr>
          <p:nvPr/>
        </p:nvSpPr>
        <p:spPr>
          <a:xfrm xmlns:a="http://schemas.openxmlformats.org/drawingml/2006/main">
            <a:off x="742950" y="990600"/>
            <a:ext cx="98583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A relevant paper can hide</a:t>
            </a:r>
          </a:p>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a critical assumption.</a:t>
            </a:r>
          </a:p>
        </p:txBody>
      </p:sp>
      <p:sp>
        <p:nvSpPr>
          <p:cNvPr id="3" name="assumption-source-label">
            <a:extLst xmlns:a="http://schemas.openxmlformats.org/drawingml/2006/main">
              <a:ext uri="{FF2B5EF4-FFF2-40B4-BE49-F238E27FC236}">
                <a16:creationId xmlns:a16="http://schemas.microsoft.com/office/drawing/2014/main" id="{324E906B-7C46-4B41-B822-0C8CF358B717}"/>
              </a:ext>
            </a:extLst>
          </p:cNvPr>
          <p:cNvSpPr>
            <a:spLocks xmlns:a="http://schemas.openxmlformats.org/drawingml/2006/main" noGrp="1"/>
          </p:cNvSpPr>
          <p:nvPr/>
        </p:nvSpPr>
        <p:spPr>
          <a:xfrm xmlns:a="http://schemas.openxmlformats.org/drawingml/2006/main">
            <a:off x="781050" y="2514600"/>
            <a:ext cx="447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5A5B58"/>
                </a:solidFill>
                <a:latin typeface="Consolas"/>
                <a:ea typeface="Consolas"/>
                <a:cs typeface="Consolas"/>
              </a:defRPr>
            </a:pPr>
            <a:r>
              <a:rPr sz="1200" b="1">
                <a:solidFill>
                  <a:srgbClr val="5A5B58"/>
                </a:solidFill>
                <a:latin typeface="Consolas"/>
                <a:ea typeface="Consolas"/>
                <a:cs typeface="Consolas"/>
              </a:rPr>
              <a:t>SOURCE TEXT  /  BEV PAPER</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c9577fd03444843"/>
          <a:stretch xmlns:a="http://schemas.openxmlformats.org/drawingml/2006/main"/>
        </p:blipFill>
        <p:spPr>
          <a:xfrm xmlns:a="http://schemas.openxmlformats.org/drawingml/2006/main">
            <a:off x="742950" y="2886235"/>
            <a:ext cx="10572750" cy="533080"/>
          </a:xfrm>
          <a:prstGeom xmlns:a="http://schemas.openxmlformats.org/drawingml/2006/main" prst="rect">
            <a:avLst/>
          </a:prstGeom>
        </p:spPr>
      </p:pic>
      <p:sp>
        <p:nvSpPr>
          <p:cNvPr id="5" name="assumption-rule">
            <a:extLst xmlns:a="http://schemas.openxmlformats.org/drawingml/2006/main">
              <a:ext uri="{FF2B5EF4-FFF2-40B4-BE49-F238E27FC236}">
                <a16:creationId xmlns:a16="http://schemas.microsoft.com/office/drawing/2014/main" id="{263C99DF-BC6D-41E7-B7D0-6F4686545BC0}"/>
              </a:ext>
            </a:extLst>
          </p:cNvPr>
          <p:cNvSpPr>
            <a:spLocks xmlns:a="http://schemas.openxmlformats.org/drawingml/2006/main" noGrp="1"/>
          </p:cNvSpPr>
          <p:nvPr/>
        </p:nvSpPr>
        <p:spPr>
          <a:xfrm xmlns:a="http://schemas.openxmlformats.org/drawingml/2006/main">
            <a:off x="762000" y="3810000"/>
            <a:ext cx="76200" cy="120015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6" name="assumption-summary">
            <a:extLst xmlns:a="http://schemas.openxmlformats.org/drawingml/2006/main">
              <a:ext uri="{FF2B5EF4-FFF2-40B4-BE49-F238E27FC236}">
                <a16:creationId xmlns:a16="http://schemas.microsoft.com/office/drawing/2014/main" id="{9FB2F351-AEA4-4006-9085-23CA345604F7}"/>
              </a:ext>
            </a:extLst>
          </p:cNvPr>
          <p:cNvSpPr>
            <a:spLocks xmlns:a="http://schemas.openxmlformats.org/drawingml/2006/main" noGrp="1"/>
          </p:cNvSpPr>
          <p:nvPr/>
        </p:nvSpPr>
        <p:spPr>
          <a:xfrm xmlns:a="http://schemas.openxmlformats.org/drawingml/2006/main">
            <a:off x="1066800" y="3790950"/>
            <a:ext cx="10048875"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A1A1A"/>
                </a:solidFill>
                <a:latin typeface="Arial"/>
                <a:ea typeface="Arial"/>
                <a:cs typeface="Arial"/>
              </a:defRPr>
            </a:pPr>
            <a:r>
              <a:rPr sz="2250" b="1">
                <a:solidFill>
                  <a:srgbClr val="1A1A1A"/>
                </a:solidFill>
                <a:latin typeface="Arial"/>
                <a:ea typeface="Arial"/>
                <a:cs typeface="Arial"/>
              </a:rPr>
              <a:t>In this model, independent player rewards share one known uniform distribution. The participant count n is known.</a:t>
            </a:r>
          </a:p>
        </p:txBody>
      </p:sp>
      <p:sp>
        <p:nvSpPr>
          <p:cNvPr id="7" name="assumption-implication-label">
            <a:extLst xmlns:a="http://schemas.openxmlformats.org/drawingml/2006/main">
              <a:ext uri="{FF2B5EF4-FFF2-40B4-BE49-F238E27FC236}">
                <a16:creationId xmlns:a16="http://schemas.microsoft.com/office/drawing/2014/main" id="{50012D13-1595-4784-BC79-08C9EDC89D71}"/>
              </a:ext>
            </a:extLst>
          </p:cNvPr>
          <p:cNvSpPr>
            <a:spLocks xmlns:a="http://schemas.openxmlformats.org/drawingml/2006/main" noGrp="1"/>
          </p:cNvSpPr>
          <p:nvPr/>
        </p:nvSpPr>
        <p:spPr>
          <a:xfrm xmlns:a="http://schemas.openxmlformats.org/drawingml/2006/main">
            <a:off x="1066800" y="49149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DESIGN IMPLICATION</a:t>
            </a:r>
          </a:p>
        </p:txBody>
      </p:sp>
      <p:sp>
        <p:nvSpPr>
          <p:cNvPr id="8" name="assumption-implication">
            <a:extLst xmlns:a="http://schemas.openxmlformats.org/drawingml/2006/main">
              <a:ext uri="{FF2B5EF4-FFF2-40B4-BE49-F238E27FC236}">
                <a16:creationId xmlns:a16="http://schemas.microsoft.com/office/drawing/2014/main" id="{6B42DAF6-FE79-4651-868E-81E99F6CBF7E}"/>
              </a:ext>
            </a:extLst>
          </p:cNvPr>
          <p:cNvSpPr>
            <a:spLocks xmlns:a="http://schemas.openxmlformats.org/drawingml/2006/main" noGrp="1"/>
          </p:cNvSpPr>
          <p:nvPr/>
        </p:nvSpPr>
        <p:spPr>
          <a:xfrm xmlns:a="http://schemas.openxmlformats.org/drawingml/2006/main">
            <a:off x="1047750" y="52578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A1A1A"/>
                </a:solidFill>
                <a:latin typeface="Arial"/>
                <a:ea typeface="Arial"/>
                <a:cs typeface="Arial"/>
              </a:defRPr>
            </a:pPr>
            <a:r>
              <a:rPr sz="2175" b="1">
                <a:solidFill>
                  <a:srgbClr val="1A1A1A"/>
                </a:solidFill>
                <a:latin typeface="Arial"/>
                <a:ea typeface="Arial"/>
                <a:cs typeface="Arial"/>
              </a:rPr>
              <a:t>Check whether your protocol's rewards fit that model before applying its bid.</a:t>
            </a:r>
          </a:p>
        </p:txBody>
      </p:sp>
    </p:spTree>
    <p:extLst>
      <p:ext uri="{BB962C8B-B14F-4D97-AF65-F5344CB8AC3E}">
        <p14:creationId xmlns:p14="http://schemas.microsoft.com/office/powerpoint/2010/main" val="598241027"/>
      </p:ext>
    </p:extLst>
  </p:cSld>
</p:sld>
</file>

<file path=ppt/slides/slide3.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8" name="demo-kicker">
            <a:extLst xmlns:a="http://schemas.openxmlformats.org/drawingml/2006/main">
              <a:ext uri="{FF2B5EF4-FFF2-40B4-BE49-F238E27FC236}">
                <a16:creationId xmlns:a16="http://schemas.microsoft.com/office/drawing/2014/main" id="{94F52ED4-2AF7-4CE9-8919-368855A2DA88}"/>
              </a:ext>
            </a:extLst>
          </p:cNvPr>
          <p:cNvSpPr>
            <a:spLocks xmlns:a="http://schemas.openxmlformats.org/drawingml/2006/main" noGrp="1"/>
          </p:cNvSpPr>
          <p:nvPr/>
        </p:nvSpPr>
        <p:spPr>
          <a:xfrm xmlns:a="http://schemas.openxmlformats.org/drawingml/2006/main">
            <a:off x="742950" y="4762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EXAMPLE QUESTION  /  VERIFIED SOURCE RESPONSE</a:t>
            </a:r>
          </a:p>
        </p:txBody>
      </p:sp>
      <p:sp>
        <p:nvSpPr>
          <p:cNvPr id="2" name="demo-question">
            <a:extLst xmlns:a="http://schemas.openxmlformats.org/drawingml/2006/main">
              <a:ext uri="{FF2B5EF4-FFF2-40B4-BE49-F238E27FC236}">
                <a16:creationId xmlns:a16="http://schemas.microsoft.com/office/drawing/2014/main" id="{B58E6926-8274-4675-9253-C93600E80CCF}"/>
              </a:ext>
            </a:extLst>
          </p:cNvPr>
          <p:cNvSpPr>
            <a:spLocks xmlns:a="http://schemas.openxmlformats.org/drawingml/2006/main" noGrp="1"/>
          </p:cNvSpPr>
          <p:nvPr/>
        </p:nvSpPr>
        <p:spPr>
          <a:xfrm xmlns:a="http://schemas.openxmlformats.org/drawingml/2006/main">
            <a:off x="723900" y="952500"/>
            <a:ext cx="10715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000" b="1">
                <a:solidFill>
                  <a:srgbClr val="1A1A1A"/>
                </a:solidFill>
                <a:latin typeface="Arial"/>
                <a:ea typeface="Arial"/>
                <a:cs typeface="Arial"/>
              </a:defRPr>
            </a:pPr>
            <a:r>
              <a:rPr sz="3000" b="1">
                <a:solidFill>
                  <a:srgbClr val="1A1A1A"/>
                </a:solidFill>
                <a:latin typeface="Arial"/>
                <a:ea typeface="Arial"/>
                <a:cs typeface="Arial"/>
              </a:rPr>
              <a:t>What bidding strategy does the BEV auction model derive, and under which assumptions?</a:t>
            </a:r>
          </a:p>
        </p:txBody>
      </p:sp>
      <p:sp>
        <p:nvSpPr>
          <p:cNvPr id="3" name="demo-agent-node">
            <a:extLst xmlns:a="http://schemas.openxmlformats.org/drawingml/2006/main">
              <a:ext uri="{FF2B5EF4-FFF2-40B4-BE49-F238E27FC236}">
                <a16:creationId xmlns:a16="http://schemas.microsoft.com/office/drawing/2014/main" id="{41CEA09E-CB89-4692-8458-290E9082086D}"/>
              </a:ext>
            </a:extLst>
          </p:cNvPr>
          <p:cNvSpPr>
            <a:spLocks xmlns:a="http://schemas.openxmlformats.org/drawingml/2006/main" noGrp="1"/>
          </p:cNvSpPr>
          <p:nvPr/>
        </p:nvSpPr>
        <p:spPr>
          <a:xfrm xmlns:a="http://schemas.openxmlformats.org/drawingml/2006/main">
            <a:off x="781050" y="2819400"/>
            <a:ext cx="2238375" cy="102870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4" name="demo-tool-node">
            <a:extLst xmlns:a="http://schemas.openxmlformats.org/drawingml/2006/main">
              <a:ext uri="{FF2B5EF4-FFF2-40B4-BE49-F238E27FC236}">
                <a16:creationId xmlns:a16="http://schemas.microsoft.com/office/drawing/2014/main" id="{30691B8A-6649-4E09-9908-4D57F8C9A06C}"/>
              </a:ext>
            </a:extLst>
          </p:cNvPr>
          <p:cNvSpPr>
            <a:spLocks xmlns:a="http://schemas.openxmlformats.org/drawingml/2006/main" noGrp="1"/>
          </p:cNvSpPr>
          <p:nvPr/>
        </p:nvSpPr>
        <p:spPr>
          <a:xfrm xmlns:a="http://schemas.openxmlformats.org/drawingml/2006/main">
            <a:off x="4591050" y="2819400"/>
            <a:ext cx="3028950" cy="102870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5" name="demo-source-node">
            <a:extLst xmlns:a="http://schemas.openxmlformats.org/drawingml/2006/main">
              <a:ext uri="{FF2B5EF4-FFF2-40B4-BE49-F238E27FC236}">
                <a16:creationId xmlns:a16="http://schemas.microsoft.com/office/drawing/2014/main" id="{190DCDE5-B00D-44B8-9C74-262789F0E2F5}"/>
              </a:ext>
            </a:extLst>
          </p:cNvPr>
          <p:cNvSpPr>
            <a:spLocks xmlns:a="http://schemas.openxmlformats.org/drawingml/2006/main" noGrp="1"/>
          </p:cNvSpPr>
          <p:nvPr/>
        </p:nvSpPr>
        <p:spPr>
          <a:xfrm xmlns:a="http://schemas.openxmlformats.org/drawingml/2006/main">
            <a:off x="9191625" y="2819400"/>
            <a:ext cx="2190750" cy="1028700"/>
          </a:xfrm>
          <a:prstGeom xmlns:a="http://schemas.openxmlformats.org/drawingml/2006/main" prst="rect">
            <a:avLst/>
          </a:prstGeom>
          <a:solidFill xmlns:a="http://schemas.openxmlformats.org/drawingml/2006/main">
            <a:srgbClr val="1A1A1A"/>
          </a:solidFill>
          <a:ln xmlns:a="http://schemas.openxmlformats.org/drawingml/2006/main" w="0">
            <a:noFill/>
          </a:ln>
        </p:spPr>
      </p:sp>
      <p:cxnSp>
        <p:nvCxnSpPr>
          <p:cNvPr id="23" name=""/>
          <p:cNvCxnSpPr>
            <a:stCxn xmlns:a="http://schemas.openxmlformats.org/drawingml/2006/main" id="3" idx="3"/>
            <a:endCxn xmlns:a="http://schemas.openxmlformats.org/drawingml/2006/main" id="4" idx="1"/>
          </p:cNvCxnSpPr>
          <p:nvPr/>
        </p:nvCxnSpPr>
        <p:spPr>
          <a:xfrm xmlns:a="http://schemas.openxmlformats.org/drawingml/2006/main">
            <a:off x="3019425" y="3333750"/>
            <a:ext cx="1571625" cy="0"/>
          </a:xfrm>
          <a:prstGeom xmlns:a="http://schemas.openxmlformats.org/drawingml/2006/main" prst="straightConnector1">
            <a:avLst/>
          </a:prstGeom>
          <a:ln xmlns:a="http://schemas.openxmlformats.org/drawingml/2006/main" w="28575">
            <a:solidFill>
              <a:srgbClr val="244BEA"/>
            </a:solidFill>
            <a:prstDash val="solid"/>
            <a:tailEnd type="arrow" w="med" len="med"/>
          </a:ln>
        </p:spPr>
      </p:cxn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7620000" y="3333750"/>
            <a:ext cx="1571625" cy="0"/>
          </a:xfrm>
          <a:prstGeom xmlns:a="http://schemas.openxmlformats.org/drawingml/2006/main" prst="straightConnector1">
            <a:avLst/>
          </a:prstGeom>
          <a:ln xmlns:a="http://schemas.openxmlformats.org/drawingml/2006/main" w="28575">
            <a:solidFill>
              <a:srgbClr val="244BEA"/>
            </a:solidFill>
            <a:prstDash val="solid"/>
            <a:tailEnd type="arrow" w="med" len="med"/>
          </a:ln>
        </p:spPr>
      </p:cxnSp>
      <p:sp>
        <p:nvSpPr>
          <p:cNvPr id="8" name="demo-agent-label">
            <a:extLst xmlns:a="http://schemas.openxmlformats.org/drawingml/2006/main">
              <a:ext uri="{FF2B5EF4-FFF2-40B4-BE49-F238E27FC236}">
                <a16:creationId xmlns:a16="http://schemas.microsoft.com/office/drawing/2014/main" id="{5DAAEF42-8F4F-4C8B-A2D7-8520900E2638}"/>
              </a:ext>
            </a:extLst>
          </p:cNvPr>
          <p:cNvSpPr>
            <a:spLocks xmlns:a="http://schemas.openxmlformats.org/drawingml/2006/main" noGrp="1"/>
          </p:cNvSpPr>
          <p:nvPr/>
        </p:nvSpPr>
        <p:spPr>
          <a:xfrm xmlns:a="http://schemas.openxmlformats.org/drawingml/2006/main">
            <a:off x="952500" y="3019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A1A1A"/>
                </a:solidFill>
                <a:latin typeface="Consolas"/>
                <a:ea typeface="Consolas"/>
                <a:cs typeface="Consolas"/>
              </a:defRPr>
            </a:pPr>
            <a:r>
              <a:rPr sz="1350" b="1">
                <a:solidFill>
                  <a:srgbClr val="1A1A1A"/>
                </a:solidFill>
                <a:latin typeface="Consolas"/>
                <a:ea typeface="Consolas"/>
                <a:cs typeface="Consolas"/>
              </a:rPr>
              <a:t>AI AGENT</a:t>
            </a:r>
          </a:p>
        </p:txBody>
      </p:sp>
      <p:sp>
        <p:nvSpPr>
          <p:cNvPr id="9" name="demo-agent-sub">
            <a:extLst xmlns:a="http://schemas.openxmlformats.org/drawingml/2006/main">
              <a:ext uri="{FF2B5EF4-FFF2-40B4-BE49-F238E27FC236}">
                <a16:creationId xmlns:a16="http://schemas.microsoft.com/office/drawing/2014/main" id="{6A563F54-11D1-4E85-808F-D7ED45AF2EA5}"/>
              </a:ext>
            </a:extLst>
          </p:cNvPr>
          <p:cNvSpPr>
            <a:spLocks xmlns:a="http://schemas.openxmlformats.org/drawingml/2006/main" noGrp="1"/>
          </p:cNvSpPr>
          <p:nvPr/>
        </p:nvSpPr>
        <p:spPr>
          <a:xfrm xmlns:a="http://schemas.openxmlformats.org/drawingml/2006/main">
            <a:off x="952500" y="3343275"/>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A1A1A"/>
                </a:solidFill>
                <a:latin typeface="Arial"/>
                <a:ea typeface="Arial"/>
                <a:cs typeface="Arial"/>
              </a:defRPr>
            </a:pPr>
            <a:r>
              <a:rPr sz="1350" b="0">
                <a:solidFill>
                  <a:srgbClr val="1A1A1A"/>
                </a:solidFill>
                <a:latin typeface="Arial"/>
                <a:ea typeface="Arial"/>
                <a:cs typeface="Arial"/>
              </a:rPr>
              <a:t>asks the question</a:t>
            </a:r>
          </a:p>
        </p:txBody>
      </p:sp>
      <p:sp>
        <p:nvSpPr>
          <p:cNvPr id="10" name="demo-tool-label">
            <a:extLst xmlns:a="http://schemas.openxmlformats.org/drawingml/2006/main">
              <a:ext uri="{FF2B5EF4-FFF2-40B4-BE49-F238E27FC236}">
                <a16:creationId xmlns:a16="http://schemas.microsoft.com/office/drawing/2014/main" id="{2F171E1E-0D7C-4085-B71D-7206FEF7B250}"/>
              </a:ext>
            </a:extLst>
          </p:cNvPr>
          <p:cNvSpPr>
            <a:spLocks xmlns:a="http://schemas.openxmlformats.org/drawingml/2006/main" noGrp="1"/>
          </p:cNvSpPr>
          <p:nvPr/>
        </p:nvSpPr>
        <p:spPr>
          <a:xfrm xmlns:a="http://schemas.openxmlformats.org/drawingml/2006/main">
            <a:off x="4781550" y="2971800"/>
            <a:ext cx="2667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dtox MCP</a:t>
            </a:r>
          </a:p>
        </p:txBody>
      </p:sp>
      <p:sp>
        <p:nvSpPr>
          <p:cNvPr id="11" name="demo-tool-sub">
            <a:extLst xmlns:a="http://schemas.openxmlformats.org/drawingml/2006/main">
              <a:ext uri="{FF2B5EF4-FFF2-40B4-BE49-F238E27FC236}">
                <a16:creationId xmlns:a16="http://schemas.microsoft.com/office/drawing/2014/main" id="{754AD9CB-EF37-4DD6-9228-878FE4EED1AB}"/>
              </a:ext>
            </a:extLst>
          </p:cNvPr>
          <p:cNvSpPr>
            <a:spLocks xmlns:a="http://schemas.openxmlformats.org/drawingml/2006/main" noGrp="1"/>
          </p:cNvSpPr>
          <p:nvPr/>
        </p:nvSpPr>
        <p:spPr>
          <a:xfrm xmlns:a="http://schemas.openxmlformats.org/drawingml/2006/main">
            <a:off x="4781550" y="3400425"/>
            <a:ext cx="2667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FFFFFF"/>
                </a:solidFill>
                <a:latin typeface="Arial"/>
                <a:ea typeface="Arial"/>
                <a:cs typeface="Arial"/>
              </a:defRPr>
            </a:pPr>
            <a:r>
              <a:rPr sz="1275" b="0">
                <a:solidFill>
                  <a:srgbClr val="FFFFFF"/>
                </a:solidFill>
                <a:latin typeface="Arial"/>
                <a:ea typeface="Arial"/>
                <a:cs typeface="Arial"/>
              </a:rPr>
              <a:t>source section + original math</a:t>
            </a:r>
          </a:p>
        </p:txBody>
      </p:sp>
      <p:sp>
        <p:nvSpPr>
          <p:cNvPr id="12" name="demo-paper-label">
            <a:extLst xmlns:a="http://schemas.openxmlformats.org/drawingml/2006/main">
              <a:ext uri="{FF2B5EF4-FFF2-40B4-BE49-F238E27FC236}">
                <a16:creationId xmlns:a16="http://schemas.microsoft.com/office/drawing/2014/main" id="{EDE4FDDA-DD29-4E10-A7AE-275A4C098996}"/>
              </a:ext>
            </a:extLst>
          </p:cNvPr>
          <p:cNvSpPr>
            <a:spLocks xmlns:a="http://schemas.openxmlformats.org/drawingml/2006/main" noGrp="1"/>
          </p:cNvSpPr>
          <p:nvPr/>
        </p:nvSpPr>
        <p:spPr>
          <a:xfrm xmlns:a="http://schemas.openxmlformats.org/drawingml/2006/main">
            <a:off x="9372600" y="3019425"/>
            <a:ext cx="180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FFFFFF"/>
                </a:solidFill>
                <a:latin typeface="Consolas"/>
                <a:ea typeface="Consolas"/>
                <a:cs typeface="Consolas"/>
              </a:defRPr>
            </a:pPr>
            <a:r>
              <a:rPr sz="1350" b="1">
                <a:solidFill>
                  <a:srgbClr val="FFFFFF"/>
                </a:solidFill>
                <a:latin typeface="Consolas"/>
                <a:ea typeface="Consolas"/>
                <a:cs typeface="Consolas"/>
              </a:rPr>
              <a:t>BEV PAPER</a:t>
            </a:r>
          </a:p>
        </p:txBody>
      </p:sp>
      <p:sp>
        <p:nvSpPr>
          <p:cNvPr id="13" name="demo-paper-sub">
            <a:extLst xmlns:a="http://schemas.openxmlformats.org/drawingml/2006/main">
              <a:ext uri="{FF2B5EF4-FFF2-40B4-BE49-F238E27FC236}">
                <a16:creationId xmlns:a16="http://schemas.microsoft.com/office/drawing/2014/main" id="{81A3F519-EBFF-44FC-9A6A-17D7E8661A19}"/>
              </a:ext>
            </a:extLst>
          </p:cNvPr>
          <p:cNvSpPr>
            <a:spLocks xmlns:a="http://schemas.openxmlformats.org/drawingml/2006/main" noGrp="1"/>
          </p:cNvSpPr>
          <p:nvPr/>
        </p:nvSpPr>
        <p:spPr>
          <a:xfrm xmlns:a="http://schemas.openxmlformats.org/drawingml/2006/main">
            <a:off x="9372600" y="3362325"/>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Equation 4</a:t>
            </a:r>
          </a:p>
        </p:txBody>
      </p:sp>
      <p:sp>
        <p:nvSpPr>
          <p:cNvPr id="14" name="demo-result-label">
            <a:extLst xmlns:a="http://schemas.openxmlformats.org/drawingml/2006/main">
              <a:ext uri="{FF2B5EF4-FFF2-40B4-BE49-F238E27FC236}">
                <a16:creationId xmlns:a16="http://schemas.microsoft.com/office/drawing/2014/main" id="{5E144E22-03ED-4BCA-BFDB-BE308F3C15CA}"/>
              </a:ext>
            </a:extLst>
          </p:cNvPr>
          <p:cNvSpPr>
            <a:spLocks xmlns:a="http://schemas.openxmlformats.org/drawingml/2006/main" noGrp="1"/>
          </p:cNvSpPr>
          <p:nvPr/>
        </p:nvSpPr>
        <p:spPr>
          <a:xfrm xmlns:a="http://schemas.openxmlformats.org/drawingml/2006/main">
            <a:off x="800100" y="4400550"/>
            <a:ext cx="447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DERIVED BID  /  EQUATION 4</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c8ef779114f14a26"/>
          <a:stretch xmlns:a="http://schemas.openxmlformats.org/drawingml/2006/main"/>
        </p:blipFill>
        <p:spPr>
          <a:xfrm xmlns:a="http://schemas.openxmlformats.org/drawingml/2006/main">
            <a:off x="1242934" y="4667250"/>
            <a:ext cx="6277131" cy="1428750"/>
          </a:xfrm>
          <a:prstGeom xmlns:a="http://schemas.openxmlformats.org/drawingml/2006/main" prst="rect">
            <a:avLst/>
          </a:prstGeom>
        </p:spPr>
      </p:pic>
      <p:sp>
        <p:nvSpPr>
          <p:cNvPr id="16" name="demo-result-reading">
            <a:extLst xmlns:a="http://schemas.openxmlformats.org/drawingml/2006/main">
              <a:ext uri="{FF2B5EF4-FFF2-40B4-BE49-F238E27FC236}">
                <a16:creationId xmlns:a16="http://schemas.microsoft.com/office/drawing/2014/main" id="{F384D42A-DA79-408B-802B-F2A8395525F4}"/>
              </a:ext>
            </a:extLst>
          </p:cNvPr>
          <p:cNvSpPr>
            <a:spLocks xmlns:a="http://schemas.openxmlformats.org/drawingml/2006/main" noGrp="1"/>
          </p:cNvSpPr>
          <p:nvPr/>
        </p:nvSpPr>
        <p:spPr>
          <a:xfrm xmlns:a="http://schemas.openxmlformats.org/drawingml/2006/main">
            <a:off x="800100" y="6191250"/>
            <a:ext cx="709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5A5B58"/>
                </a:solidFill>
                <a:latin typeface="Arial"/>
                <a:ea typeface="Arial"/>
                <a:cs typeface="Arial"/>
              </a:defRPr>
            </a:pPr>
            <a:r>
              <a:rPr sz="1650" b="0">
                <a:solidFill>
                  <a:srgbClr val="5A5B58"/>
                </a:solidFill>
                <a:latin typeface="Arial"/>
                <a:ea typeface="Arial"/>
                <a:cs typeface="Arial"/>
              </a:rPr>
              <a:t>The bid scales the player's reward by (n − 1) / n.</a:t>
            </a:r>
          </a:p>
        </p:txBody>
      </p:sp>
      <p:sp>
        <p:nvSpPr>
          <p:cNvPr id="17" name="demo-source">
            <a:extLst xmlns:a="http://schemas.openxmlformats.org/drawingml/2006/main">
              <a:ext uri="{FF2B5EF4-FFF2-40B4-BE49-F238E27FC236}">
                <a16:creationId xmlns:a16="http://schemas.microsoft.com/office/drawing/2014/main" id="{CEB27B85-D9CF-44B5-84DB-9412804F8627}"/>
              </a:ext>
            </a:extLst>
          </p:cNvPr>
          <p:cNvSpPr>
            <a:spLocks xmlns:a="http://schemas.openxmlformats.org/drawingml/2006/main" noGrp="1"/>
          </p:cNvSpPr>
          <p:nvPr/>
        </p:nvSpPr>
        <p:spPr>
          <a:xfrm xmlns:a="http://schemas.openxmlformats.org/drawingml/2006/main">
            <a:off x="8096250" y="5143500"/>
            <a:ext cx="33813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0">
                <a:solidFill>
                  <a:srgbClr val="5A5B58"/>
                </a:solidFill>
                <a:latin typeface="Consolas"/>
                <a:ea typeface="Consolas"/>
                <a:cs typeface="Consolas"/>
              </a:defRPr>
            </a:pPr>
            <a:r>
              <a:rPr sz="1200" b="0">
                <a:solidFill>
                  <a:srgbClr val="5A5B58"/>
                </a:solidFill>
                <a:latin typeface="Consolas"/>
                <a:ea typeface="Consolas"/>
                <a:cs typeface="Consolas"/>
              </a:rPr>
              <a:t>arXiv:2101.05511  /  Exact LaTeX retained in source notes</a:t>
            </a:r>
          </a:p>
        </p:txBody>
      </p:sp>
    </p:spTree>
    <p:extLst>
      <p:ext uri="{BB962C8B-B14F-4D97-AF65-F5344CB8AC3E}">
        <p14:creationId xmlns:p14="http://schemas.microsoft.com/office/powerpoint/2010/main" val="413096873"/>
      </p:ext>
    </p:extLst>
  </p:cSld>
</p:sld>
</file>

<file path=ppt/slides/slide4.xml><?xml version="1.0" encoding="utf-8"?>
<p:sld xmlns:p="http://schemas.openxmlformats.org/presentationml/2006/main">
  <p:cSld>
    <p:bg>
      <p:bgPr>
        <a:solidFill xmlns:a="http://schemas.openxmlformats.org/drawingml/2006/main">
          <a:srgbClr val="1A1A1A"/>
        </a:solidFill>
      </p:bgPr>
    </p:bg>
    <p:spTree>
      <p:nvGrpSpPr>
        <p:cNvPr id="1" name=""/>
        <p:cNvGrpSpPr/>
        <p:nvPr/>
      </p:nvGrpSpPr>
      <p:grpSpPr>
        <a:xfrm xmlns:a="http://schemas.openxmlformats.org/drawingml/2006/main"/>
      </p:grpSpPr>
      <p:sp>
        <p:nvSpPr>
          <p:cNvPr id="9" name="equation-kicker">
            <a:extLst xmlns:a="http://schemas.openxmlformats.org/drawingml/2006/main">
              <a:ext uri="{FF2B5EF4-FFF2-40B4-BE49-F238E27FC236}">
                <a16:creationId xmlns:a16="http://schemas.microsoft.com/office/drawing/2014/main" id="{360B5D2B-0EF3-415A-AC84-D2B17552B283}"/>
              </a:ext>
            </a:extLst>
          </p:cNvPr>
          <p:cNvSpPr>
            <a:spLocks xmlns:a="http://schemas.openxmlformats.org/drawingml/2006/main" noGrp="1"/>
          </p:cNvSpPr>
          <p:nvPr/>
        </p:nvSpPr>
        <p:spPr>
          <a:xfrm xmlns:a="http://schemas.openxmlformats.org/drawingml/2006/main">
            <a:off x="742950" y="4762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B9C7FF"/>
                </a:solidFill>
                <a:latin typeface="Consolas"/>
                <a:ea typeface="Consolas"/>
                <a:cs typeface="Consolas"/>
              </a:defRPr>
            </a:pPr>
            <a:r>
              <a:rPr sz="1275" b="1">
                <a:solidFill>
                  <a:srgbClr val="B9C7FF"/>
                </a:solidFill>
                <a:latin typeface="Consolas"/>
                <a:ea typeface="Consolas"/>
                <a:cs typeface="Consolas"/>
              </a:rPr>
              <a:t>SOURCE MATH  /  BEV AUCTION MODEL</a:t>
            </a:r>
          </a:p>
        </p:txBody>
      </p:sp>
      <p:sp>
        <p:nvSpPr>
          <p:cNvPr id="2" name="equation-title">
            <a:extLst xmlns:a="http://schemas.openxmlformats.org/drawingml/2006/main">
              <a:ext uri="{FF2B5EF4-FFF2-40B4-BE49-F238E27FC236}">
                <a16:creationId xmlns:a16="http://schemas.microsoft.com/office/drawing/2014/main" id="{200678EF-B7DE-4E39-B8B9-F91FC16B05FF}"/>
              </a:ext>
            </a:extLst>
          </p:cNvPr>
          <p:cNvSpPr>
            <a:spLocks xmlns:a="http://schemas.openxmlformats.org/drawingml/2006/main" noGrp="1"/>
          </p:cNvSpPr>
          <p:nvPr/>
        </p:nvSpPr>
        <p:spPr>
          <a:xfrm xmlns:a="http://schemas.openxmlformats.org/drawingml/2006/main">
            <a:off x="723900" y="990600"/>
            <a:ext cx="9525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200" b="1">
                <a:solidFill>
                  <a:srgbClr val="FAFAF3"/>
                </a:solidFill>
                <a:latin typeface="Arial"/>
                <a:ea typeface="Arial"/>
                <a:cs typeface="Arial"/>
              </a:defRPr>
            </a:pPr>
            <a:r>
              <a:rPr sz="4200" b="1">
                <a:solidFill>
                  <a:srgbClr val="FAFAF3"/>
                </a:solidFill>
                <a:latin typeface="Arial"/>
                <a:ea typeface="Arial"/>
                <a:cs typeface="Arial"/>
              </a:rPr>
              <a:t>The original bid rule</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416ac79a3fa54507"/>
          <a:stretch xmlns:a="http://schemas.openxmlformats.org/drawingml/2006/main"/>
        </p:blipFill>
        <p:spPr>
          <a:xfrm xmlns:a="http://schemas.openxmlformats.org/drawingml/2006/main">
            <a:off x="876300" y="2165674"/>
            <a:ext cx="10287000" cy="1364602"/>
          </a:xfrm>
          <a:prstGeom xmlns:a="http://schemas.openxmlformats.org/drawingml/2006/main" prst="rect">
            <a:avLst/>
          </a:prstGeom>
        </p:spPr>
      </p:pic>
      <p:sp>
        <p:nvSpPr>
          <p:cNvPr id="4" name="equation-exact-label">
            <a:extLst xmlns:a="http://schemas.openxmlformats.org/drawingml/2006/main">
              <a:ext uri="{FF2B5EF4-FFF2-40B4-BE49-F238E27FC236}">
                <a16:creationId xmlns:a16="http://schemas.microsoft.com/office/drawing/2014/main" id="{9E7383C7-13BA-46A1-A96D-D821EF8E4ABE}"/>
              </a:ext>
            </a:extLst>
          </p:cNvPr>
          <p:cNvSpPr>
            <a:spLocks xmlns:a="http://schemas.openxmlformats.org/drawingml/2006/main" noGrp="1"/>
          </p:cNvSpPr>
          <p:nvPr/>
        </p:nvSpPr>
        <p:spPr>
          <a:xfrm xmlns:a="http://schemas.openxmlformats.org/drawingml/2006/main">
            <a:off x="876300" y="3848100"/>
            <a:ext cx="733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B9C7FF"/>
                </a:solidFill>
                <a:latin typeface="Consolas"/>
                <a:ea typeface="Consolas"/>
                <a:cs typeface="Consolas"/>
              </a:defRPr>
            </a:pPr>
            <a:r>
              <a:rPr sz="1200" b="1">
                <a:solidFill>
                  <a:srgbClr val="B9C7FF"/>
                </a:solidFill>
                <a:latin typeface="Consolas"/>
                <a:ea typeface="Consolas"/>
                <a:cs typeface="Consolas"/>
              </a:rPr>
              <a:t>EXACT LATEX  /  get_code_or_math_spec</a:t>
            </a:r>
          </a:p>
        </p:txBody>
      </p:sp>
      <p:sp>
        <p:nvSpPr>
          <p:cNvPr id="5" name="equation-exact">
            <a:extLst xmlns:a="http://schemas.openxmlformats.org/drawingml/2006/main">
              <a:ext uri="{FF2B5EF4-FFF2-40B4-BE49-F238E27FC236}">
                <a16:creationId xmlns:a16="http://schemas.microsoft.com/office/drawing/2014/main" id="{F6B92534-6800-4E7F-A888-F410F544B8B1}"/>
              </a:ext>
            </a:extLst>
          </p:cNvPr>
          <p:cNvSpPr>
            <a:spLocks xmlns:a="http://schemas.openxmlformats.org/drawingml/2006/main" noGrp="1"/>
          </p:cNvSpPr>
          <p:nvPr/>
        </p:nvSpPr>
        <p:spPr>
          <a:xfrm xmlns:a="http://schemas.openxmlformats.org/drawingml/2006/main">
            <a:off x="876300" y="4210050"/>
            <a:ext cx="10382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AFAF3"/>
                </a:solidFill>
                <a:latin typeface="Consolas"/>
                <a:ea typeface="Consolas"/>
                <a:cs typeface="Consolas"/>
              </a:defRPr>
            </a:pPr>
            <a:r>
              <a:rPr sz="1650" b="0">
                <a:solidFill>
                  <a:srgbClr val="FAFAF3"/>
                </a:solidFill>
                <a:latin typeface="Consolas"/>
                <a:ea typeface="Consolas"/>
                <a:cs typeface="Consolas"/>
              </a:rPr>
              <a:t>b_i^{\text{PA}}(\mathcal{O}, \mathcal{S}_i)=\frac{n-1}{n}\mathcal{R}_i(\mathcal{O})</a:t>
            </a:r>
          </a:p>
        </p:txBody>
      </p:sp>
      <p:sp>
        <p:nvSpPr>
          <p:cNvPr id="6" name="equation-assumption-label">
            <a:extLst xmlns:a="http://schemas.openxmlformats.org/drawingml/2006/main">
              <a:ext uri="{FF2B5EF4-FFF2-40B4-BE49-F238E27FC236}">
                <a16:creationId xmlns:a16="http://schemas.microsoft.com/office/drawing/2014/main" id="{574BD589-B4EA-41E5-A7A7-E7063A9156C9}"/>
              </a:ext>
            </a:extLst>
          </p:cNvPr>
          <p:cNvSpPr>
            <a:spLocks xmlns:a="http://schemas.openxmlformats.org/drawingml/2006/main" noGrp="1"/>
          </p:cNvSpPr>
          <p:nvPr/>
        </p:nvSpPr>
        <p:spPr>
          <a:xfrm xmlns:a="http://schemas.openxmlformats.org/drawingml/2006/main">
            <a:off x="876300" y="5181600"/>
            <a:ext cx="533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B9C7FF"/>
                </a:solidFill>
                <a:latin typeface="Consolas"/>
                <a:ea typeface="Consolas"/>
                <a:cs typeface="Consolas"/>
              </a:defRPr>
            </a:pPr>
            <a:r>
              <a:rPr sz="1200" b="1">
                <a:solidFill>
                  <a:srgbClr val="B9C7FF"/>
                </a:solidFill>
                <a:latin typeface="Consolas"/>
                <a:ea typeface="Consolas"/>
                <a:cs typeface="Consolas"/>
              </a:rPr>
              <a:t>ASSUMPTION IN THE SAME SOURCE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001a58b72fb2440d"/>
          <a:stretch xmlns:a="http://schemas.openxmlformats.org/drawingml/2006/main"/>
        </p:blipFill>
        <p:spPr>
          <a:xfrm xmlns:a="http://schemas.openxmlformats.org/drawingml/2006/main">
            <a:off x="838200" y="5687225"/>
            <a:ext cx="7524750" cy="379399"/>
          </a:xfrm>
          <a:prstGeom xmlns:a="http://schemas.openxmlformats.org/drawingml/2006/main" prst="rect">
            <a:avLst/>
          </a:prstGeom>
        </p:spPr>
      </p:pic>
      <p:sp>
        <p:nvSpPr>
          <p:cNvPr id="8" name="equation-assumption-reading">
            <a:extLst xmlns:a="http://schemas.openxmlformats.org/drawingml/2006/main">
              <a:ext uri="{FF2B5EF4-FFF2-40B4-BE49-F238E27FC236}">
                <a16:creationId xmlns:a16="http://schemas.microsoft.com/office/drawing/2014/main" id="{E5962F03-9F7E-404C-8FFC-A9529DDAB1ED}"/>
              </a:ext>
            </a:extLst>
          </p:cNvPr>
          <p:cNvSpPr>
            <a:spLocks xmlns:a="http://schemas.openxmlformats.org/drawingml/2006/main" noGrp="1"/>
          </p:cNvSpPr>
          <p:nvPr/>
        </p:nvSpPr>
        <p:spPr>
          <a:xfrm xmlns:a="http://schemas.openxmlformats.org/drawingml/2006/main">
            <a:off x="876300" y="6305550"/>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0">
                <a:solidFill>
                  <a:srgbClr val="FAFAF3"/>
                </a:solidFill>
                <a:latin typeface="Arial"/>
                <a:ea typeface="Arial"/>
                <a:cs typeface="Arial"/>
              </a:defRPr>
            </a:pPr>
            <a:r>
              <a:rPr sz="1500" b="0">
                <a:solidFill>
                  <a:srgbClr val="FAFAF3"/>
                </a:solidFill>
                <a:latin typeface="Arial"/>
                <a:ea typeface="Arial"/>
                <a:cs typeface="Arial"/>
              </a:rPr>
              <a:t>Independent rewards, common uniform distribution, known n</a:t>
            </a:r>
          </a:p>
        </p:txBody>
      </p:sp>
    </p:spTree>
    <p:extLst>
      <p:ext uri="{BB962C8B-B14F-4D97-AF65-F5344CB8AC3E}">
        <p14:creationId xmlns:p14="http://schemas.microsoft.com/office/powerpoint/2010/main" val="1813921709"/>
      </p:ext>
    </p:extLst>
  </p:cSld>
</p:sld>
</file>

<file path=ppt/slides/slide5.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5" name="security-kicker">
            <a:extLst xmlns:a="http://schemas.openxmlformats.org/drawingml/2006/main">
              <a:ext uri="{FF2B5EF4-FFF2-40B4-BE49-F238E27FC236}">
                <a16:creationId xmlns:a16="http://schemas.microsoft.com/office/drawing/2014/main" id="{7E1B0AB8-5309-4757-8B51-77DA2CE47A33}"/>
              </a:ext>
            </a:extLst>
          </p:cNvPr>
          <p:cNvSpPr>
            <a:spLocks xmlns:a="http://schemas.openxmlformats.org/drawingml/2006/main" noGrp="1"/>
          </p:cNvSpPr>
          <p:nvPr/>
        </p:nvSpPr>
        <p:spPr>
          <a:xfrm xmlns:a="http://schemas.openxmlformats.org/drawingml/2006/main">
            <a:off x="742950" y="476250"/>
            <a:ext cx="685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EIP-4337  /  SECURITY CONSIDERATIONS</a:t>
            </a:r>
          </a:p>
        </p:txBody>
      </p:sp>
      <p:sp>
        <p:nvSpPr>
          <p:cNvPr id="2" name="security-title">
            <a:extLst xmlns:a="http://schemas.openxmlformats.org/drawingml/2006/main">
              <a:ext uri="{FF2B5EF4-FFF2-40B4-BE49-F238E27FC236}">
                <a16:creationId xmlns:a16="http://schemas.microsoft.com/office/drawing/2014/main" id="{4E313DB1-0B62-46FE-AC65-FF17C6441067}"/>
              </a:ext>
            </a:extLst>
          </p:cNvPr>
          <p:cNvSpPr>
            <a:spLocks xmlns:a="http://schemas.openxmlformats.org/drawingml/2006/main" noGrp="1"/>
          </p:cNvSpPr>
          <p:nvPr/>
        </p:nvSpPr>
        <p:spPr>
          <a:xfrm xmlns:a="http://schemas.openxmlformats.org/drawingml/2006/main">
            <a:off x="723900" y="971550"/>
            <a:ext cx="10382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825" b="1">
                <a:solidFill>
                  <a:srgbClr val="1A1A1A"/>
                </a:solidFill>
                <a:latin typeface="Arial"/>
                <a:ea typeface="Arial"/>
                <a:cs typeface="Arial"/>
              </a:defRPr>
            </a:pPr>
            <a:r>
              <a:rPr sz="3825" b="1">
                <a:solidFill>
                  <a:srgbClr val="1A1A1A"/>
                </a:solidFill>
                <a:latin typeface="Arial"/>
                <a:ea typeface="Arial"/>
                <a:cs typeface="Arial"/>
              </a:rPr>
              <a:t>Authors' limits, before you build</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e8426b164c14ee6"/>
          <a:stretch xmlns:a="http://schemas.openxmlformats.org/drawingml/2006/main"/>
        </p:blipFill>
        <p:spPr>
          <a:xfrm xmlns:a="http://schemas.openxmlformats.org/drawingml/2006/main">
            <a:off x="723900" y="2001175"/>
            <a:ext cx="10382250" cy="3427150"/>
          </a:xfrm>
          <a:prstGeom xmlns:a="http://schemas.openxmlformats.org/drawingml/2006/main" prst="rect">
            <a:avLst/>
          </a:prstGeom>
        </p:spPr>
      </p:pic>
      <p:sp>
        <p:nvSpPr>
          <p:cNvPr id="4" name="security-action">
            <a:extLst xmlns:a="http://schemas.openxmlformats.org/drawingml/2006/main">
              <a:ext uri="{FF2B5EF4-FFF2-40B4-BE49-F238E27FC236}">
                <a16:creationId xmlns:a16="http://schemas.microsoft.com/office/drawing/2014/main" id="{27113994-8292-410A-AFD1-975B357DD244}"/>
              </a:ext>
            </a:extLst>
          </p:cNvPr>
          <p:cNvSpPr>
            <a:spLocks xmlns:a="http://schemas.openxmlformats.org/drawingml/2006/main" noGrp="1"/>
          </p:cNvSpPr>
          <p:nvPr/>
        </p:nvSpPr>
        <p:spPr>
          <a:xfrm xmlns:a="http://schemas.openxmlformats.org/drawingml/2006/main">
            <a:off x="762000" y="5715000"/>
            <a:ext cx="9906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a:solidFill>
                  <a:srgbClr val="1A1A1A"/>
                </a:solidFill>
                <a:latin typeface="Arial"/>
                <a:ea typeface="Arial"/>
                <a:cs typeface="Arial"/>
              </a:defRPr>
            </a:pPr>
            <a:r>
              <a:rPr sz="1875" b="1">
                <a:solidFill>
                  <a:srgbClr val="1A1A1A"/>
                </a:solidFill>
                <a:latin typeface="Arial"/>
                <a:ea typeface="Arial"/>
                <a:cs typeface="Arial"/>
              </a:rPr>
              <a:t>EntryPoint becomes a central trust point. Check it before choosing an architecture.</a:t>
            </a:r>
          </a:p>
        </p:txBody>
      </p:sp>
    </p:spTree>
    <p:extLst>
      <p:ext uri="{BB962C8B-B14F-4D97-AF65-F5344CB8AC3E}">
        <p14:creationId xmlns:p14="http://schemas.microsoft.com/office/powerpoint/2010/main" val="1347565897"/>
      </p:ext>
    </p:extLst>
  </p:cSld>
</p:sld>
</file>

<file path=ppt/slides/slide6.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22" name="market-kicker">
            <a:extLst xmlns:a="http://schemas.openxmlformats.org/drawingml/2006/main">
              <a:ext uri="{FF2B5EF4-FFF2-40B4-BE49-F238E27FC236}">
                <a16:creationId xmlns:a16="http://schemas.microsoft.com/office/drawing/2014/main" id="{72BFAB28-93A4-452B-917D-4B7F3E995504}"/>
              </a:ext>
            </a:extLst>
          </p:cNvPr>
          <p:cNvSpPr>
            <a:spLocks xmlns:a="http://schemas.openxmlformats.org/drawingml/2006/main" noGrp="1"/>
          </p:cNvSpPr>
          <p:nvPr/>
        </p:nvSpPr>
        <p:spPr>
          <a:xfrm xmlns:a="http://schemas.openxmlformats.org/drawingml/2006/main">
            <a:off x="742950" y="4762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INITIAL CUSTOMER</a:t>
            </a:r>
          </a:p>
        </p:txBody>
      </p:sp>
      <p:sp>
        <p:nvSpPr>
          <p:cNvPr id="2" name="market-title">
            <a:extLst xmlns:a="http://schemas.openxmlformats.org/drawingml/2006/main">
              <a:ext uri="{FF2B5EF4-FFF2-40B4-BE49-F238E27FC236}">
                <a16:creationId xmlns:a16="http://schemas.microsoft.com/office/drawing/2014/main" id="{EA6FE676-F191-4A30-9F81-0827D4CE3E62}"/>
              </a:ext>
            </a:extLst>
          </p:cNvPr>
          <p:cNvSpPr>
            <a:spLocks xmlns:a="http://schemas.openxmlformats.org/drawingml/2006/main" noGrp="1"/>
          </p:cNvSpPr>
          <p:nvPr/>
        </p:nvSpPr>
        <p:spPr>
          <a:xfrm xmlns:a="http://schemas.openxmlformats.org/drawingml/2006/main">
            <a:off x="723900" y="952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00" b="1">
                <a:solidFill>
                  <a:srgbClr val="1A1A1A"/>
                </a:solidFill>
                <a:latin typeface="Arial"/>
                <a:ea typeface="Arial"/>
                <a:cs typeface="Arial"/>
              </a:defRPr>
            </a:pPr>
            <a:r>
              <a:rPr sz="3900" b="1">
                <a:solidFill>
                  <a:srgbClr val="1A1A1A"/>
                </a:solidFill>
                <a:latin typeface="Arial"/>
                <a:ea typeface="Arial"/>
                <a:cs typeface="Arial"/>
              </a:rPr>
              <a:t>Protocol engineering teams</a:t>
            </a:r>
          </a:p>
        </p:txBody>
      </p:sp>
      <p:sp>
        <p:nvSpPr>
          <p:cNvPr id="3" name="market-core">
            <a:extLst xmlns:a="http://schemas.openxmlformats.org/drawingml/2006/main">
              <a:ext uri="{FF2B5EF4-FFF2-40B4-BE49-F238E27FC236}">
                <a16:creationId xmlns:a16="http://schemas.microsoft.com/office/drawing/2014/main" id="{81AFCE89-1259-45E5-8019-30561F52EDE8}"/>
              </a:ext>
            </a:extLst>
          </p:cNvPr>
          <p:cNvSpPr>
            <a:spLocks xmlns:a="http://schemas.openxmlformats.org/drawingml/2006/main" noGrp="1"/>
          </p:cNvSpPr>
          <p:nvPr/>
        </p:nvSpPr>
        <p:spPr>
          <a:xfrm xmlns:a="http://schemas.openxmlformats.org/drawingml/2006/main">
            <a:off x="4095750" y="2667000"/>
            <a:ext cx="4000500" cy="129540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4" name="market-defi">
            <a:extLst xmlns:a="http://schemas.openxmlformats.org/drawingml/2006/main">
              <a:ext uri="{FF2B5EF4-FFF2-40B4-BE49-F238E27FC236}">
                <a16:creationId xmlns:a16="http://schemas.microsoft.com/office/drawing/2014/main" id="{F0F34CA1-2E86-47F7-876E-55FCA7DF3DAB}"/>
              </a:ext>
            </a:extLst>
          </p:cNvPr>
          <p:cNvSpPr>
            <a:spLocks xmlns:a="http://schemas.openxmlformats.org/drawingml/2006/main" noGrp="1"/>
          </p:cNvSpPr>
          <p:nvPr/>
        </p:nvSpPr>
        <p:spPr>
          <a:xfrm xmlns:a="http://schemas.openxmlformats.org/drawingml/2006/main">
            <a:off x="781050" y="2343150"/>
            <a:ext cx="2324100" cy="106680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5" name="market-zk">
            <a:extLst xmlns:a="http://schemas.openxmlformats.org/drawingml/2006/main">
              <a:ext uri="{FF2B5EF4-FFF2-40B4-BE49-F238E27FC236}">
                <a16:creationId xmlns:a16="http://schemas.microsoft.com/office/drawing/2014/main" id="{FFC2CB52-F1C5-4974-B8AC-29529DD05F64}"/>
              </a:ext>
            </a:extLst>
          </p:cNvPr>
          <p:cNvSpPr>
            <a:spLocks xmlns:a="http://schemas.openxmlformats.org/drawingml/2006/main" noGrp="1"/>
          </p:cNvSpPr>
          <p:nvPr/>
        </p:nvSpPr>
        <p:spPr>
          <a:xfrm xmlns:a="http://schemas.openxmlformats.org/drawingml/2006/main">
            <a:off x="9086850" y="2343150"/>
            <a:ext cx="2324100" cy="106680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6" name="market-wallet">
            <a:extLst xmlns:a="http://schemas.openxmlformats.org/drawingml/2006/main">
              <a:ext uri="{FF2B5EF4-FFF2-40B4-BE49-F238E27FC236}">
                <a16:creationId xmlns:a16="http://schemas.microsoft.com/office/drawing/2014/main" id="{7EA6CE45-724F-407F-995E-41BD525BC3BB}"/>
              </a:ext>
            </a:extLst>
          </p:cNvPr>
          <p:cNvSpPr>
            <a:spLocks xmlns:a="http://schemas.openxmlformats.org/drawingml/2006/main" noGrp="1"/>
          </p:cNvSpPr>
          <p:nvPr/>
        </p:nvSpPr>
        <p:spPr>
          <a:xfrm xmlns:a="http://schemas.openxmlformats.org/drawingml/2006/main">
            <a:off x="781050" y="4495800"/>
            <a:ext cx="2324100" cy="106680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7" name="market-agents">
            <a:extLst xmlns:a="http://schemas.openxmlformats.org/drawingml/2006/main">
              <a:ext uri="{FF2B5EF4-FFF2-40B4-BE49-F238E27FC236}">
                <a16:creationId xmlns:a16="http://schemas.microsoft.com/office/drawing/2014/main" id="{294CBDFA-8E0E-4599-B6BA-0844285BF410}"/>
              </a:ext>
            </a:extLst>
          </p:cNvPr>
          <p:cNvSpPr>
            <a:spLocks xmlns:a="http://schemas.openxmlformats.org/drawingml/2006/main" noGrp="1"/>
          </p:cNvSpPr>
          <p:nvPr/>
        </p:nvSpPr>
        <p:spPr>
          <a:xfrm xmlns:a="http://schemas.openxmlformats.org/drawingml/2006/main">
            <a:off x="9086850" y="4495800"/>
            <a:ext cx="2324100" cy="1066800"/>
          </a:xfrm>
          <a:prstGeom xmlns:a="http://schemas.openxmlformats.org/drawingml/2006/main" prst="rect">
            <a:avLst/>
          </a:prstGeom>
          <a:solidFill xmlns:a="http://schemas.openxmlformats.org/drawingml/2006/main">
            <a:srgbClr val="ECECE6"/>
          </a:solidFill>
          <a:ln xmlns:a="http://schemas.openxmlformats.org/drawingml/2006/main" w="0">
            <a:noFill/>
          </a:ln>
        </p:spPr>
      </p:sp>
      <p:cxnSp>
        <p:nvCxnSpPr>
          <p:cNvPr id="29" name=""/>
          <p:cNvCxnSpPr>
            <a:stCxn xmlns:a="http://schemas.openxmlformats.org/drawingml/2006/main" id="4" idx="3"/>
            <a:endCxn xmlns:a="http://schemas.openxmlformats.org/drawingml/2006/main" id="3" idx="1"/>
          </p:cNvCxnSpPr>
          <p:nvPr/>
        </p:nvCxnSpPr>
        <p:spPr>
          <a:xfrm xmlns:a="http://schemas.openxmlformats.org/drawingml/2006/main">
            <a:off x="3105150" y="2876550"/>
            <a:ext cx="990600" cy="438150"/>
          </a:xfrm>
          <a:prstGeom xmlns:a="http://schemas.openxmlformats.org/drawingml/2006/main" prst="straightConnector1">
            <a:avLst/>
          </a:prstGeom>
          <a:ln xmlns:a="http://schemas.openxmlformats.org/drawingml/2006/main" w="19050">
            <a:solidFill>
              <a:srgbClr val="244BEA"/>
            </a:solidFill>
            <a:prstDash val="solid"/>
            <a:tailEnd type="arrow" w="sm" len="sm"/>
          </a:ln>
        </p:spPr>
      </p:cxnSp>
      <p:cxnSp>
        <p:nvCxnSpPr>
          <p:cNvPr id="30" name=""/>
          <p:cNvCxnSpPr>
            <a:stCxn xmlns:a="http://schemas.openxmlformats.org/drawingml/2006/main" id="6" idx="3"/>
            <a:endCxn xmlns:a="http://schemas.openxmlformats.org/drawingml/2006/main" id="3" idx="1"/>
          </p:cNvCxnSpPr>
          <p:nvPr/>
        </p:nvCxnSpPr>
        <p:spPr>
          <a:xfrm xmlns:a="http://schemas.openxmlformats.org/drawingml/2006/main" flipV="1">
            <a:off x="3105150" y="3314700"/>
            <a:ext cx="990600" cy="1714500"/>
          </a:xfrm>
          <a:prstGeom xmlns:a="http://schemas.openxmlformats.org/drawingml/2006/main" prst="straightConnector1">
            <a:avLst/>
          </a:prstGeom>
          <a:ln xmlns:a="http://schemas.openxmlformats.org/drawingml/2006/main" w="19050">
            <a:solidFill>
              <a:srgbClr val="244BEA"/>
            </a:solidFill>
            <a:prstDash val="solid"/>
            <a:tailEnd type="arrow" w="sm" len="sm"/>
          </a:ln>
        </p:spPr>
      </p:cxnSp>
      <p:cxnSp>
        <p:nvCxnSpPr>
          <p:cNvPr id="31" name=""/>
          <p:cNvCxnSpPr>
            <a:stCxn xmlns:a="http://schemas.openxmlformats.org/drawingml/2006/main" id="3" idx="3"/>
            <a:endCxn xmlns:a="http://schemas.openxmlformats.org/drawingml/2006/main" id="7" idx="1"/>
          </p:cNvCxnSpPr>
          <p:nvPr/>
        </p:nvCxnSpPr>
        <p:spPr>
          <a:xfrm xmlns:a="http://schemas.openxmlformats.org/drawingml/2006/main">
            <a:off x="8096250" y="3314700"/>
            <a:ext cx="990600" cy="1714500"/>
          </a:xfrm>
          <a:prstGeom xmlns:a="http://schemas.openxmlformats.org/drawingml/2006/main" prst="straightConnector1">
            <a:avLst/>
          </a:prstGeom>
          <a:ln xmlns:a="http://schemas.openxmlformats.org/drawingml/2006/main" w="19050">
            <a:solidFill>
              <a:srgbClr val="244BEA"/>
            </a:solidFill>
            <a:prstDash val="solid"/>
            <a:tailEnd type="arrow" w="sm" len="sm"/>
          </a:ln>
        </p:spPr>
      </p:cxnSp>
      <p:cxnSp>
        <p:nvCxnSpPr>
          <p:cNvPr id="32" name=""/>
          <p:cNvCxnSpPr>
            <a:stCxn xmlns:a="http://schemas.openxmlformats.org/drawingml/2006/main" id="5" idx="1"/>
            <a:endCxn xmlns:a="http://schemas.openxmlformats.org/drawingml/2006/main" id="3" idx="3"/>
          </p:cNvCxnSpPr>
          <p:nvPr/>
        </p:nvCxnSpPr>
        <p:spPr>
          <a:xfrm xmlns:a="http://schemas.openxmlformats.org/drawingml/2006/main" flipH="1">
            <a:off x="8096250" y="2876550"/>
            <a:ext cx="990600" cy="438150"/>
          </a:xfrm>
          <a:prstGeom xmlns:a="http://schemas.openxmlformats.org/drawingml/2006/main" prst="straightConnector1">
            <a:avLst/>
          </a:prstGeom>
          <a:ln xmlns:a="http://schemas.openxmlformats.org/drawingml/2006/main" w="19050">
            <a:solidFill>
              <a:srgbClr val="244BEA"/>
            </a:solidFill>
            <a:prstDash val="solid"/>
            <a:tailEnd type="arrow" w="sm" len="sm"/>
          </a:ln>
        </p:spPr>
      </p:cxnSp>
      <p:sp>
        <p:nvSpPr>
          <p:cNvPr id="12" name="market-defi-label">
            <a:extLst xmlns:a="http://schemas.openxmlformats.org/drawingml/2006/main">
              <a:ext uri="{FF2B5EF4-FFF2-40B4-BE49-F238E27FC236}">
                <a16:creationId xmlns:a16="http://schemas.microsoft.com/office/drawing/2014/main" id="{5DA26DE5-0CC1-4E69-8925-CB09DCF9881C}"/>
              </a:ext>
            </a:extLst>
          </p:cNvPr>
          <p:cNvSpPr>
            <a:spLocks xmlns:a="http://schemas.openxmlformats.org/drawingml/2006/main" noGrp="1"/>
          </p:cNvSpPr>
          <p:nvPr/>
        </p:nvSpPr>
        <p:spPr>
          <a:xfrm xmlns:a="http://schemas.openxmlformats.org/drawingml/2006/main">
            <a:off x="971550" y="2552700"/>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DeFi + MEV</a:t>
            </a:r>
          </a:p>
        </p:txBody>
      </p:sp>
      <p:sp>
        <p:nvSpPr>
          <p:cNvPr id="13" name="market-defi-sub">
            <a:extLst xmlns:a="http://schemas.openxmlformats.org/drawingml/2006/main">
              <a:ext uri="{FF2B5EF4-FFF2-40B4-BE49-F238E27FC236}">
                <a16:creationId xmlns:a16="http://schemas.microsoft.com/office/drawing/2014/main" id="{DEEC126D-CFEF-44FB-9B67-32C8A3827B21}"/>
              </a:ext>
            </a:extLst>
          </p:cNvPr>
          <p:cNvSpPr>
            <a:spLocks xmlns:a="http://schemas.openxmlformats.org/drawingml/2006/main" noGrp="1"/>
          </p:cNvSpPr>
          <p:nvPr/>
        </p:nvSpPr>
        <p:spPr>
          <a:xfrm xmlns:a="http://schemas.openxmlformats.org/drawingml/2006/main">
            <a:off x="971550" y="296227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Incentive design</a:t>
            </a:r>
          </a:p>
        </p:txBody>
      </p:sp>
      <p:sp>
        <p:nvSpPr>
          <p:cNvPr id="14" name="market-zk-label">
            <a:extLst xmlns:a="http://schemas.openxmlformats.org/drawingml/2006/main">
              <a:ext uri="{FF2B5EF4-FFF2-40B4-BE49-F238E27FC236}">
                <a16:creationId xmlns:a16="http://schemas.microsoft.com/office/drawing/2014/main" id="{CE7C8688-60CA-4D1D-8365-676949A099AE}"/>
              </a:ext>
            </a:extLst>
          </p:cNvPr>
          <p:cNvSpPr>
            <a:spLocks xmlns:a="http://schemas.openxmlformats.org/drawingml/2006/main" noGrp="1"/>
          </p:cNvSpPr>
          <p:nvPr/>
        </p:nvSpPr>
        <p:spPr>
          <a:xfrm xmlns:a="http://schemas.openxmlformats.org/drawingml/2006/main">
            <a:off x="9277350" y="2552700"/>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ZK teams</a:t>
            </a:r>
          </a:p>
        </p:txBody>
      </p:sp>
      <p:sp>
        <p:nvSpPr>
          <p:cNvPr id="15" name="market-zk-sub">
            <a:extLst xmlns:a="http://schemas.openxmlformats.org/drawingml/2006/main">
              <a:ext uri="{FF2B5EF4-FFF2-40B4-BE49-F238E27FC236}">
                <a16:creationId xmlns:a16="http://schemas.microsoft.com/office/drawing/2014/main" id="{F77AC96E-6C83-42CF-B578-0811BE462535}"/>
              </a:ext>
            </a:extLst>
          </p:cNvPr>
          <p:cNvSpPr>
            <a:spLocks xmlns:a="http://schemas.openxmlformats.org/drawingml/2006/main" noGrp="1"/>
          </p:cNvSpPr>
          <p:nvPr/>
        </p:nvSpPr>
        <p:spPr>
          <a:xfrm xmlns:a="http://schemas.openxmlformats.org/drawingml/2006/main">
            <a:off x="9277350" y="296227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Proof system research</a:t>
            </a:r>
          </a:p>
        </p:txBody>
      </p:sp>
      <p:sp>
        <p:nvSpPr>
          <p:cNvPr id="16" name="market-core-label">
            <a:extLst xmlns:a="http://schemas.openxmlformats.org/drawingml/2006/main">
              <a:ext uri="{FF2B5EF4-FFF2-40B4-BE49-F238E27FC236}">
                <a16:creationId xmlns:a16="http://schemas.microsoft.com/office/drawing/2014/main" id="{6CB5EDC9-8CAC-4374-81E7-596828A1D798}"/>
              </a:ext>
            </a:extLst>
          </p:cNvPr>
          <p:cNvSpPr>
            <a:spLocks xmlns:a="http://schemas.openxmlformats.org/drawingml/2006/main" noGrp="1"/>
          </p:cNvSpPr>
          <p:nvPr/>
        </p:nvSpPr>
        <p:spPr>
          <a:xfrm xmlns:a="http://schemas.openxmlformats.org/drawingml/2006/main">
            <a:off x="4333875" y="2914650"/>
            <a:ext cx="3524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FFFFF"/>
                </a:solidFill>
                <a:latin typeface="Consolas"/>
                <a:ea typeface="Consolas"/>
                <a:cs typeface="Consolas"/>
              </a:defRPr>
            </a:pPr>
            <a:r>
              <a:rPr sz="1575" b="1">
                <a:solidFill>
                  <a:srgbClr val="FFFFFF"/>
                </a:solidFill>
                <a:latin typeface="Consolas"/>
                <a:ea typeface="Consolas"/>
                <a:cs typeface="Consolas"/>
              </a:rPr>
              <a:t>PROTOCOL ENGINEERING</a:t>
            </a:r>
          </a:p>
        </p:txBody>
      </p:sp>
      <p:sp>
        <p:nvSpPr>
          <p:cNvPr id="17" name="market-core-sub">
            <a:extLst xmlns:a="http://schemas.openxmlformats.org/drawingml/2006/main">
              <a:ext uri="{FF2B5EF4-FFF2-40B4-BE49-F238E27FC236}">
                <a16:creationId xmlns:a16="http://schemas.microsoft.com/office/drawing/2014/main" id="{4AFC4F1C-22E4-4632-B8A3-B27E7591D626}"/>
              </a:ext>
            </a:extLst>
          </p:cNvPr>
          <p:cNvSpPr>
            <a:spLocks xmlns:a="http://schemas.openxmlformats.org/drawingml/2006/main" noGrp="1"/>
          </p:cNvSpPr>
          <p:nvPr/>
        </p:nvSpPr>
        <p:spPr>
          <a:xfrm xmlns:a="http://schemas.openxmlformats.org/drawingml/2006/main">
            <a:off x="4333875" y="3352800"/>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Target users</a:t>
            </a:r>
          </a:p>
        </p:txBody>
      </p:sp>
      <p:sp>
        <p:nvSpPr>
          <p:cNvPr id="18" name="market-wallet-label">
            <a:extLst xmlns:a="http://schemas.openxmlformats.org/drawingml/2006/main">
              <a:ext uri="{FF2B5EF4-FFF2-40B4-BE49-F238E27FC236}">
                <a16:creationId xmlns:a16="http://schemas.microsoft.com/office/drawing/2014/main" id="{CE819831-8224-4799-8195-3366DE5520FE}"/>
              </a:ext>
            </a:extLst>
          </p:cNvPr>
          <p:cNvSpPr>
            <a:spLocks xmlns:a="http://schemas.openxmlformats.org/drawingml/2006/main" noGrp="1"/>
          </p:cNvSpPr>
          <p:nvPr/>
        </p:nvSpPr>
        <p:spPr>
          <a:xfrm xmlns:a="http://schemas.openxmlformats.org/drawingml/2006/main">
            <a:off x="971550" y="4705350"/>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Wallets</a:t>
            </a:r>
          </a:p>
        </p:txBody>
      </p:sp>
      <p:sp>
        <p:nvSpPr>
          <p:cNvPr id="19" name="market-wallet-sub">
            <a:extLst xmlns:a="http://schemas.openxmlformats.org/drawingml/2006/main">
              <a:ext uri="{FF2B5EF4-FFF2-40B4-BE49-F238E27FC236}">
                <a16:creationId xmlns:a16="http://schemas.microsoft.com/office/drawing/2014/main" id="{7D2A6146-09AD-4B24-8E9D-3831E4CD1E1E}"/>
              </a:ext>
            </a:extLst>
          </p:cNvPr>
          <p:cNvSpPr>
            <a:spLocks xmlns:a="http://schemas.openxmlformats.org/drawingml/2006/main" noGrp="1"/>
          </p:cNvSpPr>
          <p:nvPr/>
        </p:nvSpPr>
        <p:spPr>
          <a:xfrm xmlns:a="http://schemas.openxmlformats.org/drawingml/2006/main">
            <a:off x="971550" y="511492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Account security</a:t>
            </a:r>
          </a:p>
        </p:txBody>
      </p:sp>
      <p:sp>
        <p:nvSpPr>
          <p:cNvPr id="20" name="market-agents-label">
            <a:extLst xmlns:a="http://schemas.openxmlformats.org/drawingml/2006/main">
              <a:ext uri="{FF2B5EF4-FFF2-40B4-BE49-F238E27FC236}">
                <a16:creationId xmlns:a16="http://schemas.microsoft.com/office/drawing/2014/main" id="{1721965C-54CA-4814-9C69-FEE3B381A355}"/>
              </a:ext>
            </a:extLst>
          </p:cNvPr>
          <p:cNvSpPr>
            <a:spLocks xmlns:a="http://schemas.openxmlformats.org/drawingml/2006/main" noGrp="1"/>
          </p:cNvSpPr>
          <p:nvPr/>
        </p:nvSpPr>
        <p:spPr>
          <a:xfrm xmlns:a="http://schemas.openxmlformats.org/drawingml/2006/main">
            <a:off x="9277350" y="4705350"/>
            <a:ext cx="19240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AI research</a:t>
            </a:r>
          </a:p>
        </p:txBody>
      </p:sp>
      <p:sp>
        <p:nvSpPr>
          <p:cNvPr id="21" name="market-agents-sub">
            <a:extLst xmlns:a="http://schemas.openxmlformats.org/drawingml/2006/main">
              <a:ext uri="{FF2B5EF4-FFF2-40B4-BE49-F238E27FC236}">
                <a16:creationId xmlns:a16="http://schemas.microsoft.com/office/drawing/2014/main" id="{21CEBE8E-7368-4455-A471-ECC72C66D500}"/>
              </a:ext>
            </a:extLst>
          </p:cNvPr>
          <p:cNvSpPr>
            <a:spLocks xmlns:a="http://schemas.openxmlformats.org/drawingml/2006/main" noGrp="1"/>
          </p:cNvSpPr>
          <p:nvPr/>
        </p:nvSpPr>
        <p:spPr>
          <a:xfrm xmlns:a="http://schemas.openxmlformats.org/drawingml/2006/main">
            <a:off x="9277350" y="5114925"/>
            <a:ext cx="19240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Adjacent users</a:t>
            </a:r>
          </a:p>
        </p:txBody>
      </p:sp>
    </p:spTree>
    <p:extLst>
      <p:ext uri="{BB962C8B-B14F-4D97-AF65-F5344CB8AC3E}">
        <p14:creationId xmlns:p14="http://schemas.microsoft.com/office/powerpoint/2010/main" val="967465739"/>
      </p:ext>
    </p:extLst>
  </p:cSld>
</p:sld>
</file>

<file path=ppt/slides/slide7.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5" name="competition-kicker">
            <a:extLst xmlns:a="http://schemas.openxmlformats.org/drawingml/2006/main">
              <a:ext uri="{FF2B5EF4-FFF2-40B4-BE49-F238E27FC236}">
                <a16:creationId xmlns:a16="http://schemas.microsoft.com/office/drawing/2014/main" id="{E919FCE1-6723-4564-95E7-1BDAF18CCF42}"/>
              </a:ext>
            </a:extLst>
          </p:cNvPr>
          <p:cNvSpPr>
            <a:spLocks xmlns:a="http://schemas.openxmlformats.org/drawingml/2006/main" noGrp="1"/>
          </p:cNvSpPr>
          <p:nvPr/>
        </p:nvSpPr>
        <p:spPr>
          <a:xfrm xmlns:a="http://schemas.openxmlformats.org/drawingml/2006/main">
            <a:off x="742950" y="4000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00" b="1">
                <a:solidFill>
                  <a:srgbClr val="244BEA"/>
                </a:solidFill>
                <a:latin typeface="Consolas"/>
                <a:ea typeface="Consolas"/>
                <a:cs typeface="Consolas"/>
              </a:defRPr>
            </a:pPr>
            <a:r>
              <a:rPr sz="1200" b="1">
                <a:solidFill>
                  <a:srgbClr val="244BEA"/>
                </a:solidFill>
                <a:latin typeface="Consolas"/>
                <a:ea typeface="Consolas"/>
                <a:cs typeface="Consolas"/>
              </a:rPr>
              <a:t>WORKFLOW COMPARISON</a:t>
            </a:r>
          </a:p>
        </p:txBody>
      </p:sp>
      <p:sp>
        <p:nvSpPr>
          <p:cNvPr id="2" name="competition-title">
            <a:extLst xmlns:a="http://schemas.openxmlformats.org/drawingml/2006/main">
              <a:ext uri="{FF2B5EF4-FFF2-40B4-BE49-F238E27FC236}">
                <a16:creationId xmlns:a16="http://schemas.microsoft.com/office/drawing/2014/main" id="{A3706DE4-E5D5-4193-A897-9AEC8C59DEF0}"/>
              </a:ext>
            </a:extLst>
          </p:cNvPr>
          <p:cNvSpPr>
            <a:spLocks xmlns:a="http://schemas.openxmlformats.org/drawingml/2006/main" noGrp="1"/>
          </p:cNvSpPr>
          <p:nvPr/>
        </p:nvSpPr>
        <p:spPr>
          <a:xfrm xmlns:a="http://schemas.openxmlformats.org/drawingml/2006/main">
            <a:off x="723900" y="762000"/>
            <a:ext cx="107156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75" b="1">
                <a:solidFill>
                  <a:srgbClr val="1A1A1A"/>
                </a:solidFill>
                <a:latin typeface="Arial"/>
                <a:ea typeface="Arial"/>
                <a:cs typeface="Arial"/>
              </a:defRPr>
            </a:pPr>
            <a:r>
              <a:rPr sz="3375" b="1">
                <a:solidFill>
                  <a:srgbClr val="1A1A1A"/>
                </a:solidFill>
                <a:latin typeface="Arial"/>
                <a:ea typeface="Arial"/>
                <a:cs typeface="Arial"/>
              </a:rPr>
              <a:t>Research papers + protocol specs</a:t>
            </a:r>
          </a:p>
        </p:txBody>
      </p:sp>
      <p:graphicFrame>
        <p:nvGraphicFramePr>
          <p:cNvPr id="7" name=""/>
          <p:cNvGraphicFramePr/>
          <p:nvPr/>
        </p:nvGraphicFramePr>
        <p:xfrm>
          <a:off xmlns:a="http://schemas.openxmlformats.org/drawingml/2006/main" x="742950" y="1762125"/>
          <a:ext xmlns:a="http://schemas.openxmlformats.org/drawingml/2006/main" cx="10668000" cy="3524250"/>
        </p:xfrm>
        <a:graphic xmlns:a="http://schemas.openxmlformats.org/drawingml/2006/main">
          <a:graphicData uri="http://schemas.openxmlformats.org/drawingml/2006/table">
            <a:tbl>
              <a:tblPr/>
              <a:tblGrid>
                <a:gridCol w="2095500"/>
                <a:gridCol w="4524375"/>
                <a:gridCol w="4048125"/>
              </a:tblGrid>
              <a:tr h="495300">
                <a:tc>
                  <a:txBody>
                    <a:bodyPr lIns="114300" tIns="76200" rIns="114300" bIns="76200">
                      <a:normAutofit/>
                    </a:bodyPr>
                    <a:lstStyle/>
                    <a:p>
                      <a:r>
                        <a:rPr sz="1200" b="1">
                          <a:solidFill>
                            <a:srgbClr val="FFFFFF"/>
                          </a:solidFill>
                          <a:latin typeface="Consolas"/>
                          <a:ea typeface="Consolas"/>
                          <a:cs typeface="Consolas"/>
                        </a:rPr>
                        <a:t>SERVICE</a:t>
                      </a:r>
                    </a:p>
                  </a:txBody>
                  <a:tcPr marL="91440" marR="91440" marT="45720" marB="45720" anchor="ctr">
                    <a:solidFill>
                      <a:srgbClr val="1A1A1A"/>
                    </a:solidFill>
                  </a:tcPr>
                </a:tc>
                <a:tc>
                  <a:txBody>
                    <a:bodyPr lIns="114300" tIns="76200" rIns="114300" bIns="76200">
                      <a:normAutofit/>
                    </a:bodyPr>
                    <a:lstStyle/>
                    <a:p>
                      <a:r>
                        <a:rPr sz="1200" b="1">
                          <a:solidFill>
                            <a:srgbClr val="FFFFFF"/>
                          </a:solidFill>
                          <a:latin typeface="Consolas"/>
                          <a:ea typeface="Consolas"/>
                          <a:cs typeface="Consolas"/>
                        </a:rPr>
                        <a:t>FOCUS</a:t>
                      </a:r>
                    </a:p>
                  </a:txBody>
                  <a:tcPr marL="91440" marR="91440" marT="45720" marB="45720" anchor="ctr">
                    <a:solidFill>
                      <a:srgbClr val="1A1A1A"/>
                    </a:solidFill>
                  </a:tcPr>
                </a:tc>
                <a:tc>
                  <a:txBody>
                    <a:bodyPr lIns="114300" tIns="76200" rIns="114300" bIns="76200">
                      <a:normAutofit/>
                    </a:bodyPr>
                    <a:lstStyle/>
                    <a:p>
                      <a:r>
                        <a:rPr sz="1200" b="1">
                          <a:solidFill>
                            <a:srgbClr val="FFFFFF"/>
                          </a:solidFill>
                          <a:latin typeface="Consolas"/>
                          <a:ea typeface="Consolas"/>
                          <a:cs typeface="Consolas"/>
                        </a:rPr>
                        <a:t>WORKFLOW</a:t>
                      </a:r>
                    </a:p>
                  </a:txBody>
                  <a:tcPr marL="91440" marR="91440" marT="45720" marB="45720" anchor="ctr">
                    <a:solidFill>
                      <a:srgbClr val="1A1A1A"/>
                    </a:solidFill>
                  </a:tcPr>
                </a:tc>
              </a:tr>
              <a:tr h="757238">
                <a:tc>
                  <a:txBody>
                    <a:bodyPr lIns="114300" tIns="76200" rIns="114300" bIns="76200">
                      <a:normAutofit/>
                    </a:bodyPr>
                    <a:lstStyle/>
                    <a:p>
                      <a:r>
                        <a:rPr sz="1425" b="1">
                          <a:solidFill>
                            <a:srgbClr val="1A1A1A"/>
                          </a:solidFill>
                          <a:latin typeface="Consolas"/>
                          <a:ea typeface="Consolas"/>
                          <a:cs typeface="Consolas"/>
                        </a:rPr>
                        <a:t>dtox</a:t>
                      </a:r>
                    </a:p>
                  </a:txBody>
                  <a:tcPr marL="91440" marR="91440" marT="45720" marB="45720" anchor="ctr">
                    <a:solidFill>
                      <a:srgbClr val="E8EDFF"/>
                    </a:solidFill>
                  </a:tcPr>
                </a:tc>
                <a:tc>
                  <a:txBody>
                    <a:bodyPr lIns="114300" tIns="76200" rIns="114300" bIns="76200">
                      <a:normAutofit/>
                    </a:bodyPr>
                    <a:lstStyle/>
                    <a:p>
                      <a:r>
                        <a:rPr sz="1425" b="0">
                          <a:solidFill>
                            <a:srgbClr val="1A1A1A"/>
                          </a:solidFill>
                          <a:latin typeface="Arial"/>
                          <a:ea typeface="Arial"/>
                          <a:cs typeface="Arial"/>
                        </a:rPr>
                        <a:t>Web3 papers + EIP/ERC/SIMD specs</a:t>
                      </a:r>
                    </a:p>
                  </a:txBody>
                  <a:tcPr marL="91440" marR="91440" marT="45720" marB="45720" anchor="ctr">
                    <a:solidFill>
                      <a:srgbClr val="E8EDFF"/>
                    </a:solidFill>
                  </a:tcPr>
                </a:tc>
                <a:tc>
                  <a:txBody>
                    <a:bodyPr lIns="114300" tIns="76200" rIns="114300" bIns="76200">
                      <a:normAutofit/>
                    </a:bodyPr>
                    <a:lstStyle/>
                    <a:p>
                      <a:r>
                        <a:rPr sz="1425" b="0">
                          <a:solidFill>
                            <a:srgbClr val="1A1A1A"/>
                          </a:solidFill>
                          <a:latin typeface="Arial"/>
                          <a:ea typeface="Arial"/>
                          <a:cs typeface="Arial"/>
                        </a:rPr>
                        <a:t>Equations + structured evidence</a:t>
                      </a:r>
                    </a:p>
                  </a:txBody>
                  <a:tcPr marL="91440" marR="91440" marT="45720" marB="45720" anchor="ctr">
                    <a:solidFill>
                      <a:srgbClr val="E8EDFF"/>
                    </a:solidFill>
                  </a:tcPr>
                </a:tc>
              </a:tr>
              <a:tr h="757238">
                <a:tc>
                  <a:txBody>
                    <a:bodyPr lIns="114300" tIns="76200" rIns="114300" bIns="76200">
                      <a:normAutofit/>
                    </a:bodyPr>
                    <a:lstStyle/>
                    <a:p>
                      <a:r>
                        <a:rPr sz="1425" b="1">
                          <a:solidFill>
                            <a:srgbClr val="1A1A1A"/>
                          </a:solidFill>
                          <a:latin typeface="Consolas"/>
                          <a:ea typeface="Consolas"/>
                          <a:cs typeface="Consolas"/>
                        </a:rPr>
                        <a:t>Elicit</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Literature synthesis + extraction</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API + MCP</a:t>
                      </a:r>
                    </a:p>
                  </a:txBody>
                  <a:tcPr marL="91440" marR="91440" marT="45720" marB="45720" anchor="ctr">
                    <a:solidFill>
                      <a:srgbClr val="FAFAF3"/>
                    </a:solidFill>
                  </a:tcPr>
                </a:tc>
              </a:tr>
              <a:tr h="757238">
                <a:tc>
                  <a:txBody>
                    <a:bodyPr lIns="114300" tIns="76200" rIns="114300" bIns="76200">
                      <a:normAutofit/>
                    </a:bodyPr>
                    <a:lstStyle/>
                    <a:p>
                      <a:r>
                        <a:rPr sz="1425" b="1">
                          <a:solidFill>
                            <a:srgbClr val="1A1A1A"/>
                          </a:solidFill>
                          <a:latin typeface="Consolas"/>
                          <a:ea typeface="Consolas"/>
                          <a:cs typeface="Consolas"/>
                        </a:rPr>
                        <a:t>Semantic Scholar</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Discovery + metadata</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Citation graph</a:t>
                      </a:r>
                    </a:p>
                  </a:txBody>
                  <a:tcPr marL="91440" marR="91440" marT="45720" marB="45720" anchor="ctr">
                    <a:solidFill>
                      <a:srgbClr val="FAFAF3"/>
                    </a:solidFill>
                  </a:tcPr>
                </a:tc>
              </a:tr>
              <a:tr h="757238">
                <a:tc>
                  <a:txBody>
                    <a:bodyPr lIns="114300" tIns="76200" rIns="114300" bIns="76200">
                      <a:normAutofit/>
                    </a:bodyPr>
                    <a:lstStyle/>
                    <a:p>
                      <a:r>
                        <a:rPr sz="1425" b="1">
                          <a:solidFill>
                            <a:srgbClr val="1A1A1A"/>
                          </a:solidFill>
                          <a:latin typeface="Consolas"/>
                          <a:ea typeface="Consolas"/>
                          <a:cs typeface="Consolas"/>
                        </a:rPr>
                        <a:t>arxiv-mcp</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arXiv papers</a:t>
                      </a:r>
                    </a:p>
                  </a:txBody>
                  <a:tcPr marL="91440" marR="91440" marT="45720" marB="45720" anchor="ctr">
                    <a:solidFill>
                      <a:srgbClr val="FAFAF3"/>
                    </a:solidFill>
                  </a:tcPr>
                </a:tc>
                <a:tc>
                  <a:txBody>
                    <a:bodyPr lIns="114300" tIns="76200" rIns="114300" bIns="76200">
                      <a:normAutofit/>
                    </a:bodyPr>
                    <a:lstStyle/>
                    <a:p>
                      <a:r>
                        <a:rPr sz="1425" b="0">
                          <a:solidFill>
                            <a:srgbClr val="1A1A1A"/>
                          </a:solidFill>
                          <a:latin typeface="Arial"/>
                          <a:ea typeface="Arial"/>
                          <a:cs typeface="Arial"/>
                        </a:rPr>
                        <a:t>Original LaTeX + topic watches</a:t>
                      </a:r>
                    </a:p>
                  </a:txBody>
                  <a:tcPr marL="91440" marR="91440" marT="45720" marB="45720" anchor="ctr">
                    <a:solidFill>
                      <a:srgbClr val="FAFAF3"/>
                    </a:solidFill>
                  </a:tcPr>
                </a:tc>
              </a:tr>
            </a:tbl>
          </a:graphicData>
        </a:graphic>
      </p:graphicFrame>
      <p:sp>
        <p:nvSpPr>
          <p:cNvPr id="4" name="competition-caption">
            <a:extLst xmlns:a="http://schemas.openxmlformats.org/drawingml/2006/main">
              <a:ext uri="{FF2B5EF4-FFF2-40B4-BE49-F238E27FC236}">
                <a16:creationId xmlns:a16="http://schemas.microsoft.com/office/drawing/2014/main" id="{4B1C7CFD-3DE8-44EF-B0D7-C95EF5AF3088}"/>
              </a:ext>
            </a:extLst>
          </p:cNvPr>
          <p:cNvSpPr>
            <a:spLocks xmlns:a="http://schemas.openxmlformats.org/drawingml/2006/main" noGrp="1"/>
          </p:cNvSpPr>
          <p:nvPr/>
        </p:nvSpPr>
        <p:spPr>
          <a:xfrm xmlns:a="http://schemas.openxmlformats.org/drawingml/2006/main">
            <a:off x="762000" y="5657850"/>
            <a:ext cx="10382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025" b="1">
                <a:solidFill>
                  <a:srgbClr val="1A1A1A"/>
                </a:solidFill>
                <a:latin typeface="Arial"/>
                <a:ea typeface="Arial"/>
                <a:cs typeface="Arial"/>
              </a:defRPr>
            </a:pPr>
            <a:r>
              <a:rPr sz="2025" b="1">
                <a:solidFill>
                  <a:srgbClr val="1A1A1A"/>
                </a:solidFill>
                <a:latin typeface="Arial"/>
                <a:ea typeface="Arial"/>
                <a:cs typeface="Arial"/>
              </a:rPr>
              <a:t>Web3 papers + protocol specs in one research workflow.</a:t>
            </a:r>
          </a:p>
        </p:txBody>
      </p:sp>
    </p:spTree>
    <p:extLst>
      <p:ext uri="{BB962C8B-B14F-4D97-AF65-F5344CB8AC3E}">
        <p14:creationId xmlns:p14="http://schemas.microsoft.com/office/powerpoint/2010/main" val="1641682191"/>
      </p:ext>
    </p:extLst>
  </p:cSld>
</p:sld>
</file>

<file path=ppt/slides/slide8.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22" name="engine-kicker">
            <a:extLst xmlns:a="http://schemas.openxmlformats.org/drawingml/2006/main">
              <a:ext uri="{FF2B5EF4-FFF2-40B4-BE49-F238E27FC236}">
                <a16:creationId xmlns:a16="http://schemas.microsoft.com/office/drawing/2014/main" id="{10F86566-CEAB-426C-B352-81C0D9FE3655}"/>
              </a:ext>
            </a:extLst>
          </p:cNvPr>
          <p:cNvSpPr>
            <a:spLocks xmlns:a="http://schemas.openxmlformats.org/drawingml/2006/main" noGrp="1"/>
          </p:cNvSpPr>
          <p:nvPr/>
        </p:nvSpPr>
        <p:spPr>
          <a:xfrm xmlns:a="http://schemas.openxmlformats.org/drawingml/2006/main">
            <a:off x="742950" y="438150"/>
            <a:ext cx="4095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RETRIEVAL ENGINE</a:t>
            </a:r>
          </a:p>
        </p:txBody>
      </p:sp>
      <p:sp>
        <p:nvSpPr>
          <p:cNvPr id="2" name="engine-title">
            <a:extLst xmlns:a="http://schemas.openxmlformats.org/drawingml/2006/main">
              <a:ext uri="{FF2B5EF4-FFF2-40B4-BE49-F238E27FC236}">
                <a16:creationId xmlns:a16="http://schemas.microsoft.com/office/drawing/2014/main" id="{BF0FB6B1-F5B8-4C5A-8F22-E14B2FA6E8F4}"/>
              </a:ext>
            </a:extLst>
          </p:cNvPr>
          <p:cNvSpPr>
            <a:spLocks xmlns:a="http://schemas.openxmlformats.org/drawingml/2006/main" noGrp="1"/>
          </p:cNvSpPr>
          <p:nvPr/>
        </p:nvSpPr>
        <p:spPr>
          <a:xfrm xmlns:a="http://schemas.openxmlformats.org/drawingml/2006/main">
            <a:off x="723900" y="819150"/>
            <a:ext cx="7810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825" b="1">
                <a:solidFill>
                  <a:srgbClr val="1A1A1A"/>
                </a:solidFill>
                <a:latin typeface="Arial"/>
                <a:ea typeface="Arial"/>
                <a:cs typeface="Arial"/>
              </a:defRPr>
            </a:pPr>
            <a:r>
              <a:rPr sz="3825" b="1">
                <a:solidFill>
                  <a:srgbClr val="1A1A1A"/>
                </a:solidFill>
                <a:latin typeface="Arial"/>
                <a:ea typeface="Arial"/>
                <a:cs typeface="Arial"/>
              </a:rPr>
              <a:t>Research you can inspect</a:t>
            </a:r>
          </a:p>
        </p:txBody>
      </p:sp>
      <p:sp>
        <p:nvSpPr>
          <p:cNvPr id="3" name="engine-dense">
            <a:extLst xmlns:a="http://schemas.openxmlformats.org/drawingml/2006/main">
              <a:ext uri="{FF2B5EF4-FFF2-40B4-BE49-F238E27FC236}">
                <a16:creationId xmlns:a16="http://schemas.microsoft.com/office/drawing/2014/main" id="{575581E3-FFEB-42C0-9A46-92295EAC9452}"/>
              </a:ext>
            </a:extLst>
          </p:cNvPr>
          <p:cNvSpPr>
            <a:spLocks xmlns:a="http://schemas.openxmlformats.org/drawingml/2006/main" noGrp="1"/>
          </p:cNvSpPr>
          <p:nvPr/>
        </p:nvSpPr>
        <p:spPr>
          <a:xfrm xmlns:a="http://schemas.openxmlformats.org/drawingml/2006/main">
            <a:off x="762000" y="2333625"/>
            <a:ext cx="2667000" cy="116205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4" name="engine-bm25">
            <a:extLst xmlns:a="http://schemas.openxmlformats.org/drawingml/2006/main">
              <a:ext uri="{FF2B5EF4-FFF2-40B4-BE49-F238E27FC236}">
                <a16:creationId xmlns:a16="http://schemas.microsoft.com/office/drawing/2014/main" id="{E35EF197-B921-4CD0-8E55-BBB011E52A52}"/>
              </a:ext>
            </a:extLst>
          </p:cNvPr>
          <p:cNvSpPr>
            <a:spLocks xmlns:a="http://schemas.openxmlformats.org/drawingml/2006/main" noGrp="1"/>
          </p:cNvSpPr>
          <p:nvPr/>
        </p:nvSpPr>
        <p:spPr>
          <a:xfrm xmlns:a="http://schemas.openxmlformats.org/drawingml/2006/main">
            <a:off x="762000" y="3781425"/>
            <a:ext cx="2667000" cy="1162050"/>
          </a:xfrm>
          <a:prstGeom xmlns:a="http://schemas.openxmlformats.org/drawingml/2006/main" prst="rect">
            <a:avLst/>
          </a:prstGeom>
          <a:solidFill xmlns:a="http://schemas.openxmlformats.org/drawingml/2006/main">
            <a:srgbClr val="E8E8E0"/>
          </a:solidFill>
          <a:ln xmlns:a="http://schemas.openxmlformats.org/drawingml/2006/main" w="0">
            <a:noFill/>
          </a:ln>
        </p:spPr>
      </p:sp>
      <p:sp>
        <p:nvSpPr>
          <p:cNvPr id="5" name="engine-graph">
            <a:extLst xmlns:a="http://schemas.openxmlformats.org/drawingml/2006/main">
              <a:ext uri="{FF2B5EF4-FFF2-40B4-BE49-F238E27FC236}">
                <a16:creationId xmlns:a16="http://schemas.microsoft.com/office/drawing/2014/main" id="{5600D6D8-6718-41CA-BEBF-E755A5B2C1D5}"/>
              </a:ext>
            </a:extLst>
          </p:cNvPr>
          <p:cNvSpPr>
            <a:spLocks xmlns:a="http://schemas.openxmlformats.org/drawingml/2006/main" noGrp="1"/>
          </p:cNvSpPr>
          <p:nvPr/>
        </p:nvSpPr>
        <p:spPr>
          <a:xfrm xmlns:a="http://schemas.openxmlformats.org/drawingml/2006/main">
            <a:off x="762000" y="5229225"/>
            <a:ext cx="2667000" cy="904875"/>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6" name="engine-evidence">
            <a:extLst xmlns:a="http://schemas.openxmlformats.org/drawingml/2006/main">
              <a:ext uri="{FF2B5EF4-FFF2-40B4-BE49-F238E27FC236}">
                <a16:creationId xmlns:a16="http://schemas.microsoft.com/office/drawing/2014/main" id="{1E02665D-0CF8-4471-ACEF-61DB3F93142B}"/>
              </a:ext>
            </a:extLst>
          </p:cNvPr>
          <p:cNvSpPr>
            <a:spLocks xmlns:a="http://schemas.openxmlformats.org/drawingml/2006/main" noGrp="1"/>
          </p:cNvSpPr>
          <p:nvPr/>
        </p:nvSpPr>
        <p:spPr>
          <a:xfrm xmlns:a="http://schemas.openxmlformats.org/drawingml/2006/main">
            <a:off x="4791075" y="3257550"/>
            <a:ext cx="3048000" cy="1695450"/>
          </a:xfrm>
          <a:prstGeom xmlns:a="http://schemas.openxmlformats.org/drawingml/2006/main" prst="rect">
            <a:avLst/>
          </a:prstGeom>
          <a:solidFill xmlns:a="http://schemas.openxmlformats.org/drawingml/2006/main">
            <a:srgbClr val="244BEA"/>
          </a:solidFill>
          <a:ln xmlns:a="http://schemas.openxmlformats.org/drawingml/2006/main" w="0">
            <a:noFill/>
          </a:ln>
        </p:spPr>
      </p:sp>
      <p:cxnSp>
        <p:nvCxnSpPr>
          <p:cNvPr id="28" name=""/>
          <p:cNvCxnSpPr>
            <a:stCxn xmlns:a="http://schemas.openxmlformats.org/drawingml/2006/main" id="3" idx="3"/>
            <a:endCxn xmlns:a="http://schemas.openxmlformats.org/drawingml/2006/main" id="6" idx="1"/>
          </p:cNvCxnSpPr>
          <p:nvPr/>
        </p:nvCxnSpPr>
        <p:spPr>
          <a:xfrm xmlns:a="http://schemas.openxmlformats.org/drawingml/2006/main">
            <a:off x="3429000" y="2914650"/>
            <a:ext cx="1362075" cy="1190625"/>
          </a:xfrm>
          <a:prstGeom xmlns:a="http://schemas.openxmlformats.org/drawingml/2006/main" prst="straightConnector1">
            <a:avLst/>
          </a:prstGeom>
          <a:ln xmlns:a="http://schemas.openxmlformats.org/drawingml/2006/main" w="19050">
            <a:solidFill>
              <a:srgbClr val="244BEA"/>
            </a:solidFill>
            <a:prstDash val="solid"/>
            <a:tailEnd type="arrow" w="sm" len="sm"/>
          </a:ln>
        </p:spPr>
      </p:cxnSp>
      <p:cxnSp>
        <p:nvCxnSpPr>
          <p:cNvPr id="29" name=""/>
          <p:cNvCxnSpPr>
            <a:stCxn xmlns:a="http://schemas.openxmlformats.org/drawingml/2006/main" id="4" idx="3"/>
            <a:endCxn xmlns:a="http://schemas.openxmlformats.org/drawingml/2006/main" id="6" idx="1"/>
          </p:cNvCxnSpPr>
          <p:nvPr/>
        </p:nvCxnSpPr>
        <p:spPr>
          <a:xfrm xmlns:a="http://schemas.openxmlformats.org/drawingml/2006/main" flipV="1">
            <a:off x="3429000" y="4105275"/>
            <a:ext cx="1362075" cy="257175"/>
          </a:xfrm>
          <a:prstGeom xmlns:a="http://schemas.openxmlformats.org/drawingml/2006/main" prst="straightConnector1">
            <a:avLst/>
          </a:prstGeom>
          <a:ln xmlns:a="http://schemas.openxmlformats.org/drawingml/2006/main" w="19050">
            <a:solidFill>
              <a:srgbClr val="244BEA"/>
            </a:solidFill>
            <a:prstDash val="solid"/>
            <a:tailEnd type="arrow" w="sm" len="sm"/>
          </a:ln>
        </p:spPr>
      </p:cxnSp>
      <p:cxnSp>
        <p:nvCxnSpPr>
          <p:cNvPr id="30" name=""/>
          <p:cNvCxnSpPr>
            <a:stCxn xmlns:a="http://schemas.openxmlformats.org/drawingml/2006/main" id="5" idx="3"/>
            <a:endCxn xmlns:a="http://schemas.openxmlformats.org/drawingml/2006/main" id="6" idx="1"/>
          </p:cNvCxnSpPr>
          <p:nvPr/>
        </p:nvCxnSpPr>
        <p:spPr>
          <a:xfrm xmlns:a="http://schemas.openxmlformats.org/drawingml/2006/main" flipV="1">
            <a:off x="3429000" y="4105275"/>
            <a:ext cx="1362075" cy="1576388"/>
          </a:xfrm>
          <a:prstGeom xmlns:a="http://schemas.openxmlformats.org/drawingml/2006/main" prst="straightConnector1">
            <a:avLst/>
          </a:prstGeom>
          <a:ln xmlns:a="http://schemas.openxmlformats.org/drawingml/2006/main" w="19050">
            <a:solidFill>
              <a:srgbClr val="244BEA"/>
            </a:solidFill>
            <a:prstDash val="solid"/>
            <a:tailEnd type="arrow" w="sm" len="sm"/>
          </a:ln>
        </p:spPr>
      </p:cxnSp>
      <p:sp>
        <p:nvSpPr>
          <p:cNvPr id="10" name="engine-dense-label">
            <a:extLst xmlns:a="http://schemas.openxmlformats.org/drawingml/2006/main">
              <a:ext uri="{FF2B5EF4-FFF2-40B4-BE49-F238E27FC236}">
                <a16:creationId xmlns:a16="http://schemas.microsoft.com/office/drawing/2014/main" id="{1CB1C212-E6D9-4206-BCDF-2DBBEC523C0E}"/>
              </a:ext>
            </a:extLst>
          </p:cNvPr>
          <p:cNvSpPr>
            <a:spLocks xmlns:a="http://schemas.openxmlformats.org/drawingml/2006/main" noGrp="1"/>
          </p:cNvSpPr>
          <p:nvPr/>
        </p:nvSpPr>
        <p:spPr>
          <a:xfrm xmlns:a="http://schemas.openxmlformats.org/drawingml/2006/main">
            <a:off x="971550" y="2543175"/>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Dense retrieval</a:t>
            </a:r>
          </a:p>
        </p:txBody>
      </p:sp>
      <p:sp>
        <p:nvSpPr>
          <p:cNvPr id="11" name="engine-dense-sub">
            <a:extLst xmlns:a="http://schemas.openxmlformats.org/drawingml/2006/main">
              <a:ext uri="{FF2B5EF4-FFF2-40B4-BE49-F238E27FC236}">
                <a16:creationId xmlns:a16="http://schemas.microsoft.com/office/drawing/2014/main" id="{1F20224B-1BAA-4C6A-AA27-52E46DC154E2}"/>
              </a:ext>
            </a:extLst>
          </p:cNvPr>
          <p:cNvSpPr>
            <a:spLocks xmlns:a="http://schemas.openxmlformats.org/drawingml/2006/main" noGrp="1"/>
          </p:cNvSpPr>
          <p:nvPr/>
        </p:nvSpPr>
        <p:spPr>
          <a:xfrm xmlns:a="http://schemas.openxmlformats.org/drawingml/2006/main">
            <a:off x="971550" y="2981325"/>
            <a:ext cx="223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Paper + chunk</a:t>
            </a:r>
          </a:p>
        </p:txBody>
      </p:sp>
      <p:sp>
        <p:nvSpPr>
          <p:cNvPr id="12" name="engine-bm25-label">
            <a:extLst xmlns:a="http://schemas.openxmlformats.org/drawingml/2006/main">
              <a:ext uri="{FF2B5EF4-FFF2-40B4-BE49-F238E27FC236}">
                <a16:creationId xmlns:a16="http://schemas.microsoft.com/office/drawing/2014/main" id="{78439596-8E2C-4379-9B0A-DC0C6FB6E300}"/>
              </a:ext>
            </a:extLst>
          </p:cNvPr>
          <p:cNvSpPr>
            <a:spLocks xmlns:a="http://schemas.openxmlformats.org/drawingml/2006/main" noGrp="1"/>
          </p:cNvSpPr>
          <p:nvPr/>
        </p:nvSpPr>
        <p:spPr>
          <a:xfrm xmlns:a="http://schemas.openxmlformats.org/drawingml/2006/main">
            <a:off x="971550" y="400050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1A1A1A"/>
                </a:solidFill>
                <a:latin typeface="Arial"/>
                <a:ea typeface="Arial"/>
                <a:cs typeface="Arial"/>
              </a:defRPr>
            </a:pPr>
            <a:r>
              <a:rPr sz="1725" b="1">
                <a:solidFill>
                  <a:srgbClr val="1A1A1A"/>
                </a:solidFill>
                <a:latin typeface="Arial"/>
                <a:ea typeface="Arial"/>
                <a:cs typeface="Arial"/>
              </a:rPr>
              <a:t>BM25</a:t>
            </a:r>
          </a:p>
        </p:txBody>
      </p:sp>
      <p:sp>
        <p:nvSpPr>
          <p:cNvPr id="13" name="engine-bm25-sub">
            <a:extLst xmlns:a="http://schemas.openxmlformats.org/drawingml/2006/main">
              <a:ext uri="{FF2B5EF4-FFF2-40B4-BE49-F238E27FC236}">
                <a16:creationId xmlns:a16="http://schemas.microsoft.com/office/drawing/2014/main" id="{71A4FAC9-E464-4998-958C-F2A7D2CFDE74}"/>
              </a:ext>
            </a:extLst>
          </p:cNvPr>
          <p:cNvSpPr>
            <a:spLocks xmlns:a="http://schemas.openxmlformats.org/drawingml/2006/main" noGrp="1"/>
          </p:cNvSpPr>
          <p:nvPr/>
        </p:nvSpPr>
        <p:spPr>
          <a:xfrm xmlns:a="http://schemas.openxmlformats.org/drawingml/2006/main">
            <a:off x="971550" y="4438650"/>
            <a:ext cx="2238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0">
                <a:solidFill>
                  <a:srgbClr val="1A1A1A"/>
                </a:solidFill>
                <a:latin typeface="Arial"/>
                <a:ea typeface="Arial"/>
                <a:cs typeface="Arial"/>
              </a:defRPr>
            </a:pPr>
            <a:r>
              <a:rPr sz="1275" b="0">
                <a:solidFill>
                  <a:srgbClr val="1A1A1A"/>
                </a:solidFill>
                <a:latin typeface="Arial"/>
                <a:ea typeface="Arial"/>
                <a:cs typeface="Arial"/>
              </a:rPr>
              <a:t>Keyword relevance</a:t>
            </a:r>
          </a:p>
        </p:txBody>
      </p:sp>
      <p:sp>
        <p:nvSpPr>
          <p:cNvPr id="14" name="engine-graph-label">
            <a:extLst xmlns:a="http://schemas.openxmlformats.org/drawingml/2006/main">
              <a:ext uri="{FF2B5EF4-FFF2-40B4-BE49-F238E27FC236}">
                <a16:creationId xmlns:a16="http://schemas.microsoft.com/office/drawing/2014/main" id="{A617D289-3E68-43BA-AC42-35D9405F201E}"/>
              </a:ext>
            </a:extLst>
          </p:cNvPr>
          <p:cNvSpPr>
            <a:spLocks xmlns:a="http://schemas.openxmlformats.org/drawingml/2006/main" noGrp="1"/>
          </p:cNvSpPr>
          <p:nvPr/>
        </p:nvSpPr>
        <p:spPr>
          <a:xfrm xmlns:a="http://schemas.openxmlformats.org/drawingml/2006/main">
            <a:off x="971550" y="5419725"/>
            <a:ext cx="2238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1A1A1A"/>
                </a:solidFill>
                <a:latin typeface="Arial"/>
                <a:ea typeface="Arial"/>
                <a:cs typeface="Arial"/>
              </a:defRPr>
            </a:pPr>
            <a:r>
              <a:rPr sz="1650" b="1">
                <a:solidFill>
                  <a:srgbClr val="1A1A1A"/>
                </a:solidFill>
                <a:latin typeface="Arial"/>
                <a:ea typeface="Arial"/>
                <a:cs typeface="Arial"/>
              </a:rPr>
              <a:t>Citation graph</a:t>
            </a:r>
          </a:p>
        </p:txBody>
      </p:sp>
      <p:sp>
        <p:nvSpPr>
          <p:cNvPr id="15" name="engine-evidence-label">
            <a:extLst xmlns:a="http://schemas.openxmlformats.org/drawingml/2006/main">
              <a:ext uri="{FF2B5EF4-FFF2-40B4-BE49-F238E27FC236}">
                <a16:creationId xmlns:a16="http://schemas.microsoft.com/office/drawing/2014/main" id="{07A8D4E9-C858-4BFF-B7ED-DB7E24E6894F}"/>
              </a:ext>
            </a:extLst>
          </p:cNvPr>
          <p:cNvSpPr>
            <a:spLocks xmlns:a="http://schemas.openxmlformats.org/drawingml/2006/main" noGrp="1"/>
          </p:cNvSpPr>
          <p:nvPr/>
        </p:nvSpPr>
        <p:spPr>
          <a:xfrm xmlns:a="http://schemas.openxmlformats.org/drawingml/2006/main">
            <a:off x="5048250" y="3629025"/>
            <a:ext cx="2476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1">
                <a:solidFill>
                  <a:srgbClr val="FFFFFF"/>
                </a:solidFill>
                <a:latin typeface="Consolas"/>
                <a:ea typeface="Consolas"/>
                <a:cs typeface="Consolas"/>
              </a:defRPr>
            </a:pPr>
            <a:r>
              <a:rPr sz="1725" b="1">
                <a:solidFill>
                  <a:srgbClr val="FFFFFF"/>
                </a:solidFill>
                <a:latin typeface="Consolas"/>
                <a:ea typeface="Consolas"/>
                <a:cs typeface="Consolas"/>
              </a:rPr>
              <a:t>SOURCE-LINKED</a:t>
            </a:r>
          </a:p>
          <a:p xmlns:a="http://schemas.openxmlformats.org/drawingml/2006/main">
            <a:pPr algn="l">
              <a:defRPr sz="1725" b="1">
                <a:solidFill>
                  <a:srgbClr val="FFFFFF"/>
                </a:solidFill>
                <a:latin typeface="Consolas"/>
                <a:ea typeface="Consolas"/>
                <a:cs typeface="Consolas"/>
              </a:defRPr>
            </a:pPr>
            <a:r>
              <a:rPr sz="1725" b="1">
                <a:solidFill>
                  <a:srgbClr val="FFFFFF"/>
                </a:solidFill>
                <a:latin typeface="Consolas"/>
                <a:ea typeface="Consolas"/>
                <a:cs typeface="Consolas"/>
              </a:rPr>
              <a:t>EVIDENCE</a:t>
            </a:r>
          </a:p>
        </p:txBody>
      </p:sp>
      <p:sp>
        <p:nvSpPr>
          <p:cNvPr id="16" name="engine-evidence-sub">
            <a:extLst xmlns:a="http://schemas.openxmlformats.org/drawingml/2006/main">
              <a:ext uri="{FF2B5EF4-FFF2-40B4-BE49-F238E27FC236}">
                <a16:creationId xmlns:a16="http://schemas.microsoft.com/office/drawing/2014/main" id="{244BE2E9-A111-4F06-A27E-152CFE56732C}"/>
              </a:ext>
            </a:extLst>
          </p:cNvPr>
          <p:cNvSpPr>
            <a:spLocks xmlns:a="http://schemas.openxmlformats.org/drawingml/2006/main" noGrp="1"/>
          </p:cNvSpPr>
          <p:nvPr/>
        </p:nvSpPr>
        <p:spPr>
          <a:xfrm xmlns:a="http://schemas.openxmlformats.org/drawingml/2006/main">
            <a:off x="5048250" y="4524375"/>
            <a:ext cx="2476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13 public MCP tools</a:t>
            </a:r>
          </a:p>
        </p:txBody>
      </p:sp>
      <p:sp>
        <p:nvSpPr>
          <p:cNvPr id="17" name="engine-records">
            <a:extLst xmlns:a="http://schemas.openxmlformats.org/drawingml/2006/main">
              <a:ext uri="{FF2B5EF4-FFF2-40B4-BE49-F238E27FC236}">
                <a16:creationId xmlns:a16="http://schemas.microsoft.com/office/drawing/2014/main" id="{132C5C9B-2C90-45C9-BF3B-07E314772079}"/>
              </a:ext>
            </a:extLst>
          </p:cNvPr>
          <p:cNvSpPr>
            <a:spLocks xmlns:a="http://schemas.openxmlformats.org/drawingml/2006/main" noGrp="1"/>
          </p:cNvSpPr>
          <p:nvPr/>
        </p:nvSpPr>
        <p:spPr>
          <a:xfrm xmlns:a="http://schemas.openxmlformats.org/drawingml/2006/main">
            <a:off x="8572500" y="2209800"/>
            <a:ext cx="2743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975" b="1">
                <a:solidFill>
                  <a:srgbClr val="244BEA"/>
                </a:solidFill>
                <a:latin typeface="Arial"/>
                <a:ea typeface="Arial"/>
                <a:cs typeface="Arial"/>
              </a:defRPr>
            </a:pPr>
            <a:r>
              <a:rPr sz="3975" b="1">
                <a:solidFill>
                  <a:srgbClr val="244BEA"/>
                </a:solidFill>
                <a:latin typeface="Arial"/>
                <a:ea typeface="Arial"/>
                <a:cs typeface="Arial"/>
              </a:rPr>
              <a:t>17,365</a:t>
            </a:r>
          </a:p>
        </p:txBody>
      </p:sp>
      <p:sp>
        <p:nvSpPr>
          <p:cNvPr id="18" name="engine-records-label">
            <a:extLst xmlns:a="http://schemas.openxmlformats.org/drawingml/2006/main">
              <a:ext uri="{FF2B5EF4-FFF2-40B4-BE49-F238E27FC236}">
                <a16:creationId xmlns:a16="http://schemas.microsoft.com/office/drawing/2014/main" id="{88A8F66A-39A2-4B6B-87BB-EED5082C0994}"/>
              </a:ext>
            </a:extLst>
          </p:cNvPr>
          <p:cNvSpPr>
            <a:spLocks xmlns:a="http://schemas.openxmlformats.org/drawingml/2006/main" noGrp="1"/>
          </p:cNvSpPr>
          <p:nvPr/>
        </p:nvSpPr>
        <p:spPr>
          <a:xfrm xmlns:a="http://schemas.openxmlformats.org/drawingml/2006/main">
            <a:off x="8601075" y="282892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A1A1A"/>
                </a:solidFill>
                <a:latin typeface="Arial"/>
                <a:ea typeface="Arial"/>
                <a:cs typeface="Arial"/>
              </a:defRPr>
            </a:pPr>
            <a:r>
              <a:rPr sz="1425" b="0">
                <a:solidFill>
                  <a:srgbClr val="1A1A1A"/>
                </a:solidFill>
                <a:latin typeface="Arial"/>
                <a:ea typeface="Arial"/>
                <a:cs typeface="Arial"/>
              </a:rPr>
              <a:t>Web3 research records</a:t>
            </a:r>
          </a:p>
        </p:txBody>
      </p:sp>
      <p:sp>
        <p:nvSpPr>
          <p:cNvPr id="19" name="engine-documents">
            <a:extLst xmlns:a="http://schemas.openxmlformats.org/drawingml/2006/main">
              <a:ext uri="{FF2B5EF4-FFF2-40B4-BE49-F238E27FC236}">
                <a16:creationId xmlns:a16="http://schemas.microsoft.com/office/drawing/2014/main" id="{2CAED84A-63A2-4661-8594-066AA51751FF}"/>
              </a:ext>
            </a:extLst>
          </p:cNvPr>
          <p:cNvSpPr>
            <a:spLocks xmlns:a="http://schemas.openxmlformats.org/drawingml/2006/main" noGrp="1"/>
          </p:cNvSpPr>
          <p:nvPr/>
        </p:nvSpPr>
        <p:spPr>
          <a:xfrm xmlns:a="http://schemas.openxmlformats.org/drawingml/2006/main">
            <a:off x="8572500" y="3543300"/>
            <a:ext cx="300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450" b="1">
                <a:solidFill>
                  <a:srgbClr val="1A1A1A"/>
                </a:solidFill>
                <a:latin typeface="Arial"/>
                <a:ea typeface="Arial"/>
                <a:cs typeface="Arial"/>
              </a:defRPr>
            </a:pPr>
            <a:r>
              <a:rPr sz="3450" b="1">
                <a:solidFill>
                  <a:srgbClr val="1A1A1A"/>
                </a:solidFill>
                <a:latin typeface="Arial"/>
                <a:ea typeface="Arial"/>
                <a:cs typeface="Arial"/>
              </a:rPr>
              <a:t>180,834</a:t>
            </a:r>
          </a:p>
        </p:txBody>
      </p:sp>
      <p:sp>
        <p:nvSpPr>
          <p:cNvPr id="20" name="engine-documents-label">
            <a:extLst xmlns:a="http://schemas.openxmlformats.org/drawingml/2006/main">
              <a:ext uri="{FF2B5EF4-FFF2-40B4-BE49-F238E27FC236}">
                <a16:creationId xmlns:a16="http://schemas.microsoft.com/office/drawing/2014/main" id="{14D94DCD-539B-4D55-B98D-1A27AA2C6847}"/>
              </a:ext>
            </a:extLst>
          </p:cNvPr>
          <p:cNvSpPr>
            <a:spLocks xmlns:a="http://schemas.openxmlformats.org/drawingml/2006/main" noGrp="1"/>
          </p:cNvSpPr>
          <p:nvPr/>
        </p:nvSpPr>
        <p:spPr>
          <a:xfrm xmlns:a="http://schemas.openxmlformats.org/drawingml/2006/main">
            <a:off x="8601075" y="41719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A1A1A"/>
                </a:solidFill>
                <a:latin typeface="Arial"/>
                <a:ea typeface="Arial"/>
                <a:cs typeface="Arial"/>
              </a:defRPr>
            </a:pPr>
            <a:r>
              <a:rPr sz="1425" b="0">
                <a:solidFill>
                  <a:srgbClr val="1A1A1A"/>
                </a:solidFill>
                <a:latin typeface="Arial"/>
                <a:ea typeface="Arial"/>
                <a:cs typeface="Arial"/>
              </a:rPr>
              <a:t>indexed documents</a:t>
            </a:r>
          </a:p>
        </p:txBody>
      </p:sp>
      <p:sp>
        <p:nvSpPr>
          <p:cNvPr id="21" name="engine-scope">
            <a:extLst xmlns:a="http://schemas.openxmlformats.org/drawingml/2006/main">
              <a:ext uri="{FF2B5EF4-FFF2-40B4-BE49-F238E27FC236}">
                <a16:creationId xmlns:a16="http://schemas.microsoft.com/office/drawing/2014/main" id="{66D1E179-0C80-473D-98B0-C0AC62E50016}"/>
              </a:ext>
            </a:extLst>
          </p:cNvPr>
          <p:cNvSpPr>
            <a:spLocks xmlns:a="http://schemas.openxmlformats.org/drawingml/2006/main" noGrp="1"/>
          </p:cNvSpPr>
          <p:nvPr/>
        </p:nvSpPr>
        <p:spPr>
          <a:xfrm xmlns:a="http://schemas.openxmlformats.org/drawingml/2006/main">
            <a:off x="8591550" y="49720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1">
                <a:solidFill>
                  <a:srgbClr val="1A1A1A"/>
                </a:solidFill>
                <a:latin typeface="Arial"/>
                <a:ea typeface="Arial"/>
                <a:cs typeface="Arial"/>
              </a:defRPr>
            </a:pPr>
            <a:r>
              <a:rPr sz="1350" b="1">
                <a:solidFill>
                  <a:srgbClr val="1A1A1A"/>
                </a:solidFill>
                <a:latin typeface="Arial"/>
                <a:ea typeface="Arial"/>
                <a:cs typeface="Arial"/>
              </a:rPr>
              <a:t>Coverage varies by record.</a:t>
            </a:r>
          </a:p>
        </p:txBody>
      </p:sp>
    </p:spTree>
    <p:extLst>
      <p:ext uri="{BB962C8B-B14F-4D97-AF65-F5344CB8AC3E}">
        <p14:creationId xmlns:p14="http://schemas.microsoft.com/office/powerpoint/2010/main" val="1380396563"/>
      </p:ext>
    </p:extLst>
  </p:cSld>
</p:sld>
</file>

<file path=ppt/slides/slide9.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2" name="model-kicker">
            <a:extLst xmlns:a="http://schemas.openxmlformats.org/drawingml/2006/main">
              <a:ext uri="{FF2B5EF4-FFF2-40B4-BE49-F238E27FC236}">
                <a16:creationId xmlns:a16="http://schemas.microsoft.com/office/drawing/2014/main" id="{CAF70D9D-BA02-4447-809D-6415E69A8E6E}"/>
              </a:ext>
            </a:extLst>
          </p:cNvPr>
          <p:cNvSpPr>
            <a:spLocks xmlns:a="http://schemas.openxmlformats.org/drawingml/2006/main" noGrp="1"/>
          </p:cNvSpPr>
          <p:nvPr/>
        </p:nvSpPr>
        <p:spPr>
          <a:xfrm xmlns:a="http://schemas.openxmlformats.org/drawingml/2006/main">
            <a:off x="742950" y="457200"/>
            <a:ext cx="476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ACCESS + BUSINESS MODEL</a:t>
            </a:r>
          </a:p>
        </p:txBody>
      </p:sp>
      <p:sp>
        <p:nvSpPr>
          <p:cNvPr id="2" name="model-title">
            <a:extLst xmlns:a="http://schemas.openxmlformats.org/drawingml/2006/main">
              <a:ext uri="{FF2B5EF4-FFF2-40B4-BE49-F238E27FC236}">
                <a16:creationId xmlns:a16="http://schemas.microsoft.com/office/drawing/2014/main" id="{799ECC10-F7DC-48F2-87DD-1D06A1F5353C}"/>
              </a:ext>
            </a:extLst>
          </p:cNvPr>
          <p:cNvSpPr>
            <a:spLocks xmlns:a="http://schemas.openxmlformats.org/drawingml/2006/main" noGrp="1"/>
          </p:cNvSpPr>
          <p:nvPr/>
        </p:nvSpPr>
        <p:spPr>
          <a:xfrm xmlns:a="http://schemas.openxmlformats.org/drawingml/2006/main">
            <a:off x="723900" y="885825"/>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00" b="1">
                <a:solidFill>
                  <a:srgbClr val="1A1A1A"/>
                </a:solidFill>
                <a:latin typeface="Arial"/>
                <a:ea typeface="Arial"/>
                <a:cs typeface="Arial"/>
              </a:defRPr>
            </a:pPr>
            <a:r>
              <a:rPr sz="3600" b="1">
                <a:solidFill>
                  <a:srgbClr val="1A1A1A"/>
                </a:solidFill>
                <a:latin typeface="Arial"/>
                <a:ea typeface="Arial"/>
                <a:cs typeface="Arial"/>
              </a:rPr>
              <a:t>Free today. Paid depth is next.</a:t>
            </a:r>
          </a:p>
        </p:txBody>
      </p:sp>
      <p:sp>
        <p:nvSpPr>
          <p:cNvPr id="3" name="model-live-field">
            <a:extLst xmlns:a="http://schemas.openxmlformats.org/drawingml/2006/main">
              <a:ext uri="{FF2B5EF4-FFF2-40B4-BE49-F238E27FC236}">
                <a16:creationId xmlns:a16="http://schemas.microsoft.com/office/drawing/2014/main" id="{8FE93018-7BF2-4C14-8423-1D0AF8A31B76}"/>
              </a:ext>
            </a:extLst>
          </p:cNvPr>
          <p:cNvSpPr>
            <a:spLocks xmlns:a="http://schemas.openxmlformats.org/drawingml/2006/main" noGrp="1"/>
          </p:cNvSpPr>
          <p:nvPr/>
        </p:nvSpPr>
        <p:spPr>
          <a:xfrm xmlns:a="http://schemas.openxmlformats.org/drawingml/2006/main">
            <a:off x="762000" y="2276475"/>
            <a:ext cx="4762500" cy="245745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4" name="model-next-field">
            <a:extLst xmlns:a="http://schemas.openxmlformats.org/drawingml/2006/main">
              <a:ext uri="{FF2B5EF4-FFF2-40B4-BE49-F238E27FC236}">
                <a16:creationId xmlns:a16="http://schemas.microsoft.com/office/drawing/2014/main" id="{8D00B1A9-F836-4B30-9E28-823F14AC6D56}"/>
              </a:ext>
            </a:extLst>
          </p:cNvPr>
          <p:cNvSpPr>
            <a:spLocks xmlns:a="http://schemas.openxmlformats.org/drawingml/2006/main" noGrp="1"/>
          </p:cNvSpPr>
          <p:nvPr/>
        </p:nvSpPr>
        <p:spPr>
          <a:xfrm xmlns:a="http://schemas.openxmlformats.org/drawingml/2006/main">
            <a:off x="6667500" y="2276475"/>
            <a:ext cx="4762500" cy="2457450"/>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5" name="model-live-label">
            <a:extLst xmlns:a="http://schemas.openxmlformats.org/drawingml/2006/main">
              <a:ext uri="{FF2B5EF4-FFF2-40B4-BE49-F238E27FC236}">
                <a16:creationId xmlns:a16="http://schemas.microsoft.com/office/drawing/2014/main" id="{640ADA44-B76D-499D-B46A-460EC2E45ECC}"/>
              </a:ext>
            </a:extLst>
          </p:cNvPr>
          <p:cNvSpPr>
            <a:spLocks xmlns:a="http://schemas.openxmlformats.org/drawingml/2006/main" noGrp="1"/>
          </p:cNvSpPr>
          <p:nvPr/>
        </p:nvSpPr>
        <p:spPr>
          <a:xfrm xmlns:a="http://schemas.openxmlformats.org/drawingml/2006/main">
            <a:off x="1057275" y="2571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FFFFFF"/>
                </a:solidFill>
                <a:latin typeface="Consolas"/>
                <a:ea typeface="Consolas"/>
                <a:cs typeface="Consolas"/>
              </a:defRPr>
            </a:pPr>
            <a:r>
              <a:rPr sz="1275" b="1">
                <a:solidFill>
                  <a:srgbClr val="FFFFFF"/>
                </a:solidFill>
                <a:latin typeface="Consolas"/>
                <a:ea typeface="Consolas"/>
                <a:cs typeface="Consolas"/>
              </a:rPr>
              <a:t>LIVE</a:t>
            </a:r>
          </a:p>
        </p:txBody>
      </p:sp>
      <p:sp>
        <p:nvSpPr>
          <p:cNvPr id="6" name="model-live">
            <a:extLst xmlns:a="http://schemas.openxmlformats.org/drawingml/2006/main">
              <a:ext uri="{FF2B5EF4-FFF2-40B4-BE49-F238E27FC236}">
                <a16:creationId xmlns:a16="http://schemas.microsoft.com/office/drawing/2014/main" id="{68C6A0CD-F3AE-4AC3-B29F-9045B6479AEC}"/>
              </a:ext>
            </a:extLst>
          </p:cNvPr>
          <p:cNvSpPr>
            <a:spLocks xmlns:a="http://schemas.openxmlformats.org/drawingml/2006/main" noGrp="1"/>
          </p:cNvSpPr>
          <p:nvPr/>
        </p:nvSpPr>
        <p:spPr>
          <a:xfrm xmlns:a="http://schemas.openxmlformats.org/drawingml/2006/main">
            <a:off x="1028700" y="3038475"/>
            <a:ext cx="38862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700" b="1">
                <a:solidFill>
                  <a:srgbClr val="FFFFFF"/>
                </a:solidFill>
                <a:latin typeface="Arial"/>
                <a:ea typeface="Arial"/>
                <a:cs typeface="Arial"/>
              </a:defRPr>
            </a:pPr>
            <a:r>
              <a:rPr sz="2700" b="1">
                <a:solidFill>
                  <a:srgbClr val="FFFFFF"/>
                </a:solidFill>
                <a:latin typeface="Arial"/>
                <a:ea typeface="Arial"/>
                <a:cs typeface="Arial"/>
              </a:rPr>
              <a:t>Free public research access</a:t>
            </a:r>
          </a:p>
        </p:txBody>
      </p:sp>
      <p:sp>
        <p:nvSpPr>
          <p:cNvPr id="7" name="model-live-sub">
            <a:extLst xmlns:a="http://schemas.openxmlformats.org/drawingml/2006/main">
              <a:ext uri="{FF2B5EF4-FFF2-40B4-BE49-F238E27FC236}">
                <a16:creationId xmlns:a16="http://schemas.microsoft.com/office/drawing/2014/main" id="{27CA16BA-924C-477E-A445-B2C274CD4F22}"/>
              </a:ext>
            </a:extLst>
          </p:cNvPr>
          <p:cNvSpPr>
            <a:spLocks xmlns:a="http://schemas.openxmlformats.org/drawingml/2006/main" noGrp="1"/>
          </p:cNvSpPr>
          <p:nvPr/>
        </p:nvSpPr>
        <p:spPr>
          <a:xfrm xmlns:a="http://schemas.openxmlformats.org/drawingml/2006/main">
            <a:off x="1057275" y="4038600"/>
            <a:ext cx="38576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The public read endpoint works without a wallet.</a:t>
            </a:r>
          </a:p>
        </p:txBody>
      </p:sp>
      <p:sp>
        <p:nvSpPr>
          <p:cNvPr id="8" name="model-next-label">
            <a:extLst xmlns:a="http://schemas.openxmlformats.org/drawingml/2006/main">
              <a:ext uri="{FF2B5EF4-FFF2-40B4-BE49-F238E27FC236}">
                <a16:creationId xmlns:a16="http://schemas.microsoft.com/office/drawing/2014/main" id="{C3969F8C-C176-480A-B67A-0E33DEB2A434}"/>
              </a:ext>
            </a:extLst>
          </p:cNvPr>
          <p:cNvSpPr>
            <a:spLocks xmlns:a="http://schemas.openxmlformats.org/drawingml/2006/main" noGrp="1"/>
          </p:cNvSpPr>
          <p:nvPr/>
        </p:nvSpPr>
        <p:spPr>
          <a:xfrm xmlns:a="http://schemas.openxmlformats.org/drawingml/2006/main">
            <a:off x="6962775" y="257175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PROPOSED</a:t>
            </a:r>
          </a:p>
        </p:txBody>
      </p:sp>
      <p:sp>
        <p:nvSpPr>
          <p:cNvPr id="9" name="model-next">
            <a:extLst xmlns:a="http://schemas.openxmlformats.org/drawingml/2006/main">
              <a:ext uri="{FF2B5EF4-FFF2-40B4-BE49-F238E27FC236}">
                <a16:creationId xmlns:a16="http://schemas.microsoft.com/office/drawing/2014/main" id="{28052F96-D1CC-4DC5-B6B0-EB3A799E3ABA}"/>
              </a:ext>
            </a:extLst>
          </p:cNvPr>
          <p:cNvSpPr>
            <a:spLocks xmlns:a="http://schemas.openxmlformats.org/drawingml/2006/main" noGrp="1"/>
          </p:cNvSpPr>
          <p:nvPr/>
        </p:nvSpPr>
        <p:spPr>
          <a:xfrm xmlns:a="http://schemas.openxmlformats.org/drawingml/2006/main">
            <a:off x="6934200" y="3038475"/>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550" b="1">
                <a:solidFill>
                  <a:srgbClr val="1A1A1A"/>
                </a:solidFill>
                <a:latin typeface="Arial"/>
                <a:ea typeface="Arial"/>
                <a:cs typeface="Arial"/>
              </a:defRPr>
            </a:pPr>
            <a:r>
              <a:rPr sz="2550" b="1">
                <a:solidFill>
                  <a:srgbClr val="1A1A1A"/>
                </a:solidFill>
                <a:latin typeface="Arial"/>
                <a:ea typeface="Arial"/>
                <a:cs typeface="Arial"/>
              </a:rPr>
              <a:t>Usage-based access for intensive research</a:t>
            </a:r>
          </a:p>
        </p:txBody>
      </p:sp>
      <p:sp>
        <p:nvSpPr>
          <p:cNvPr id="10" name="model-next-sub">
            <a:extLst xmlns:a="http://schemas.openxmlformats.org/drawingml/2006/main">
              <a:ext uri="{FF2B5EF4-FFF2-40B4-BE49-F238E27FC236}">
                <a16:creationId xmlns:a16="http://schemas.microsoft.com/office/drawing/2014/main" id="{53471816-A816-477D-9E9A-C5CAD80777BA}"/>
              </a:ext>
            </a:extLst>
          </p:cNvPr>
          <p:cNvSpPr>
            <a:spLocks xmlns:a="http://schemas.openxmlformats.org/drawingml/2006/main" noGrp="1"/>
          </p:cNvSpPr>
          <p:nvPr/>
        </p:nvSpPr>
        <p:spPr>
          <a:xfrm xmlns:a="http://schemas.openxmlformats.org/drawingml/2006/main">
            <a:off x="6962775" y="4038600"/>
            <a:ext cx="3905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1A1A1A"/>
                </a:solidFill>
                <a:latin typeface="Arial"/>
                <a:ea typeface="Arial"/>
                <a:cs typeface="Arial"/>
              </a:defRPr>
            </a:pPr>
            <a:r>
              <a:rPr sz="1425" b="0">
                <a:solidFill>
                  <a:srgbClr val="1A1A1A"/>
                </a:solidFill>
                <a:latin typeface="Arial"/>
                <a:ea typeface="Arial"/>
                <a:cs typeface="Arial"/>
              </a:rPr>
              <a:t>Pilot willingness to pay before setting prices.</a:t>
            </a:r>
          </a:p>
        </p:txBody>
      </p:sp>
      <p:sp>
        <p:nvSpPr>
          <p:cNvPr id="11" name="model-validation">
            <a:extLst xmlns:a="http://schemas.openxmlformats.org/drawingml/2006/main">
              <a:ext uri="{FF2B5EF4-FFF2-40B4-BE49-F238E27FC236}">
                <a16:creationId xmlns:a16="http://schemas.microsoft.com/office/drawing/2014/main" id="{74A0A366-6649-4E45-9F75-0D7A19061AF7}"/>
              </a:ext>
            </a:extLst>
          </p:cNvPr>
          <p:cNvSpPr>
            <a:spLocks xmlns:a="http://schemas.openxmlformats.org/drawingml/2006/main" noGrp="1"/>
          </p:cNvSpPr>
          <p:nvPr/>
        </p:nvSpPr>
        <p:spPr>
          <a:xfrm xmlns:a="http://schemas.openxmlformats.org/drawingml/2006/main">
            <a:off x="781050" y="5410200"/>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A1A1A"/>
                </a:solidFill>
                <a:latin typeface="Arial"/>
                <a:ea typeface="Arial"/>
                <a:cs typeface="Arial"/>
              </a:defRPr>
            </a:pPr>
            <a:r>
              <a:rPr sz="2175" b="1">
                <a:solidFill>
                  <a:srgbClr val="1A1A1A"/>
                </a:solidFill>
                <a:latin typeface="Arial"/>
                <a:ea typeface="Arial"/>
                <a:cs typeface="Arial"/>
              </a:rPr>
              <a:t>First test: does deeper research earn repeat use?</a:t>
            </a:r>
          </a:p>
        </p:txBody>
      </p:sp>
    </p:spTree>
    <p:extLst>
      <p:ext uri="{BB962C8B-B14F-4D97-AF65-F5344CB8AC3E}">
        <p14:creationId xmlns:p14="http://schemas.microsoft.com/office/powerpoint/2010/main" val="1065287449"/>
      </p:ext>
    </p:extLst>
  </p:cSld>
</p:sld>
</file>

<file path=ppt/slides/slide10.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5" name="distribution-kicker">
            <a:extLst xmlns:a="http://schemas.openxmlformats.org/drawingml/2006/main">
              <a:ext uri="{FF2B5EF4-FFF2-40B4-BE49-F238E27FC236}">
                <a16:creationId xmlns:a16="http://schemas.microsoft.com/office/drawing/2014/main" id="{3887BF10-84C6-4015-A3E0-1849221142AE}"/>
              </a:ext>
            </a:extLst>
          </p:cNvPr>
          <p:cNvSpPr>
            <a:spLocks xmlns:a="http://schemas.openxmlformats.org/drawingml/2006/main" noGrp="1"/>
          </p:cNvSpPr>
          <p:nvPr/>
        </p:nvSpPr>
        <p:spPr>
          <a:xfrm xmlns:a="http://schemas.openxmlformats.org/drawingml/2006/main">
            <a:off x="742950" y="476250"/>
            <a:ext cx="4000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DISTRIBUTION PLAN</a:t>
            </a:r>
          </a:p>
        </p:txBody>
      </p:sp>
      <p:sp>
        <p:nvSpPr>
          <p:cNvPr id="2" name="distribution-title">
            <a:extLst xmlns:a="http://schemas.openxmlformats.org/drawingml/2006/main">
              <a:ext uri="{FF2B5EF4-FFF2-40B4-BE49-F238E27FC236}">
                <a16:creationId xmlns:a16="http://schemas.microsoft.com/office/drawing/2014/main" id="{5A2EB3DA-71F5-4E53-880E-196ABEDFD060}"/>
              </a:ext>
            </a:extLst>
          </p:cNvPr>
          <p:cNvSpPr>
            <a:spLocks xmlns:a="http://schemas.openxmlformats.org/drawingml/2006/main" noGrp="1"/>
          </p:cNvSpPr>
          <p:nvPr/>
        </p:nvSpPr>
        <p:spPr>
          <a:xfrm xmlns:a="http://schemas.openxmlformats.org/drawingml/2006/main">
            <a:off x="723900" y="9525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75" b="1">
                <a:solidFill>
                  <a:srgbClr val="1A1A1A"/>
                </a:solidFill>
                <a:latin typeface="Arial"/>
                <a:ea typeface="Arial"/>
                <a:cs typeface="Arial"/>
              </a:defRPr>
            </a:pPr>
            <a:r>
              <a:rPr sz="3675" b="1">
                <a:solidFill>
                  <a:srgbClr val="1A1A1A"/>
                </a:solidFill>
                <a:latin typeface="Arial"/>
                <a:ea typeface="Arial"/>
                <a:cs typeface="Arial"/>
              </a:rPr>
              <a:t>Meet builders inside their agents</a:t>
            </a:r>
          </a:p>
        </p:txBody>
      </p:sp>
      <p:sp>
        <p:nvSpPr>
          <p:cNvPr id="3" name="distribution-integration">
            <a:extLst xmlns:a="http://schemas.openxmlformats.org/drawingml/2006/main">
              <a:ext uri="{FF2B5EF4-FFF2-40B4-BE49-F238E27FC236}">
                <a16:creationId xmlns:a16="http://schemas.microsoft.com/office/drawing/2014/main" id="{FB71CD43-374A-4D82-AE32-CA35378B1931}"/>
              </a:ext>
            </a:extLst>
          </p:cNvPr>
          <p:cNvSpPr>
            <a:spLocks xmlns:a="http://schemas.openxmlformats.org/drawingml/2006/main" noGrp="1"/>
          </p:cNvSpPr>
          <p:nvPr/>
        </p:nvSpPr>
        <p:spPr>
          <a:xfrm xmlns:a="http://schemas.openxmlformats.org/drawingml/2006/main">
            <a:off x="781050" y="2743200"/>
            <a:ext cx="2724150" cy="1381125"/>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4" name="distribution-pilot">
            <a:extLst xmlns:a="http://schemas.openxmlformats.org/drawingml/2006/main">
              <a:ext uri="{FF2B5EF4-FFF2-40B4-BE49-F238E27FC236}">
                <a16:creationId xmlns:a16="http://schemas.microsoft.com/office/drawing/2014/main" id="{7EEF49EB-E8B8-47F4-A78C-A12EDFB125ED}"/>
              </a:ext>
            </a:extLst>
          </p:cNvPr>
          <p:cNvSpPr>
            <a:spLocks xmlns:a="http://schemas.openxmlformats.org/drawingml/2006/main" noGrp="1"/>
          </p:cNvSpPr>
          <p:nvPr/>
        </p:nvSpPr>
        <p:spPr>
          <a:xfrm xmlns:a="http://schemas.openxmlformats.org/drawingml/2006/main">
            <a:off x="4733925" y="2743200"/>
            <a:ext cx="2724150" cy="1381125"/>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5" name="distribution-repeat">
            <a:extLst xmlns:a="http://schemas.openxmlformats.org/drawingml/2006/main">
              <a:ext uri="{FF2B5EF4-FFF2-40B4-BE49-F238E27FC236}">
                <a16:creationId xmlns:a16="http://schemas.microsoft.com/office/drawing/2014/main" id="{781C61EB-A786-4315-A08B-3A791A0E2590}"/>
              </a:ext>
            </a:extLst>
          </p:cNvPr>
          <p:cNvSpPr>
            <a:spLocks xmlns:a="http://schemas.openxmlformats.org/drawingml/2006/main" noGrp="1"/>
          </p:cNvSpPr>
          <p:nvPr/>
        </p:nvSpPr>
        <p:spPr>
          <a:xfrm xmlns:a="http://schemas.openxmlformats.org/drawingml/2006/main">
            <a:off x="8686800" y="2743200"/>
            <a:ext cx="2724150" cy="1381125"/>
          </a:xfrm>
          <a:prstGeom xmlns:a="http://schemas.openxmlformats.org/drawingml/2006/main" prst="rect">
            <a:avLst/>
          </a:prstGeom>
          <a:solidFill xmlns:a="http://schemas.openxmlformats.org/drawingml/2006/main">
            <a:srgbClr val="1A1A1A"/>
          </a:solidFill>
          <a:ln xmlns:a="http://schemas.openxmlformats.org/drawingml/2006/main" w="0">
            <a:noFill/>
          </a:ln>
        </p:spPr>
      </p:sp>
      <p:cxnSp>
        <p:nvCxnSpPr>
          <p:cNvPr id="20" name=""/>
          <p:cNvCxnSpPr>
            <a:stCxn xmlns:a="http://schemas.openxmlformats.org/drawingml/2006/main" id="3" idx="3"/>
            <a:endCxn xmlns:a="http://schemas.openxmlformats.org/drawingml/2006/main" id="4" idx="1"/>
          </p:cNvCxnSpPr>
          <p:nvPr/>
        </p:nvCxnSpPr>
        <p:spPr>
          <a:xfrm xmlns:a="http://schemas.openxmlformats.org/drawingml/2006/main">
            <a:off x="3505200" y="3433763"/>
            <a:ext cx="1228725" cy="0"/>
          </a:xfrm>
          <a:prstGeom xmlns:a="http://schemas.openxmlformats.org/drawingml/2006/main" prst="straightConnector1">
            <a:avLst/>
          </a:prstGeom>
          <a:ln xmlns:a="http://schemas.openxmlformats.org/drawingml/2006/main" w="28575">
            <a:solidFill>
              <a:srgbClr val="244BEA"/>
            </a:solidFill>
            <a:prstDash val="solid"/>
            <a:tailEnd type="arrow" w="med" len="med"/>
          </a:ln>
        </p:spPr>
      </p:cxnSp>
      <p:cxnSp>
        <p:nvCxnSpPr>
          <p:cNvPr id="21" name=""/>
          <p:cNvCxnSpPr>
            <a:stCxn xmlns:a="http://schemas.openxmlformats.org/drawingml/2006/main" id="4" idx="3"/>
            <a:endCxn xmlns:a="http://schemas.openxmlformats.org/drawingml/2006/main" id="5" idx="1"/>
          </p:cNvCxnSpPr>
          <p:nvPr/>
        </p:nvCxnSpPr>
        <p:spPr>
          <a:xfrm xmlns:a="http://schemas.openxmlformats.org/drawingml/2006/main">
            <a:off x="7458075" y="3433763"/>
            <a:ext cx="1228725" cy="0"/>
          </a:xfrm>
          <a:prstGeom xmlns:a="http://schemas.openxmlformats.org/drawingml/2006/main" prst="straightConnector1">
            <a:avLst/>
          </a:prstGeom>
          <a:ln xmlns:a="http://schemas.openxmlformats.org/drawingml/2006/main" w="28575">
            <a:solidFill>
              <a:srgbClr val="244BEA"/>
            </a:solidFill>
            <a:prstDash val="solid"/>
            <a:tailEnd type="arrow" w="med" len="med"/>
          </a:ln>
        </p:spPr>
      </p:cxnSp>
      <p:sp>
        <p:nvSpPr>
          <p:cNvPr id="8" name="distribution-integration-label">
            <a:extLst xmlns:a="http://schemas.openxmlformats.org/drawingml/2006/main">
              <a:ext uri="{FF2B5EF4-FFF2-40B4-BE49-F238E27FC236}">
                <a16:creationId xmlns:a16="http://schemas.microsoft.com/office/drawing/2014/main" id="{A7A776B1-C630-4206-BCC9-286CD06D1789}"/>
              </a:ext>
            </a:extLst>
          </p:cNvPr>
          <p:cNvSpPr>
            <a:spLocks xmlns:a="http://schemas.openxmlformats.org/drawingml/2006/main" noGrp="1"/>
          </p:cNvSpPr>
          <p:nvPr/>
        </p:nvSpPr>
        <p:spPr>
          <a:xfrm xmlns:a="http://schemas.openxmlformats.org/drawingml/2006/main">
            <a:off x="981075" y="3000375"/>
            <a:ext cx="2314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1A1A1A"/>
                </a:solidFill>
                <a:latin typeface="Arial"/>
                <a:ea typeface="Arial"/>
                <a:cs typeface="Arial"/>
              </a:defRPr>
            </a:pPr>
            <a:r>
              <a:rPr sz="1800" b="1">
                <a:solidFill>
                  <a:srgbClr val="1A1A1A"/>
                </a:solidFill>
                <a:latin typeface="Arial"/>
                <a:ea typeface="Arial"/>
                <a:cs typeface="Arial"/>
              </a:rPr>
              <a:t>MCP integration</a:t>
            </a:r>
          </a:p>
        </p:txBody>
      </p:sp>
      <p:sp>
        <p:nvSpPr>
          <p:cNvPr id="9" name="distribution-integration-sub">
            <a:extLst xmlns:a="http://schemas.openxmlformats.org/drawingml/2006/main">
              <a:ext uri="{FF2B5EF4-FFF2-40B4-BE49-F238E27FC236}">
                <a16:creationId xmlns:a16="http://schemas.microsoft.com/office/drawing/2014/main" id="{3E9D98CB-738A-4F81-9D2C-5E187D73BBF9}"/>
              </a:ext>
            </a:extLst>
          </p:cNvPr>
          <p:cNvSpPr>
            <a:spLocks xmlns:a="http://schemas.openxmlformats.org/drawingml/2006/main" noGrp="1"/>
          </p:cNvSpPr>
          <p:nvPr/>
        </p:nvSpPr>
        <p:spPr>
          <a:xfrm xmlns:a="http://schemas.openxmlformats.org/drawingml/2006/main">
            <a:off x="981075" y="346710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1A1A1A"/>
                </a:solidFill>
                <a:latin typeface="Arial"/>
                <a:ea typeface="Arial"/>
                <a:cs typeface="Arial"/>
              </a:defRPr>
            </a:pPr>
            <a:r>
              <a:rPr sz="1350" b="0">
                <a:solidFill>
                  <a:srgbClr val="1A1A1A"/>
                </a:solidFill>
                <a:latin typeface="Arial"/>
                <a:ea typeface="Arial"/>
                <a:cs typeface="Arial"/>
              </a:rPr>
              <a:t>Codex, Claude, compatible clients</a:t>
            </a:r>
          </a:p>
        </p:txBody>
      </p:sp>
      <p:sp>
        <p:nvSpPr>
          <p:cNvPr id="10" name="distribution-pilot-label">
            <a:extLst xmlns:a="http://schemas.openxmlformats.org/drawingml/2006/main">
              <a:ext uri="{FF2B5EF4-FFF2-40B4-BE49-F238E27FC236}">
                <a16:creationId xmlns:a16="http://schemas.microsoft.com/office/drawing/2014/main" id="{623AA92F-C2A4-4C7C-854F-FA869E662F4E}"/>
              </a:ext>
            </a:extLst>
          </p:cNvPr>
          <p:cNvSpPr>
            <a:spLocks xmlns:a="http://schemas.openxmlformats.org/drawingml/2006/main" noGrp="1"/>
          </p:cNvSpPr>
          <p:nvPr/>
        </p:nvSpPr>
        <p:spPr>
          <a:xfrm xmlns:a="http://schemas.openxmlformats.org/drawingml/2006/main">
            <a:off x="4953000" y="3000375"/>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Pilot team</a:t>
            </a:r>
          </a:p>
        </p:txBody>
      </p:sp>
      <p:sp>
        <p:nvSpPr>
          <p:cNvPr id="11" name="distribution-pilot-sub">
            <a:extLst xmlns:a="http://schemas.openxmlformats.org/drawingml/2006/main">
              <a:ext uri="{FF2B5EF4-FFF2-40B4-BE49-F238E27FC236}">
                <a16:creationId xmlns:a16="http://schemas.microsoft.com/office/drawing/2014/main" id="{ED8E1F24-AAA7-469A-B492-C6BFBC32AA3E}"/>
              </a:ext>
            </a:extLst>
          </p:cNvPr>
          <p:cNvSpPr>
            <a:spLocks xmlns:a="http://schemas.openxmlformats.org/drawingml/2006/main" noGrp="1"/>
          </p:cNvSpPr>
          <p:nvPr/>
        </p:nvSpPr>
        <p:spPr>
          <a:xfrm xmlns:a="http://schemas.openxmlformats.org/drawingml/2006/main">
            <a:off x="4953000" y="3467100"/>
            <a:ext cx="228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Bring a real protocol question</a:t>
            </a:r>
          </a:p>
        </p:txBody>
      </p:sp>
      <p:sp>
        <p:nvSpPr>
          <p:cNvPr id="12" name="distribution-repeat-label">
            <a:extLst xmlns:a="http://schemas.openxmlformats.org/drawingml/2006/main">
              <a:ext uri="{FF2B5EF4-FFF2-40B4-BE49-F238E27FC236}">
                <a16:creationId xmlns:a16="http://schemas.microsoft.com/office/drawing/2014/main" id="{A3B00EB7-B7B7-47D1-8CD1-7CBFDC7A92E1}"/>
              </a:ext>
            </a:extLst>
          </p:cNvPr>
          <p:cNvSpPr>
            <a:spLocks xmlns:a="http://schemas.openxmlformats.org/drawingml/2006/main" noGrp="1"/>
          </p:cNvSpPr>
          <p:nvPr/>
        </p:nvSpPr>
        <p:spPr>
          <a:xfrm xmlns:a="http://schemas.openxmlformats.org/drawingml/2006/main">
            <a:off x="8905875" y="3000375"/>
            <a:ext cx="2305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Repeat research</a:t>
            </a:r>
          </a:p>
        </p:txBody>
      </p:sp>
      <p:sp>
        <p:nvSpPr>
          <p:cNvPr id="13" name="distribution-repeat-sub">
            <a:extLst xmlns:a="http://schemas.openxmlformats.org/drawingml/2006/main">
              <a:ext uri="{FF2B5EF4-FFF2-40B4-BE49-F238E27FC236}">
                <a16:creationId xmlns:a16="http://schemas.microsoft.com/office/drawing/2014/main" id="{7B446075-F3E5-40D4-8A79-15FDE3BE2070}"/>
              </a:ext>
            </a:extLst>
          </p:cNvPr>
          <p:cNvSpPr>
            <a:spLocks xmlns:a="http://schemas.openxmlformats.org/drawingml/2006/main" noGrp="1"/>
          </p:cNvSpPr>
          <p:nvPr/>
        </p:nvSpPr>
        <p:spPr>
          <a:xfrm xmlns:a="http://schemas.openxmlformats.org/drawingml/2006/main">
            <a:off x="8905875" y="3467100"/>
            <a:ext cx="2305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Measure source usefulness</a:t>
            </a:r>
          </a:p>
        </p:txBody>
      </p:sp>
      <p:sp>
        <p:nvSpPr>
          <p:cNvPr id="14" name="distribution-proposed">
            <a:extLst xmlns:a="http://schemas.openxmlformats.org/drawingml/2006/main">
              <a:ext uri="{FF2B5EF4-FFF2-40B4-BE49-F238E27FC236}">
                <a16:creationId xmlns:a16="http://schemas.microsoft.com/office/drawing/2014/main" id="{55DD9162-C6E7-4BC4-A2D2-2DA9E829312A}"/>
              </a:ext>
            </a:extLst>
          </p:cNvPr>
          <p:cNvSpPr>
            <a:spLocks xmlns:a="http://schemas.openxmlformats.org/drawingml/2006/main" noGrp="1"/>
          </p:cNvSpPr>
          <p:nvPr/>
        </p:nvSpPr>
        <p:spPr>
          <a:xfrm xmlns:a="http://schemas.openxmlformats.org/drawingml/2006/main">
            <a:off x="790575" y="5086350"/>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1">
                <a:solidFill>
                  <a:srgbClr val="1A1A1A"/>
                </a:solidFill>
                <a:latin typeface="Arial"/>
                <a:ea typeface="Arial"/>
                <a:cs typeface="Arial"/>
              </a:defRPr>
            </a:pPr>
            <a:r>
              <a:rPr sz="1950" b="1">
                <a:solidFill>
                  <a:srgbClr val="1A1A1A"/>
                </a:solidFill>
                <a:latin typeface="Arial"/>
                <a:ea typeface="Arial"/>
                <a:cs typeface="Arial"/>
              </a:rPr>
              <a:t>Pilot target: useful sources and repeat use.</a:t>
            </a:r>
          </a:p>
        </p:txBody>
      </p:sp>
    </p:spTree>
    <p:extLst>
      <p:ext uri="{BB962C8B-B14F-4D97-AF65-F5344CB8AC3E}">
        <p14:creationId xmlns:p14="http://schemas.microsoft.com/office/powerpoint/2010/main" val="2003521075"/>
      </p:ext>
    </p:extLst>
  </p:cSld>
</p:sld>
</file>

<file path=ppt/slides/slide11.xml><?xml version="1.0" encoding="utf-8"?>
<p:sld xmlns:p="http://schemas.openxmlformats.org/presentationml/2006/main">
  <p:cSld>
    <p:bg>
      <p:bgPr>
        <a:solidFill xmlns:a="http://schemas.openxmlformats.org/drawingml/2006/main">
          <a:srgbClr val="1A1A1A"/>
        </a:solidFill>
      </p:bgPr>
    </p:bg>
    <p:spTree>
      <p:nvGrpSpPr>
        <p:cNvPr id="1" name=""/>
        <p:cNvGrpSpPr/>
        <p:nvPr/>
      </p:nvGrpSpPr>
      <p:grpSpPr>
        <a:xfrm xmlns:a="http://schemas.openxmlformats.org/drawingml/2006/main"/>
      </p:grpSpPr>
      <p:sp>
        <p:nvSpPr>
          <p:cNvPr id="25" name="chain-kicker">
            <a:extLst xmlns:a="http://schemas.openxmlformats.org/drawingml/2006/main">
              <a:ext uri="{FF2B5EF4-FFF2-40B4-BE49-F238E27FC236}">
                <a16:creationId xmlns:a16="http://schemas.microsoft.com/office/drawing/2014/main" id="{A8A15894-A572-4159-9E8C-0CFB15B9C3C8}"/>
              </a:ext>
            </a:extLst>
          </p:cNvPr>
          <p:cNvSpPr>
            <a:spLocks xmlns:a="http://schemas.openxmlformats.org/drawingml/2006/main" noGrp="1"/>
          </p:cNvSpPr>
          <p:nvPr/>
        </p:nvSpPr>
        <p:spPr>
          <a:xfrm xmlns:a="http://schemas.openxmlformats.org/drawingml/2006/main">
            <a:off x="742950" y="4572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B9C7FF"/>
                </a:solidFill>
                <a:latin typeface="Consolas"/>
                <a:ea typeface="Consolas"/>
                <a:cs typeface="Consolas"/>
              </a:defRPr>
            </a:pPr>
            <a:r>
              <a:rPr sz="1275" b="1">
                <a:solidFill>
                  <a:srgbClr val="B9C7FF"/>
                </a:solidFill>
                <a:latin typeface="Consolas"/>
                <a:ea typeface="Consolas"/>
                <a:cs typeface="Consolas"/>
              </a:rPr>
              <a:t>OPTIONAL CHAIN FEATURES</a:t>
            </a:r>
          </a:p>
        </p:txBody>
      </p:sp>
      <p:sp>
        <p:nvSpPr>
          <p:cNvPr id="2" name="chain-title">
            <a:extLst xmlns:a="http://schemas.openxmlformats.org/drawingml/2006/main">
              <a:ext uri="{FF2B5EF4-FFF2-40B4-BE49-F238E27FC236}">
                <a16:creationId xmlns:a16="http://schemas.microsoft.com/office/drawing/2014/main" id="{DF311E23-5892-45DA-AE7C-9E4B7350632B}"/>
              </a:ext>
            </a:extLst>
          </p:cNvPr>
          <p:cNvSpPr>
            <a:spLocks xmlns:a="http://schemas.openxmlformats.org/drawingml/2006/main" noGrp="1"/>
          </p:cNvSpPr>
          <p:nvPr/>
        </p:nvSpPr>
        <p:spPr>
          <a:xfrm xmlns:a="http://schemas.openxmlformats.org/drawingml/2006/main">
            <a:off x="723900" y="895350"/>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150" b="1">
                <a:solidFill>
                  <a:srgbClr val="FAFAF3"/>
                </a:solidFill>
                <a:latin typeface="Arial"/>
                <a:ea typeface="Arial"/>
                <a:cs typeface="Arial"/>
              </a:defRPr>
            </a:pPr>
            <a:r>
              <a:rPr sz="3150" b="1">
                <a:solidFill>
                  <a:srgbClr val="FAFAF3"/>
                </a:solidFill>
                <a:latin typeface="Arial"/>
                <a:ea typeface="Arial"/>
                <a:cs typeface="Arial"/>
              </a:rPr>
              <a:t>Solana powers payments and signed research records</a:t>
            </a:r>
          </a:p>
        </p:txBody>
      </p:sp>
      <p:sp>
        <p:nvSpPr>
          <p:cNvPr id="3" name="chain-payment-label">
            <a:extLst xmlns:a="http://schemas.openxmlformats.org/drawingml/2006/main">
              <a:ext uri="{FF2B5EF4-FFF2-40B4-BE49-F238E27FC236}">
                <a16:creationId xmlns:a16="http://schemas.microsoft.com/office/drawing/2014/main" id="{E168BDD2-6F9D-4630-BA4B-0DE3A3CD6CE1}"/>
              </a:ext>
            </a:extLst>
          </p:cNvPr>
          <p:cNvSpPr>
            <a:spLocks xmlns:a="http://schemas.openxmlformats.org/drawingml/2006/main" noGrp="1"/>
          </p:cNvSpPr>
          <p:nvPr/>
        </p:nvSpPr>
        <p:spPr>
          <a:xfrm xmlns:a="http://schemas.openxmlformats.org/drawingml/2006/main">
            <a:off x="781050" y="20383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B9C7FF"/>
                </a:solidFill>
                <a:latin typeface="Consolas"/>
                <a:ea typeface="Consolas"/>
                <a:cs typeface="Consolas"/>
              </a:defRPr>
            </a:pPr>
            <a:r>
              <a:rPr sz="1275" b="1">
                <a:solidFill>
                  <a:srgbClr val="B9C7FF"/>
                </a:solidFill>
                <a:latin typeface="Consolas"/>
                <a:ea typeface="Consolas"/>
                <a:cs typeface="Consolas"/>
              </a:rPr>
              <a:t>PAYMENT  /  x402</a:t>
            </a:r>
          </a:p>
        </p:txBody>
      </p:sp>
      <p:sp>
        <p:nvSpPr>
          <p:cNvPr id="4" name="chain-request">
            <a:extLst xmlns:a="http://schemas.openxmlformats.org/drawingml/2006/main">
              <a:ext uri="{FF2B5EF4-FFF2-40B4-BE49-F238E27FC236}">
                <a16:creationId xmlns:a16="http://schemas.microsoft.com/office/drawing/2014/main" id="{2375161A-E356-489D-A4CE-2F1DBD47A398}"/>
              </a:ext>
            </a:extLst>
          </p:cNvPr>
          <p:cNvSpPr>
            <a:spLocks xmlns:a="http://schemas.openxmlformats.org/drawingml/2006/main" noGrp="1"/>
          </p:cNvSpPr>
          <p:nvPr/>
        </p:nvSpPr>
        <p:spPr>
          <a:xfrm xmlns:a="http://schemas.openxmlformats.org/drawingml/2006/main">
            <a:off x="2628900" y="1924050"/>
            <a:ext cx="2143125" cy="876300"/>
          </a:xfrm>
          <a:prstGeom xmlns:a="http://schemas.openxmlformats.org/drawingml/2006/main" prst="rect">
            <a:avLst/>
          </a:prstGeom>
          <a:solidFill xmlns:a="http://schemas.openxmlformats.org/drawingml/2006/main">
            <a:srgbClr val="34363D"/>
          </a:solidFill>
          <a:ln xmlns:a="http://schemas.openxmlformats.org/drawingml/2006/main" w="0">
            <a:noFill/>
          </a:ln>
        </p:spPr>
      </p:sp>
      <p:sp>
        <p:nvSpPr>
          <p:cNvPr id="5" name="chain-payment">
            <a:extLst xmlns:a="http://schemas.openxmlformats.org/drawingml/2006/main">
              <a:ext uri="{FF2B5EF4-FFF2-40B4-BE49-F238E27FC236}">
                <a16:creationId xmlns:a16="http://schemas.microsoft.com/office/drawing/2014/main" id="{68400777-AE0C-413B-B34B-12D93A53D833}"/>
              </a:ext>
            </a:extLst>
          </p:cNvPr>
          <p:cNvSpPr>
            <a:spLocks xmlns:a="http://schemas.openxmlformats.org/drawingml/2006/main" noGrp="1"/>
          </p:cNvSpPr>
          <p:nvPr/>
        </p:nvSpPr>
        <p:spPr>
          <a:xfrm xmlns:a="http://schemas.openxmlformats.org/drawingml/2006/main">
            <a:off x="5772150" y="1924050"/>
            <a:ext cx="2143125" cy="87630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6" name="chain-bundle">
            <a:extLst xmlns:a="http://schemas.openxmlformats.org/drawingml/2006/main">
              <a:ext uri="{FF2B5EF4-FFF2-40B4-BE49-F238E27FC236}">
                <a16:creationId xmlns:a16="http://schemas.microsoft.com/office/drawing/2014/main" id="{F9A45023-4D9A-4287-BD1C-17088542673C}"/>
              </a:ext>
            </a:extLst>
          </p:cNvPr>
          <p:cNvSpPr>
            <a:spLocks xmlns:a="http://schemas.openxmlformats.org/drawingml/2006/main" noGrp="1"/>
          </p:cNvSpPr>
          <p:nvPr/>
        </p:nvSpPr>
        <p:spPr>
          <a:xfrm xmlns:a="http://schemas.openxmlformats.org/drawingml/2006/main">
            <a:off x="8915400" y="1924050"/>
            <a:ext cx="2143125" cy="876300"/>
          </a:xfrm>
          <a:prstGeom xmlns:a="http://schemas.openxmlformats.org/drawingml/2006/main" prst="rect">
            <a:avLst/>
          </a:prstGeom>
          <a:solidFill xmlns:a="http://schemas.openxmlformats.org/drawingml/2006/main">
            <a:srgbClr val="34363D"/>
          </a:solidFill>
          <a:ln xmlns:a="http://schemas.openxmlformats.org/drawingml/2006/main" w="0">
            <a:noFill/>
          </a:ln>
        </p:spPr>
      </p:sp>
      <p:sp>
        <p:nvSpPr>
          <p:cNvPr id="7" name="chain-request-label">
            <a:extLst xmlns:a="http://schemas.openxmlformats.org/drawingml/2006/main">
              <a:ext uri="{FF2B5EF4-FFF2-40B4-BE49-F238E27FC236}">
                <a16:creationId xmlns:a16="http://schemas.microsoft.com/office/drawing/2014/main" id="{49A47B0C-1FD8-4EAA-BAC0-95C5037653C9}"/>
              </a:ext>
            </a:extLst>
          </p:cNvPr>
          <p:cNvSpPr>
            <a:spLocks xmlns:a="http://schemas.openxmlformats.org/drawingml/2006/main" noGrp="1"/>
          </p:cNvSpPr>
          <p:nvPr/>
        </p:nvSpPr>
        <p:spPr>
          <a:xfrm xmlns:a="http://schemas.openxmlformats.org/drawingml/2006/main">
            <a:off x="2819400" y="21717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Agent request</a:t>
            </a:r>
          </a:p>
        </p:txBody>
      </p:sp>
      <p:sp>
        <p:nvSpPr>
          <p:cNvPr id="8" name="chain-payment-label-node">
            <a:extLst xmlns:a="http://schemas.openxmlformats.org/drawingml/2006/main">
              <a:ext uri="{FF2B5EF4-FFF2-40B4-BE49-F238E27FC236}">
                <a16:creationId xmlns:a16="http://schemas.microsoft.com/office/drawing/2014/main" id="{B0C1FAD8-AFD2-4269-A4F7-03A70D50B418}"/>
              </a:ext>
            </a:extLst>
          </p:cNvPr>
          <p:cNvSpPr>
            <a:spLocks xmlns:a="http://schemas.openxmlformats.org/drawingml/2006/main" noGrp="1"/>
          </p:cNvSpPr>
          <p:nvPr/>
        </p:nvSpPr>
        <p:spPr>
          <a:xfrm xmlns:a="http://schemas.openxmlformats.org/drawingml/2006/main">
            <a:off x="5962650" y="21717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USDC x402</a:t>
            </a:r>
          </a:p>
        </p:txBody>
      </p:sp>
      <p:sp>
        <p:nvSpPr>
          <p:cNvPr id="9" name="chain-bundle-label">
            <a:extLst xmlns:a="http://schemas.openxmlformats.org/drawingml/2006/main">
              <a:ext uri="{FF2B5EF4-FFF2-40B4-BE49-F238E27FC236}">
                <a16:creationId xmlns:a16="http://schemas.microsoft.com/office/drawing/2014/main" id="{2B3C5407-0723-412E-8BF3-25C0B214D623}"/>
              </a:ext>
            </a:extLst>
          </p:cNvPr>
          <p:cNvSpPr>
            <a:spLocks xmlns:a="http://schemas.openxmlformats.org/drawingml/2006/main" noGrp="1"/>
          </p:cNvSpPr>
          <p:nvPr/>
        </p:nvSpPr>
        <p:spPr>
          <a:xfrm xmlns:a="http://schemas.openxmlformats.org/drawingml/2006/main">
            <a:off x="9105900" y="21717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Research bundle</a:t>
            </a:r>
          </a:p>
        </p:txBody>
      </p:sp>
      <p:cxnSp>
        <p:nvCxnSpPr>
          <p:cNvPr id="34" name=""/>
          <p:cNvCxnSpPr>
            <a:stCxn xmlns:a="http://schemas.openxmlformats.org/drawingml/2006/main" id="4" idx="3"/>
            <a:endCxn xmlns:a="http://schemas.openxmlformats.org/drawingml/2006/main" id="5" idx="1"/>
          </p:cNvCxnSpPr>
          <p:nvPr/>
        </p:nvCxnSpPr>
        <p:spPr>
          <a:xfrm xmlns:a="http://schemas.openxmlformats.org/drawingml/2006/main">
            <a:off x="4772025" y="2362200"/>
            <a:ext cx="1000125" cy="0"/>
          </a:xfrm>
          <a:prstGeom xmlns:a="http://schemas.openxmlformats.org/drawingml/2006/main" prst="straightConnector1">
            <a:avLst/>
          </a:prstGeom>
          <a:ln xmlns:a="http://schemas.openxmlformats.org/drawingml/2006/main" w="19050">
            <a:solidFill>
              <a:srgbClr val="B9C7FF"/>
            </a:solidFill>
            <a:prstDash val="solid"/>
            <a:tailEnd type="arrow" w="sm" len="sm"/>
          </a:ln>
        </p:spPr>
      </p:cxnSp>
      <p:cxnSp>
        <p:nvCxnSpPr>
          <p:cNvPr id="35" name=""/>
          <p:cNvCxnSpPr>
            <a:stCxn xmlns:a="http://schemas.openxmlformats.org/drawingml/2006/main" id="5" idx="3"/>
            <a:endCxn xmlns:a="http://schemas.openxmlformats.org/drawingml/2006/main" id="6" idx="1"/>
          </p:cNvCxnSpPr>
          <p:nvPr/>
        </p:nvCxnSpPr>
        <p:spPr>
          <a:xfrm xmlns:a="http://schemas.openxmlformats.org/drawingml/2006/main">
            <a:off x="7915275" y="2362200"/>
            <a:ext cx="1000125" cy="0"/>
          </a:xfrm>
          <a:prstGeom xmlns:a="http://schemas.openxmlformats.org/drawingml/2006/main" prst="straightConnector1">
            <a:avLst/>
          </a:prstGeom>
          <a:ln xmlns:a="http://schemas.openxmlformats.org/drawingml/2006/main" w="19050">
            <a:solidFill>
              <a:srgbClr val="B9C7FF"/>
            </a:solidFill>
            <a:prstDash val="solid"/>
            <a:tailEnd type="arrow" w="sm" len="sm"/>
          </a:ln>
        </p:spPr>
      </p:cxnSp>
      <p:sp>
        <p:nvSpPr>
          <p:cNvPr id="12" name="chain-record-label">
            <a:extLst xmlns:a="http://schemas.openxmlformats.org/drawingml/2006/main">
              <a:ext uri="{FF2B5EF4-FFF2-40B4-BE49-F238E27FC236}">
                <a16:creationId xmlns:a16="http://schemas.microsoft.com/office/drawing/2014/main" id="{E514B720-2DCB-41F0-BEAE-A9CA3164BFE4}"/>
              </a:ext>
            </a:extLst>
          </p:cNvPr>
          <p:cNvSpPr>
            <a:spLocks xmlns:a="http://schemas.openxmlformats.org/drawingml/2006/main" noGrp="1"/>
          </p:cNvSpPr>
          <p:nvPr/>
        </p:nvSpPr>
        <p:spPr>
          <a:xfrm xmlns:a="http://schemas.openxmlformats.org/drawingml/2006/main">
            <a:off x="781050" y="33718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B9C7FF"/>
                </a:solidFill>
                <a:latin typeface="Consolas"/>
                <a:ea typeface="Consolas"/>
                <a:cs typeface="Consolas"/>
              </a:defRPr>
            </a:pPr>
            <a:r>
              <a:rPr sz="1275" b="1">
                <a:solidFill>
                  <a:srgbClr val="B9C7FF"/>
                </a:solidFill>
                <a:latin typeface="Consolas"/>
                <a:ea typeface="Consolas"/>
                <a:cs typeface="Consolas"/>
              </a:rPr>
              <a:t>SIGNED READING</a:t>
            </a:r>
          </a:p>
        </p:txBody>
      </p:sp>
      <p:sp>
        <p:nvSpPr>
          <p:cNvPr id="13" name="chain-wallet-sign">
            <a:extLst xmlns:a="http://schemas.openxmlformats.org/drawingml/2006/main">
              <a:ext uri="{FF2B5EF4-FFF2-40B4-BE49-F238E27FC236}">
                <a16:creationId xmlns:a16="http://schemas.microsoft.com/office/drawing/2014/main" id="{F8B8D654-E935-4DD5-9A06-89F26D7188EE}"/>
              </a:ext>
            </a:extLst>
          </p:cNvPr>
          <p:cNvSpPr>
            <a:spLocks xmlns:a="http://schemas.openxmlformats.org/drawingml/2006/main" noGrp="1"/>
          </p:cNvSpPr>
          <p:nvPr/>
        </p:nvSpPr>
        <p:spPr>
          <a:xfrm xmlns:a="http://schemas.openxmlformats.org/drawingml/2006/main">
            <a:off x="2628900" y="3257550"/>
            <a:ext cx="2143125" cy="876300"/>
          </a:xfrm>
          <a:prstGeom xmlns:a="http://schemas.openxmlformats.org/drawingml/2006/main" prst="rect">
            <a:avLst/>
          </a:prstGeom>
          <a:solidFill xmlns:a="http://schemas.openxmlformats.org/drawingml/2006/main">
            <a:srgbClr val="34363D"/>
          </a:solidFill>
          <a:ln xmlns:a="http://schemas.openxmlformats.org/drawingml/2006/main" w="0">
            <a:noFill/>
          </a:ln>
        </p:spPr>
      </p:sp>
      <p:sp>
        <p:nvSpPr>
          <p:cNvPr id="14" name="chain-sas">
            <a:extLst xmlns:a="http://schemas.openxmlformats.org/drawingml/2006/main">
              <a:ext uri="{FF2B5EF4-FFF2-40B4-BE49-F238E27FC236}">
                <a16:creationId xmlns:a16="http://schemas.microsoft.com/office/drawing/2014/main" id="{28A873E3-4963-45D0-8882-5381BF29254E}"/>
              </a:ext>
            </a:extLst>
          </p:cNvPr>
          <p:cNvSpPr>
            <a:spLocks xmlns:a="http://schemas.openxmlformats.org/drawingml/2006/main" noGrp="1"/>
          </p:cNvSpPr>
          <p:nvPr/>
        </p:nvSpPr>
        <p:spPr>
          <a:xfrm xmlns:a="http://schemas.openxmlformats.org/drawingml/2006/main">
            <a:off x="5772150" y="3257550"/>
            <a:ext cx="2143125" cy="876300"/>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15" name="chain-attributed">
            <a:extLst xmlns:a="http://schemas.openxmlformats.org/drawingml/2006/main">
              <a:ext uri="{FF2B5EF4-FFF2-40B4-BE49-F238E27FC236}">
                <a16:creationId xmlns:a16="http://schemas.microsoft.com/office/drawing/2014/main" id="{C10D1C5B-5EFB-49D6-B1E9-3F4818A30718}"/>
              </a:ext>
            </a:extLst>
          </p:cNvPr>
          <p:cNvSpPr>
            <a:spLocks xmlns:a="http://schemas.openxmlformats.org/drawingml/2006/main" noGrp="1"/>
          </p:cNvSpPr>
          <p:nvPr/>
        </p:nvSpPr>
        <p:spPr>
          <a:xfrm xmlns:a="http://schemas.openxmlformats.org/drawingml/2006/main">
            <a:off x="8915400" y="3257550"/>
            <a:ext cx="2143125" cy="876300"/>
          </a:xfrm>
          <a:prstGeom xmlns:a="http://schemas.openxmlformats.org/drawingml/2006/main" prst="rect">
            <a:avLst/>
          </a:prstGeom>
          <a:solidFill xmlns:a="http://schemas.openxmlformats.org/drawingml/2006/main">
            <a:srgbClr val="34363D"/>
          </a:solidFill>
          <a:ln xmlns:a="http://schemas.openxmlformats.org/drawingml/2006/main" w="0">
            <a:noFill/>
          </a:ln>
        </p:spPr>
      </p:sp>
      <p:sp>
        <p:nvSpPr>
          <p:cNvPr id="16" name="chain-wallet-label">
            <a:extLst xmlns:a="http://schemas.openxmlformats.org/drawingml/2006/main">
              <a:ext uri="{FF2B5EF4-FFF2-40B4-BE49-F238E27FC236}">
                <a16:creationId xmlns:a16="http://schemas.microsoft.com/office/drawing/2014/main" id="{0A957AE5-AE39-4DEF-A81A-54206746E0A3}"/>
              </a:ext>
            </a:extLst>
          </p:cNvPr>
          <p:cNvSpPr>
            <a:spLocks xmlns:a="http://schemas.openxmlformats.org/drawingml/2006/main" noGrp="1"/>
          </p:cNvSpPr>
          <p:nvPr/>
        </p:nvSpPr>
        <p:spPr>
          <a:xfrm xmlns:a="http://schemas.openxmlformats.org/drawingml/2006/main">
            <a:off x="2819400" y="35052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Wallet signature</a:t>
            </a:r>
          </a:p>
        </p:txBody>
      </p:sp>
      <p:sp>
        <p:nvSpPr>
          <p:cNvPr id="17" name="chain-sas-label">
            <a:extLst xmlns:a="http://schemas.openxmlformats.org/drawingml/2006/main">
              <a:ext uri="{FF2B5EF4-FFF2-40B4-BE49-F238E27FC236}">
                <a16:creationId xmlns:a16="http://schemas.microsoft.com/office/drawing/2014/main" id="{84BD131B-37F9-499B-A919-E347C29B5C3D}"/>
              </a:ext>
            </a:extLst>
          </p:cNvPr>
          <p:cNvSpPr>
            <a:spLocks xmlns:a="http://schemas.openxmlformats.org/drawingml/2006/main" noGrp="1"/>
          </p:cNvSpPr>
          <p:nvPr/>
        </p:nvSpPr>
        <p:spPr>
          <a:xfrm xmlns:a="http://schemas.openxmlformats.org/drawingml/2006/main">
            <a:off x="5962650" y="35052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Solana SAS</a:t>
            </a:r>
          </a:p>
        </p:txBody>
      </p:sp>
      <p:sp>
        <p:nvSpPr>
          <p:cNvPr id="18" name="chain-attributed-label">
            <a:extLst xmlns:a="http://schemas.openxmlformats.org/drawingml/2006/main">
              <a:ext uri="{FF2B5EF4-FFF2-40B4-BE49-F238E27FC236}">
                <a16:creationId xmlns:a16="http://schemas.microsoft.com/office/drawing/2014/main" id="{0A4BE516-5547-4661-9620-7B907833E29B}"/>
              </a:ext>
            </a:extLst>
          </p:cNvPr>
          <p:cNvSpPr>
            <a:spLocks xmlns:a="http://schemas.openxmlformats.org/drawingml/2006/main" noGrp="1"/>
          </p:cNvSpPr>
          <p:nvPr/>
        </p:nvSpPr>
        <p:spPr>
          <a:xfrm xmlns:a="http://schemas.openxmlformats.org/drawingml/2006/main">
            <a:off x="9105900" y="3505200"/>
            <a:ext cx="1762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a:solidFill>
                  <a:srgbClr val="FFFFFF"/>
                </a:solidFill>
                <a:latin typeface="Arial"/>
                <a:ea typeface="Arial"/>
                <a:cs typeface="Arial"/>
              </a:defRPr>
            </a:pPr>
            <a:r>
              <a:rPr sz="1575" b="1">
                <a:solidFill>
                  <a:srgbClr val="FFFFFF"/>
                </a:solidFill>
                <a:latin typeface="Arial"/>
                <a:ea typeface="Arial"/>
                <a:cs typeface="Arial"/>
              </a:rPr>
              <a:t>Attributed reading</a:t>
            </a:r>
          </a:p>
        </p:txBody>
      </p:sp>
      <p:cxnSp>
        <p:nvCxnSpPr>
          <p:cNvPr id="43" name=""/>
          <p:cNvCxnSpPr>
            <a:stCxn xmlns:a="http://schemas.openxmlformats.org/drawingml/2006/main" id="13" idx="3"/>
            <a:endCxn xmlns:a="http://schemas.openxmlformats.org/drawingml/2006/main" id="14" idx="1"/>
          </p:cNvCxnSpPr>
          <p:nvPr/>
        </p:nvCxnSpPr>
        <p:spPr>
          <a:xfrm xmlns:a="http://schemas.openxmlformats.org/drawingml/2006/main">
            <a:off x="4772025" y="3695700"/>
            <a:ext cx="1000125" cy="0"/>
          </a:xfrm>
          <a:prstGeom xmlns:a="http://schemas.openxmlformats.org/drawingml/2006/main" prst="straightConnector1">
            <a:avLst/>
          </a:prstGeom>
          <a:ln xmlns:a="http://schemas.openxmlformats.org/drawingml/2006/main" w="19050">
            <a:solidFill>
              <a:srgbClr val="B9C7FF"/>
            </a:solidFill>
            <a:prstDash val="solid"/>
            <a:tailEnd type="arrow" w="sm" len="sm"/>
          </a:ln>
        </p:spPr>
      </p:cxnSp>
      <p:cxnSp>
        <p:nvCxnSpPr>
          <p:cNvPr id="44" name=""/>
          <p:cNvCxnSpPr>
            <a:stCxn xmlns:a="http://schemas.openxmlformats.org/drawingml/2006/main" id="14" idx="3"/>
            <a:endCxn xmlns:a="http://schemas.openxmlformats.org/drawingml/2006/main" id="15" idx="1"/>
          </p:cNvCxnSpPr>
          <p:nvPr/>
        </p:nvCxnSpPr>
        <p:spPr>
          <a:xfrm xmlns:a="http://schemas.openxmlformats.org/drawingml/2006/main">
            <a:off x="7915275" y="3695700"/>
            <a:ext cx="1000125" cy="0"/>
          </a:xfrm>
          <a:prstGeom xmlns:a="http://schemas.openxmlformats.org/drawingml/2006/main" prst="straightConnector1">
            <a:avLst/>
          </a:prstGeom>
          <a:ln xmlns:a="http://schemas.openxmlformats.org/drawingml/2006/main" w="19050">
            <a:solidFill>
              <a:srgbClr val="B9C7FF"/>
            </a:solidFill>
            <a:prstDash val="solid"/>
            <a:tailEnd type="arrow" w="sm" len="sm"/>
          </a:ln>
        </p:spPr>
      </p:cxnSp>
      <p:sp>
        <p:nvSpPr>
          <p:cNvPr id="21" name="chain-demo-status">
            <a:extLst xmlns:a="http://schemas.openxmlformats.org/drawingml/2006/main">
              <a:ext uri="{FF2B5EF4-FFF2-40B4-BE49-F238E27FC236}">
                <a16:creationId xmlns:a16="http://schemas.microsoft.com/office/drawing/2014/main" id="{E08FFD89-77DD-4DAC-850F-D6EA31F50E83}"/>
              </a:ext>
            </a:extLst>
          </p:cNvPr>
          <p:cNvSpPr>
            <a:spLocks xmlns:a="http://schemas.openxmlformats.org/drawingml/2006/main" noGrp="1"/>
          </p:cNvSpPr>
          <p:nvPr/>
        </p:nvSpPr>
        <p:spPr>
          <a:xfrm xmlns:a="http://schemas.openxmlformats.org/drawingml/2006/main">
            <a:off x="800100" y="4676775"/>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B9C7FF"/>
                </a:solidFill>
                <a:latin typeface="Consolas"/>
                <a:ea typeface="Consolas"/>
                <a:cs typeface="Consolas"/>
              </a:defRPr>
            </a:pPr>
            <a:r>
              <a:rPr sz="1275" b="1">
                <a:solidFill>
                  <a:srgbClr val="B9C7FF"/>
                </a:solidFill>
                <a:latin typeface="Consolas"/>
                <a:ea typeface="Consolas"/>
                <a:cs typeface="Consolas"/>
              </a:rPr>
              <a:t>DEVNET DEMONSTRATED</a:t>
            </a:r>
          </a:p>
        </p:txBody>
      </p:sp>
      <p:sp>
        <p:nvSpPr>
          <p:cNvPr id="22" name="chain-pending-label">
            <a:extLst xmlns:a="http://schemas.openxmlformats.org/drawingml/2006/main">
              <a:ext uri="{FF2B5EF4-FFF2-40B4-BE49-F238E27FC236}">
                <a16:creationId xmlns:a16="http://schemas.microsoft.com/office/drawing/2014/main" id="{758203C5-52A1-4062-A880-2FCCCA13D3A3}"/>
              </a:ext>
            </a:extLst>
          </p:cNvPr>
          <p:cNvSpPr>
            <a:spLocks xmlns:a="http://schemas.openxmlformats.org/drawingml/2006/main" noGrp="1"/>
          </p:cNvSpPr>
          <p:nvPr/>
        </p:nvSpPr>
        <p:spPr>
          <a:xfrm xmlns:a="http://schemas.openxmlformats.org/drawingml/2006/main">
            <a:off x="4333875" y="4676775"/>
            <a:ext cx="6810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FFFFF"/>
                </a:solidFill>
                <a:latin typeface="Arial"/>
                <a:ea typeface="Arial"/>
                <a:cs typeface="Arial"/>
              </a:defRPr>
            </a:pPr>
            <a:r>
              <a:rPr sz="1425" b="0">
                <a:solidFill>
                  <a:srgbClr val="FFFFFF"/>
                </a:solidFill>
                <a:latin typeface="Arial"/>
                <a:ea typeface="Arial"/>
                <a:cs typeface="Arial"/>
              </a:rPr>
              <a:t>Base, Ethereum, Arbitrum Sepolia configured; E2E pending</a:t>
            </a:r>
          </a:p>
        </p:txBody>
      </p:sp>
      <p:sp>
        <p:nvSpPr>
          <p:cNvPr id="23" name="chain-optional">
            <a:extLst xmlns:a="http://schemas.openxmlformats.org/drawingml/2006/main">
              <a:ext uri="{FF2B5EF4-FFF2-40B4-BE49-F238E27FC236}">
                <a16:creationId xmlns:a16="http://schemas.microsoft.com/office/drawing/2014/main" id="{D45FD99B-671A-4554-84DB-4E5AFAF6CDC3}"/>
              </a:ext>
            </a:extLst>
          </p:cNvPr>
          <p:cNvSpPr>
            <a:spLocks xmlns:a="http://schemas.openxmlformats.org/drawingml/2006/main" noGrp="1"/>
          </p:cNvSpPr>
          <p:nvPr/>
        </p:nvSpPr>
        <p:spPr>
          <a:xfrm xmlns:a="http://schemas.openxmlformats.org/drawingml/2006/main">
            <a:off x="800100" y="53721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These chain features are optional. Research remains free to read.</a:t>
            </a:r>
          </a:p>
        </p:txBody>
      </p:sp>
      <p:sp>
        <p:nvSpPr>
          <p:cNvPr id="24" name="chain-attribution-limit">
            <a:extLst xmlns:a="http://schemas.openxmlformats.org/drawingml/2006/main">
              <a:ext uri="{FF2B5EF4-FFF2-40B4-BE49-F238E27FC236}">
                <a16:creationId xmlns:a16="http://schemas.microsoft.com/office/drawing/2014/main" id="{69B21D20-3025-4A1E-A24A-4F892248C13F}"/>
              </a:ext>
            </a:extLst>
          </p:cNvPr>
          <p:cNvSpPr>
            <a:spLocks xmlns:a="http://schemas.openxmlformats.org/drawingml/2006/main" noGrp="1"/>
          </p:cNvSpPr>
          <p:nvPr/>
        </p:nvSpPr>
        <p:spPr>
          <a:xfrm xmlns:a="http://schemas.openxmlformats.org/drawingml/2006/main">
            <a:off x="800100" y="5905500"/>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D6DEFF"/>
                </a:solidFill>
                <a:latin typeface="Arial"/>
                <a:ea typeface="Arial"/>
                <a:cs typeface="Arial"/>
              </a:defRPr>
            </a:pPr>
            <a:r>
              <a:rPr sz="1350" b="0">
                <a:solidFill>
                  <a:srgbClr val="D6DEFF"/>
                </a:solidFill>
                <a:latin typeface="Arial"/>
                <a:ea typeface="Arial"/>
                <a:cs typeface="Arial"/>
              </a:rPr>
              <a:t>Signature proves attribution, not truth.</a:t>
            </a:r>
          </a:p>
        </p:txBody>
      </p:sp>
    </p:spTree>
    <p:extLst>
      <p:ext uri="{BB962C8B-B14F-4D97-AF65-F5344CB8AC3E}">
        <p14:creationId xmlns:p14="http://schemas.microsoft.com/office/powerpoint/2010/main" val="1322567180"/>
      </p:ext>
    </p:extLst>
  </p:cSld>
</p:sld>
</file>

<file path=ppt/slides/slide12.xml><?xml version="1.0" encoding="utf-8"?>
<p:sld xmlns:p="http://schemas.openxmlformats.org/presentationml/2006/main">
  <p:cSld>
    <p:bg>
      <p:bgPr>
        <a:solidFill xmlns:a="http://schemas.openxmlformats.org/drawingml/2006/main">
          <a:srgbClr val="FAFAF3"/>
        </a:solidFill>
      </p:bgPr>
    </p:bg>
    <p:spTree>
      <p:nvGrpSpPr>
        <p:cNvPr id="1" name=""/>
        <p:cNvGrpSpPr/>
        <p:nvPr/>
      </p:nvGrpSpPr>
      <p:grpSpPr>
        <a:xfrm xmlns:a="http://schemas.openxmlformats.org/drawingml/2006/main"/>
      </p:grpSpPr>
      <p:sp>
        <p:nvSpPr>
          <p:cNvPr id="12" name="founder-kicker">
            <a:extLst xmlns:a="http://schemas.openxmlformats.org/drawingml/2006/main">
              <a:ext uri="{FF2B5EF4-FFF2-40B4-BE49-F238E27FC236}">
                <a16:creationId xmlns:a16="http://schemas.microsoft.com/office/drawing/2014/main" id="{BB8D1A56-B004-465C-810B-6523D024D0EA}"/>
              </a:ext>
            </a:extLst>
          </p:cNvPr>
          <p:cNvSpPr>
            <a:spLocks xmlns:a="http://schemas.openxmlformats.org/drawingml/2006/main" noGrp="1"/>
          </p:cNvSpPr>
          <p:nvPr/>
        </p:nvSpPr>
        <p:spPr>
          <a:xfrm xmlns:a="http://schemas.openxmlformats.org/drawingml/2006/main">
            <a:off x="742950" y="476250"/>
            <a:ext cx="304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244BEA"/>
                </a:solidFill>
                <a:latin typeface="Consolas"/>
                <a:ea typeface="Consolas"/>
                <a:cs typeface="Consolas"/>
              </a:defRPr>
            </a:pPr>
            <a:r>
              <a:rPr sz="1275" b="1">
                <a:solidFill>
                  <a:srgbClr val="244BEA"/>
                </a:solidFill>
                <a:latin typeface="Consolas"/>
                <a:ea typeface="Consolas"/>
                <a:cs typeface="Consolas"/>
              </a:rPr>
              <a:t>FOUNDER</a:t>
            </a:r>
          </a:p>
        </p:txBody>
      </p:sp>
      <p:sp>
        <p:nvSpPr>
          <p:cNvPr id="2" name="founder-name">
            <a:extLst xmlns:a="http://schemas.openxmlformats.org/drawingml/2006/main">
              <a:ext uri="{FF2B5EF4-FFF2-40B4-BE49-F238E27FC236}">
                <a16:creationId xmlns:a16="http://schemas.microsoft.com/office/drawing/2014/main" id="{EC29E342-2B54-48BD-B27A-681CC4DF03BB}"/>
              </a:ext>
            </a:extLst>
          </p:cNvPr>
          <p:cNvSpPr>
            <a:spLocks xmlns:a="http://schemas.openxmlformats.org/drawingml/2006/main" noGrp="1"/>
          </p:cNvSpPr>
          <p:nvPr/>
        </p:nvSpPr>
        <p:spPr>
          <a:xfrm xmlns:a="http://schemas.openxmlformats.org/drawingml/2006/main">
            <a:off x="723900" y="1304925"/>
            <a:ext cx="3905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950" b="1">
                <a:solidFill>
                  <a:srgbClr val="1A1A1A"/>
                </a:solidFill>
                <a:latin typeface="Arial"/>
                <a:ea typeface="Arial"/>
                <a:cs typeface="Arial"/>
              </a:defRPr>
            </a:pPr>
            <a:r>
              <a:rPr sz="4950" b="1">
                <a:solidFill>
                  <a:srgbClr val="1A1A1A"/>
                </a:solidFill>
                <a:latin typeface="Arial"/>
                <a:ea typeface="Arial"/>
                <a:cs typeface="Arial"/>
              </a:rPr>
              <a:t>Daniyar</a:t>
            </a:r>
          </a:p>
          <a:p xmlns:a="http://schemas.openxmlformats.org/drawingml/2006/main">
            <a:pPr algn="l">
              <a:defRPr sz="4950" b="1">
                <a:solidFill>
                  <a:srgbClr val="1A1A1A"/>
                </a:solidFill>
                <a:latin typeface="Arial"/>
                <a:ea typeface="Arial"/>
                <a:cs typeface="Arial"/>
              </a:defRPr>
            </a:pPr>
            <a:r>
              <a:rPr sz="4950" b="1">
                <a:solidFill>
                  <a:srgbClr val="1A1A1A"/>
                </a:solidFill>
                <a:latin typeface="Arial"/>
                <a:ea typeface="Arial"/>
                <a:cs typeface="Arial"/>
              </a:rPr>
              <a:t>Gabdullin</a:t>
            </a:r>
          </a:p>
        </p:txBody>
      </p:sp>
      <p:sp>
        <p:nvSpPr>
          <p:cNvPr id="3" name="founder-role">
            <a:extLst xmlns:a="http://schemas.openxmlformats.org/drawingml/2006/main">
              <a:ext uri="{FF2B5EF4-FFF2-40B4-BE49-F238E27FC236}">
                <a16:creationId xmlns:a16="http://schemas.microsoft.com/office/drawing/2014/main" id="{8536ECE8-A198-4755-A77B-FECC7099CA97}"/>
              </a:ext>
            </a:extLst>
          </p:cNvPr>
          <p:cNvSpPr>
            <a:spLocks xmlns:a="http://schemas.openxmlformats.org/drawingml/2006/main" noGrp="1"/>
          </p:cNvSpPr>
          <p:nvPr/>
        </p:nvSpPr>
        <p:spPr>
          <a:xfrm xmlns:a="http://schemas.openxmlformats.org/drawingml/2006/main">
            <a:off x="781050" y="332422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00" b="0">
                <a:solidFill>
                  <a:srgbClr val="5A5B58"/>
                </a:solidFill>
                <a:latin typeface="Arial"/>
                <a:ea typeface="Arial"/>
                <a:cs typeface="Arial"/>
              </a:defRPr>
            </a:pPr>
            <a:r>
              <a:rPr sz="1800" b="0">
                <a:solidFill>
                  <a:srgbClr val="5A5B58"/>
                </a:solidFill>
                <a:latin typeface="Arial"/>
                <a:ea typeface="Arial"/>
                <a:cs typeface="Arial"/>
              </a:rPr>
              <a:t>Solo founder</a:t>
            </a:r>
          </a:p>
        </p:txBody>
      </p:sp>
      <p:sp>
        <p:nvSpPr>
          <p:cNvPr id="4" name="founder-mobile-node">
            <a:extLst xmlns:a="http://schemas.openxmlformats.org/drawingml/2006/main">
              <a:ext uri="{FF2B5EF4-FFF2-40B4-BE49-F238E27FC236}">
                <a16:creationId xmlns:a16="http://schemas.microsoft.com/office/drawing/2014/main" id="{529DB5D6-4923-45DD-BA34-B6F7EF569DD1}"/>
              </a:ext>
            </a:extLst>
          </p:cNvPr>
          <p:cNvSpPr>
            <a:spLocks xmlns:a="http://schemas.openxmlformats.org/drawingml/2006/main" noGrp="1"/>
          </p:cNvSpPr>
          <p:nvPr/>
        </p:nvSpPr>
        <p:spPr>
          <a:xfrm xmlns:a="http://schemas.openxmlformats.org/drawingml/2006/main">
            <a:off x="5619750" y="1562100"/>
            <a:ext cx="5524500" cy="1381125"/>
          </a:xfrm>
          <a:prstGeom xmlns:a="http://schemas.openxmlformats.org/drawingml/2006/main" prst="rect">
            <a:avLst/>
          </a:prstGeom>
          <a:solidFill xmlns:a="http://schemas.openxmlformats.org/drawingml/2006/main">
            <a:srgbClr val="E8EDFF"/>
          </a:solidFill>
          <a:ln xmlns:a="http://schemas.openxmlformats.org/drawingml/2006/main" w="0">
            <a:noFill/>
          </a:ln>
        </p:spPr>
      </p:sp>
      <p:sp>
        <p:nvSpPr>
          <p:cNvPr id="5" name="founder-web3-node">
            <a:extLst xmlns:a="http://schemas.openxmlformats.org/drawingml/2006/main">
              <a:ext uri="{FF2B5EF4-FFF2-40B4-BE49-F238E27FC236}">
                <a16:creationId xmlns:a16="http://schemas.microsoft.com/office/drawing/2014/main" id="{08F68F61-A14D-4CA1-B4F2-0A39C6A4016D}"/>
              </a:ext>
            </a:extLst>
          </p:cNvPr>
          <p:cNvSpPr>
            <a:spLocks xmlns:a="http://schemas.openxmlformats.org/drawingml/2006/main" noGrp="1"/>
          </p:cNvSpPr>
          <p:nvPr/>
        </p:nvSpPr>
        <p:spPr>
          <a:xfrm xmlns:a="http://schemas.openxmlformats.org/drawingml/2006/main">
            <a:off x="5619750" y="3762375"/>
            <a:ext cx="5524500" cy="1381125"/>
          </a:xfrm>
          <a:prstGeom xmlns:a="http://schemas.openxmlformats.org/drawingml/2006/main" prst="rect">
            <a:avLst/>
          </a:prstGeom>
          <a:solidFill xmlns:a="http://schemas.openxmlformats.org/drawingml/2006/main">
            <a:srgbClr val="244BEA"/>
          </a:solidFill>
          <a:ln xmlns:a="http://schemas.openxmlformats.org/drawingml/2006/main" w="0">
            <a:noFill/>
          </a:ln>
        </p:spPr>
      </p:sp>
      <p:sp>
        <p:nvSpPr>
          <p:cNvPr id="6" name="founder-mobile-label">
            <a:extLst xmlns:a="http://schemas.openxmlformats.org/drawingml/2006/main">
              <a:ext uri="{FF2B5EF4-FFF2-40B4-BE49-F238E27FC236}">
                <a16:creationId xmlns:a16="http://schemas.microsoft.com/office/drawing/2014/main" id="{1A2047DD-818F-499E-AC6A-D0791AE9253A}"/>
              </a:ext>
            </a:extLst>
          </p:cNvPr>
          <p:cNvSpPr>
            <a:spLocks xmlns:a="http://schemas.openxmlformats.org/drawingml/2006/main" noGrp="1"/>
          </p:cNvSpPr>
          <p:nvPr/>
        </p:nvSpPr>
        <p:spPr>
          <a:xfrm xmlns:a="http://schemas.openxmlformats.org/drawingml/2006/main">
            <a:off x="5962650" y="1866900"/>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1A1A1A"/>
                </a:solidFill>
                <a:latin typeface="Consolas"/>
                <a:ea typeface="Consolas"/>
                <a:cs typeface="Consolas"/>
              </a:defRPr>
            </a:pPr>
            <a:r>
              <a:rPr sz="1500" b="1">
                <a:solidFill>
                  <a:srgbClr val="1A1A1A"/>
                </a:solidFill>
                <a:latin typeface="Consolas"/>
                <a:ea typeface="Consolas"/>
                <a:cs typeface="Consolas"/>
              </a:rPr>
              <a:t>MOBILE PRODUCT ENGINEERING</a:t>
            </a:r>
          </a:p>
        </p:txBody>
      </p:sp>
      <p:sp>
        <p:nvSpPr>
          <p:cNvPr id="7" name="founder-mobile-sub">
            <a:extLst xmlns:a="http://schemas.openxmlformats.org/drawingml/2006/main">
              <a:ext uri="{FF2B5EF4-FFF2-40B4-BE49-F238E27FC236}">
                <a16:creationId xmlns:a16="http://schemas.microsoft.com/office/drawing/2014/main" id="{A94D5E09-5DB9-47F2-AC11-8B180EF6B6B7}"/>
              </a:ext>
            </a:extLst>
          </p:cNvPr>
          <p:cNvSpPr>
            <a:spLocks xmlns:a="http://schemas.openxmlformats.org/drawingml/2006/main" noGrp="1"/>
          </p:cNvSpPr>
          <p:nvPr/>
        </p:nvSpPr>
        <p:spPr>
          <a:xfrm xmlns:a="http://schemas.openxmlformats.org/drawingml/2006/main">
            <a:off x="5962650" y="2305050"/>
            <a:ext cx="481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1A1A1A"/>
                </a:solidFill>
                <a:latin typeface="Arial"/>
                <a:ea typeface="Arial"/>
                <a:cs typeface="Arial"/>
              </a:defRPr>
            </a:pPr>
            <a:r>
              <a:rPr sz="1575" b="0">
                <a:solidFill>
                  <a:srgbClr val="1A1A1A"/>
                </a:solidFill>
                <a:latin typeface="Arial"/>
                <a:ea typeface="Arial"/>
                <a:cs typeface="Arial"/>
              </a:rPr>
              <a:t>Build and ship customer-facing products</a:t>
            </a:r>
          </a:p>
        </p:txBody>
      </p:sp>
      <p:sp>
        <p:nvSpPr>
          <p:cNvPr id="8" name="founder-web3-label">
            <a:extLst xmlns:a="http://schemas.openxmlformats.org/drawingml/2006/main">
              <a:ext uri="{FF2B5EF4-FFF2-40B4-BE49-F238E27FC236}">
                <a16:creationId xmlns:a16="http://schemas.microsoft.com/office/drawing/2014/main" id="{E7B49694-6DBE-412A-9A9A-B4F4EC0CE935}"/>
              </a:ext>
            </a:extLst>
          </p:cNvPr>
          <p:cNvSpPr>
            <a:spLocks xmlns:a="http://schemas.openxmlformats.org/drawingml/2006/main" noGrp="1"/>
          </p:cNvSpPr>
          <p:nvPr/>
        </p:nvSpPr>
        <p:spPr>
          <a:xfrm xmlns:a="http://schemas.openxmlformats.org/drawingml/2006/main">
            <a:off x="5962650" y="4076700"/>
            <a:ext cx="481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00" b="1">
                <a:solidFill>
                  <a:srgbClr val="FFFFFF"/>
                </a:solidFill>
                <a:latin typeface="Consolas"/>
                <a:ea typeface="Consolas"/>
                <a:cs typeface="Consolas"/>
              </a:defRPr>
            </a:pPr>
            <a:r>
              <a:rPr sz="1500" b="1">
                <a:solidFill>
                  <a:srgbClr val="FFFFFF"/>
                </a:solidFill>
                <a:latin typeface="Consolas"/>
                <a:ea typeface="Consolas"/>
                <a:cs typeface="Consolas"/>
              </a:rPr>
              <a:t>WEB3 PRODUCT QA</a:t>
            </a:r>
          </a:p>
        </p:txBody>
      </p:sp>
      <p:sp>
        <p:nvSpPr>
          <p:cNvPr id="9" name="founder-web3-sub">
            <a:extLst xmlns:a="http://schemas.openxmlformats.org/drawingml/2006/main">
              <a:ext uri="{FF2B5EF4-FFF2-40B4-BE49-F238E27FC236}">
                <a16:creationId xmlns:a16="http://schemas.microsoft.com/office/drawing/2014/main" id="{5B00E4F4-B54B-4E01-9334-4AE439D244ED}"/>
              </a:ext>
            </a:extLst>
          </p:cNvPr>
          <p:cNvSpPr>
            <a:spLocks xmlns:a="http://schemas.openxmlformats.org/drawingml/2006/main" noGrp="1"/>
          </p:cNvSpPr>
          <p:nvPr/>
        </p:nvSpPr>
        <p:spPr>
          <a:xfrm xmlns:a="http://schemas.openxmlformats.org/drawingml/2006/main">
            <a:off x="5962650" y="4514850"/>
            <a:ext cx="4810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0">
                <a:solidFill>
                  <a:srgbClr val="FFFFFF"/>
                </a:solidFill>
                <a:latin typeface="Arial"/>
                <a:ea typeface="Arial"/>
                <a:cs typeface="Arial"/>
              </a:defRPr>
            </a:pPr>
            <a:r>
              <a:rPr sz="1575" b="0">
                <a:solidFill>
                  <a:srgbClr val="FFFFFF"/>
                </a:solidFill>
                <a:latin typeface="Arial"/>
                <a:ea typeface="Arial"/>
                <a:cs typeface="Arial"/>
              </a:rPr>
              <a:t>Test wallets, dApps, and blockchain flows</a:t>
            </a:r>
          </a:p>
        </p:txBody>
      </p:sp>
      <p:sp>
        <p:nvSpPr>
          <p:cNvPr id="10" name="founder-portfolio">
            <a:extLst xmlns:a="http://schemas.openxmlformats.org/drawingml/2006/main">
              <a:ext uri="{FF2B5EF4-FFF2-40B4-BE49-F238E27FC236}">
                <a16:creationId xmlns:a16="http://schemas.microsoft.com/office/drawing/2014/main" id="{E64CD942-66F2-4E1B-881E-A2FB10ABB862}"/>
              </a:ext>
            </a:extLst>
          </p:cNvPr>
          <p:cNvSpPr>
            <a:spLocks xmlns:a="http://schemas.openxmlformats.org/drawingml/2006/main" noGrp="1"/>
          </p:cNvSpPr>
          <p:nvPr/>
        </p:nvSpPr>
        <p:spPr>
          <a:xfrm xmlns:a="http://schemas.openxmlformats.org/drawingml/2006/main">
            <a:off x="781050" y="5953125"/>
            <a:ext cx="1752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44BEA"/>
                </a:solidFill>
                <a:latin typeface="Consolas"/>
                <a:ea typeface="Consolas"/>
                <a:cs typeface="Consolas"/>
              </a:defRPr>
            </a:pPr>
            <a:r>
              <a:rPr sz="1350" b="0">
                <a:solidFill>
                  <a:srgbClr val="244BEA"/>
                </a:solidFill>
                <a:latin typeface="Consolas"/>
                <a:ea typeface="Consolas"/>
                <a:cs typeface="Consolas"/>
                <a:hlinkClick xmlns:r="http://schemas.openxmlformats.org/officeDocument/2006/relationships" r:id="R52f59ac46d20445d"/>
              </a:rPr>
              <a:t>Portfolio</a:t>
            </a:r>
          </a:p>
        </p:txBody>
      </p:sp>
      <p:sp>
        <p:nvSpPr>
          <p:cNvPr id="11" name="founder-linkedin">
            <a:extLst xmlns:a="http://schemas.openxmlformats.org/drawingml/2006/main">
              <a:ext uri="{FF2B5EF4-FFF2-40B4-BE49-F238E27FC236}">
                <a16:creationId xmlns:a16="http://schemas.microsoft.com/office/drawing/2014/main" id="{FB26CECB-74C5-410D-A852-5CE37FA3C467}"/>
              </a:ext>
            </a:extLst>
          </p:cNvPr>
          <p:cNvSpPr>
            <a:spLocks xmlns:a="http://schemas.openxmlformats.org/drawingml/2006/main" noGrp="1"/>
          </p:cNvSpPr>
          <p:nvPr/>
        </p:nvSpPr>
        <p:spPr>
          <a:xfrm xmlns:a="http://schemas.openxmlformats.org/drawingml/2006/main">
            <a:off x="2857500" y="5953125"/>
            <a:ext cx="2905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350" b="0">
                <a:solidFill>
                  <a:srgbClr val="244BEA"/>
                </a:solidFill>
                <a:latin typeface="Consolas"/>
                <a:ea typeface="Consolas"/>
                <a:cs typeface="Consolas"/>
              </a:defRPr>
            </a:pPr>
            <a:r>
              <a:rPr sz="1350" b="0">
                <a:solidFill>
                  <a:srgbClr val="244BEA"/>
                </a:solidFill>
                <a:latin typeface="Consolas"/>
                <a:ea typeface="Consolas"/>
                <a:cs typeface="Consolas"/>
                <a:hlinkClick xmlns:r="http://schemas.openxmlformats.org/officeDocument/2006/relationships" r:id="Rab5d211ad8454b65"/>
              </a:rPr>
              <a:t>LinkedIn: Daniyar Gabdullin</a:t>
            </a:r>
          </a:p>
        </p:txBody>
      </p:sp>
    </p:spTree>
    <p:extLst>
      <p:ext uri="{BB962C8B-B14F-4D97-AF65-F5344CB8AC3E}">
        <p14:creationId xmlns:p14="http://schemas.microsoft.com/office/powerpoint/2010/main" val="1177824254"/>
      </p:ext>
    </p:extLst>
  </p:cSld>
</p:sld>
</file>

<file path=ppt/slides/slide13.xml><?xml version="1.0" encoding="utf-8"?>
<p:sld xmlns:p="http://schemas.openxmlformats.org/presentationml/2006/main">
  <p:cSld>
    <p:bg>
      <p:bgPr>
        <a:solidFill xmlns:a="http://schemas.openxmlformats.org/drawingml/2006/main">
          <a:srgbClr val="244BEA"/>
        </a:solidFill>
      </p:bgPr>
    </p:bg>
    <p:spTree>
      <p:nvGrpSpPr>
        <p:cNvPr id="1" name=""/>
        <p:cNvGrpSpPr/>
        <p:nvPr/>
      </p:nvGrpSpPr>
      <p:grpSpPr>
        <a:xfrm xmlns:a="http://schemas.openxmlformats.org/drawingml/2006/main"/>
      </p:grpSpPr>
      <p:sp>
        <p:nvSpPr>
          <p:cNvPr id="9" name="close-kicker">
            <a:extLst xmlns:a="http://schemas.openxmlformats.org/drawingml/2006/main">
              <a:ext uri="{FF2B5EF4-FFF2-40B4-BE49-F238E27FC236}">
                <a16:creationId xmlns:a16="http://schemas.microsoft.com/office/drawing/2014/main" id="{34E3A67F-8DF3-4BF8-8041-FE1E6D35C630}"/>
              </a:ext>
            </a:extLst>
          </p:cNvPr>
          <p:cNvSpPr>
            <a:spLocks xmlns:a="http://schemas.openxmlformats.org/drawingml/2006/main" noGrp="1"/>
          </p:cNvSpPr>
          <p:nvPr/>
        </p:nvSpPr>
        <p:spPr>
          <a:xfrm xmlns:a="http://schemas.openxmlformats.org/drawingml/2006/main">
            <a:off x="742950" y="5524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FFFFFF"/>
                </a:solidFill>
                <a:latin typeface="Consolas"/>
                <a:ea typeface="Consolas"/>
                <a:cs typeface="Consolas"/>
              </a:defRPr>
            </a:pPr>
            <a:r>
              <a:rPr sz="1275" b="1">
                <a:solidFill>
                  <a:srgbClr val="FFFFFF"/>
                </a:solidFill>
                <a:latin typeface="Consolas"/>
                <a:ea typeface="Consolas"/>
                <a:cs typeface="Consolas"/>
              </a:rPr>
              <a:t>PILOT INVITATION</a:t>
            </a:r>
          </a:p>
        </p:txBody>
      </p:sp>
      <p:sp>
        <p:nvSpPr>
          <p:cNvPr id="2" name="close-title">
            <a:extLst xmlns:a="http://schemas.openxmlformats.org/drawingml/2006/main">
              <a:ext uri="{FF2B5EF4-FFF2-40B4-BE49-F238E27FC236}">
                <a16:creationId xmlns:a16="http://schemas.microsoft.com/office/drawing/2014/main" id="{CCBA0F39-B002-49DA-AD8E-7549A1B4CF73}"/>
              </a:ext>
            </a:extLst>
          </p:cNvPr>
          <p:cNvSpPr>
            <a:spLocks xmlns:a="http://schemas.openxmlformats.org/drawingml/2006/main" noGrp="1"/>
          </p:cNvSpPr>
          <p:nvPr/>
        </p:nvSpPr>
        <p:spPr>
          <a:xfrm xmlns:a="http://schemas.openxmlformats.org/drawingml/2006/main">
            <a:off x="723900" y="1257300"/>
            <a:ext cx="5810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Bring one real</a:t>
            </a:r>
          </a:p>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Web3 question.</a:t>
            </a:r>
          </a:p>
        </p:txBody>
      </p:sp>
      <p:sp>
        <p:nvSpPr>
          <p:cNvPr id="3" name="close-target-label">
            <a:extLst xmlns:a="http://schemas.openxmlformats.org/drawingml/2006/main">
              <a:ext uri="{FF2B5EF4-FFF2-40B4-BE49-F238E27FC236}">
                <a16:creationId xmlns:a16="http://schemas.microsoft.com/office/drawing/2014/main" id="{1756654D-2674-4777-993A-4C481F63D1A4}"/>
              </a:ext>
            </a:extLst>
          </p:cNvPr>
          <p:cNvSpPr>
            <a:spLocks xmlns:a="http://schemas.openxmlformats.org/drawingml/2006/main" noGrp="1"/>
          </p:cNvSpPr>
          <p:nvPr/>
        </p:nvSpPr>
        <p:spPr>
          <a:xfrm xmlns:a="http://schemas.openxmlformats.org/drawingml/2006/main">
            <a:off x="7524750" y="1447800"/>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275" b="1">
                <a:solidFill>
                  <a:srgbClr val="D6DEFF"/>
                </a:solidFill>
                <a:latin typeface="Consolas"/>
                <a:ea typeface="Consolas"/>
                <a:cs typeface="Consolas"/>
              </a:defRPr>
            </a:pPr>
            <a:r>
              <a:rPr sz="1275" b="1">
                <a:solidFill>
                  <a:srgbClr val="D6DEFF"/>
                </a:solidFill>
                <a:latin typeface="Consolas"/>
                <a:ea typeface="Consolas"/>
                <a:cs typeface="Consolas"/>
              </a:rPr>
              <a:t>PROPOSED PILOT TARGET</a:t>
            </a:r>
          </a:p>
        </p:txBody>
      </p:sp>
      <p:sp>
        <p:nvSpPr>
          <p:cNvPr id="4" name="close-target">
            <a:extLst xmlns:a="http://schemas.openxmlformats.org/drawingml/2006/main">
              <a:ext uri="{FF2B5EF4-FFF2-40B4-BE49-F238E27FC236}">
                <a16:creationId xmlns:a16="http://schemas.microsoft.com/office/drawing/2014/main" id="{F1C6C1A1-2321-40D1-A2B6-0584DE0DE8D1}"/>
              </a:ext>
            </a:extLst>
          </p:cNvPr>
          <p:cNvSpPr>
            <a:spLocks xmlns:a="http://schemas.openxmlformats.org/drawingml/2006/main" noGrp="1"/>
          </p:cNvSpPr>
          <p:nvPr/>
        </p:nvSpPr>
        <p:spPr>
          <a:xfrm xmlns:a="http://schemas.openxmlformats.org/drawingml/2006/main">
            <a:off x="7486650" y="1962150"/>
            <a:ext cx="3714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4350" b="1">
                <a:solidFill>
                  <a:srgbClr val="FFFFFF"/>
                </a:solidFill>
                <a:latin typeface="Arial"/>
                <a:ea typeface="Arial"/>
                <a:cs typeface="Arial"/>
              </a:defRPr>
            </a:pPr>
            <a:r>
              <a:rPr sz="4350" b="1">
                <a:solidFill>
                  <a:srgbClr val="FFFFFF"/>
                </a:solidFill>
                <a:latin typeface="Arial"/>
                <a:ea typeface="Arial"/>
                <a:cs typeface="Arial"/>
              </a:rPr>
              <a:t>3 teams</a:t>
            </a:r>
          </a:p>
        </p:txBody>
      </p:sp>
      <p:sp>
        <p:nvSpPr>
          <p:cNvPr id="5" name="close-measure">
            <a:extLst xmlns:a="http://schemas.openxmlformats.org/drawingml/2006/main">
              <a:ext uri="{FF2B5EF4-FFF2-40B4-BE49-F238E27FC236}">
                <a16:creationId xmlns:a16="http://schemas.microsoft.com/office/drawing/2014/main" id="{812C6AA9-88E3-49B3-B2D2-6CBA9B98CB3F}"/>
              </a:ext>
            </a:extLst>
          </p:cNvPr>
          <p:cNvSpPr>
            <a:spLocks xmlns:a="http://schemas.openxmlformats.org/drawingml/2006/main" noGrp="1"/>
          </p:cNvSpPr>
          <p:nvPr/>
        </p:nvSpPr>
        <p:spPr>
          <a:xfrm xmlns:a="http://schemas.openxmlformats.org/drawingml/2006/main">
            <a:off x="7524750" y="2990850"/>
            <a:ext cx="3714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Measure source usefulness</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and repeat research.</a:t>
            </a:r>
          </a:p>
        </p:txBody>
      </p:sp>
      <p:sp>
        <p:nvSpPr>
          <p:cNvPr id="6" name="close-rule">
            <a:extLst xmlns:a="http://schemas.openxmlformats.org/drawingml/2006/main">
              <a:ext uri="{FF2B5EF4-FFF2-40B4-BE49-F238E27FC236}">
                <a16:creationId xmlns:a16="http://schemas.microsoft.com/office/drawing/2014/main" id="{1C74EE99-B422-4438-A8DC-8CB145B6B295}"/>
              </a:ext>
            </a:extLst>
          </p:cNvPr>
          <p:cNvSpPr>
            <a:spLocks xmlns:a="http://schemas.openxmlformats.org/drawingml/2006/main" noGrp="1"/>
          </p:cNvSpPr>
          <p:nvPr/>
        </p:nvSpPr>
        <p:spPr>
          <a:xfrm xmlns:a="http://schemas.openxmlformats.org/drawingml/2006/main">
            <a:off x="762000" y="4552950"/>
            <a:ext cx="10668000" cy="19050"/>
          </a:xfrm>
          <a:prstGeom xmlns:a="http://schemas.openxmlformats.org/drawingml/2006/main" prst="rect">
            <a:avLst/>
          </a:prstGeom>
          <a:solidFill xmlns:a="http://schemas.openxmlformats.org/drawingml/2006/main">
            <a:srgbClr val="A8B7FF"/>
          </a:solidFill>
          <a:ln xmlns:a="http://schemas.openxmlformats.org/drawingml/2006/main" w="0">
            <a:noFill/>
          </a:ln>
        </p:spPr>
      </p:sp>
      <p:sp>
        <p:nvSpPr>
          <p:cNvPr id="7" name="close-link">
            <a:extLst xmlns:a="http://schemas.openxmlformats.org/drawingml/2006/main">
              <a:ext uri="{FF2B5EF4-FFF2-40B4-BE49-F238E27FC236}">
                <a16:creationId xmlns:a16="http://schemas.microsoft.com/office/drawing/2014/main" id="{1252DEC7-741F-4306-A49D-91390C72A441}"/>
              </a:ext>
            </a:extLst>
          </p:cNvPr>
          <p:cNvSpPr>
            <a:spLocks xmlns:a="http://schemas.openxmlformats.org/drawingml/2006/main" noGrp="1"/>
          </p:cNvSpPr>
          <p:nvPr/>
        </p:nvSpPr>
        <p:spPr>
          <a:xfrm xmlns:a="http://schemas.openxmlformats.org/drawingml/2006/main">
            <a:off x="781050" y="506730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a:solidFill>
                  <a:srgbClr val="FFFFFF"/>
                </a:solidFill>
                <a:latin typeface="Consolas"/>
                <a:ea typeface="Consolas"/>
                <a:cs typeface="Consolas"/>
              </a:defRPr>
            </a:pPr>
            <a:r>
              <a:rPr sz="1425" b="1">
                <a:solidFill>
                  <a:srgbClr val="FFFFFF"/>
                </a:solidFill>
                <a:latin typeface="Consolas"/>
                <a:ea typeface="Consolas"/>
                <a:cs typeface="Consolas"/>
              </a:rPr>
              <a:t>read.whoim.space/research/</a:t>
            </a:r>
          </a:p>
        </p:txBody>
      </p:sp>
      <p:sp>
        <p:nvSpPr>
          <p:cNvPr id="8" name="close-github">
            <a:extLst xmlns:a="http://schemas.openxmlformats.org/drawingml/2006/main">
              <a:ext uri="{FF2B5EF4-FFF2-40B4-BE49-F238E27FC236}">
                <a16:creationId xmlns:a16="http://schemas.microsoft.com/office/drawing/2014/main" id="{BF20CBFD-4C1B-4031-92C8-2F0D8A3CD3A4}"/>
              </a:ext>
            </a:extLst>
          </p:cNvPr>
          <p:cNvSpPr>
            <a:spLocks xmlns:a="http://schemas.openxmlformats.org/drawingml/2006/main" noGrp="1"/>
          </p:cNvSpPr>
          <p:nvPr/>
        </p:nvSpPr>
        <p:spPr>
          <a:xfrm xmlns:a="http://schemas.openxmlformats.org/drawingml/2006/main">
            <a:off x="781050" y="5543550"/>
            <a:ext cx="619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0">
                <a:solidFill>
                  <a:srgbClr val="FFFFFF"/>
                </a:solidFill>
                <a:latin typeface="Consolas"/>
                <a:ea typeface="Consolas"/>
                <a:cs typeface="Consolas"/>
              </a:defRPr>
            </a:pPr>
            <a:r>
              <a:rPr sz="1425" b="0">
                <a:solidFill>
                  <a:srgbClr val="FFFFFF"/>
                </a:solidFill>
                <a:latin typeface="Consolas"/>
                <a:ea typeface="Consolas"/>
                <a:cs typeface="Consolas"/>
              </a:rPr>
              <a:t>github.com/who1900/dtox-research</a:t>
            </a:r>
          </a:p>
        </p:txBody>
      </p:sp>
    </p:spTree>
    <p:extLst>
      <p:ext uri="{BB962C8B-B14F-4D97-AF65-F5344CB8AC3E}">
        <p14:creationId xmlns:p14="http://schemas.microsoft.com/office/powerpoint/2010/main" val="2345543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2026-10-05T10:52:43.8210000Z</dcterms:created>
  <dcterms:modified xsi:type="dcterms:W3CDTF">2026-10-05T10:52:43.8210000Z</dcterms:modified>
</coreProperties>
</file>