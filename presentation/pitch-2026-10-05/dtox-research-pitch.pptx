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c90967f52614c84" /><Relationship Type="http://schemas.openxmlformats.org/officeDocument/2006/relationships/extended-properties" Target="/docProps/app.xml" Id="R596d877a36b14959" /><Relationship Type="http://schemas.openxmlformats.org/officeDocument/2006/relationships/officeDocument" Target="/ppt/presentation.xml" Id="Rd8b6f808b7004583" /></Relationships>
</file>

<file path=ppt/presentation.xml><?xml version="1.0" encoding="utf-8"?>
<p:presentation xmlns:p="http://schemas.openxmlformats.org/presentationml/2006/main">
  <p:sldMasterIdLst>
    <p:sldMasterId xmlns:r="http://schemas.openxmlformats.org/officeDocument/2006/relationships" id="2147483648" r:id="R4ecf079dac7e4449"/>
  </p:sldMasterIdLst>
  <p:notesMasterIdLst>
    <p:notesMasterId xmlns:r="http://schemas.openxmlformats.org/officeDocument/2006/relationships" r:id="Rb69f3844c5234a51"/>
  </p:notesMasterIdLst>
  <p:sldIdLst>
    <p:sldId xmlns:r="http://schemas.openxmlformats.org/officeDocument/2006/relationships" id="256" r:id="R7395b2e1ec054a43"/>
    <p:sldId xmlns:r="http://schemas.openxmlformats.org/officeDocument/2006/relationships" id="257" r:id="R9240c682061e4bc0"/>
    <p:sldId xmlns:r="http://schemas.openxmlformats.org/officeDocument/2006/relationships" id="258" r:id="Rc304f4b7e8ef4fb0"/>
    <p:sldId xmlns:r="http://schemas.openxmlformats.org/officeDocument/2006/relationships" id="259" r:id="R0f0497552042495c"/>
    <p:sldId xmlns:r="http://schemas.openxmlformats.org/officeDocument/2006/relationships" id="260" r:id="R2e141dc429124149"/>
    <p:sldId xmlns:r="http://schemas.openxmlformats.org/officeDocument/2006/relationships" id="261" r:id="R621b97ad1dd741c8"/>
    <p:sldId xmlns:r="http://schemas.openxmlformats.org/officeDocument/2006/relationships" id="262" r:id="R98073a28a2814fe1"/>
    <p:sldId xmlns:r="http://schemas.openxmlformats.org/officeDocument/2006/relationships" id="263" r:id="R99397729e4874545"/>
    <p:sldId xmlns:r="http://schemas.openxmlformats.org/officeDocument/2006/relationships" id="264" r:id="R6432e4e9df1c4626"/>
    <p:sldId xmlns:r="http://schemas.openxmlformats.org/officeDocument/2006/relationships" id="265" r:id="Ra6fcbdd0251d47b9"/>
    <p:sldId xmlns:r="http://schemas.openxmlformats.org/officeDocument/2006/relationships" id="266" r:id="R276d0b6b642f41e4"/>
    <p:sldId xmlns:r="http://schemas.openxmlformats.org/officeDocument/2006/relationships" id="267" r:id="R9877ad623725411c"/>
    <p:sldId xmlns:r="http://schemas.openxmlformats.org/officeDocument/2006/relationships" id="268" r:id="R6daad7e830414d24"/>
    <p:sldId xmlns:r="http://schemas.openxmlformats.org/officeDocument/2006/relationships" id="269" r:id="Rb793bec619fd41b7"/>
    <p:sldId xmlns:r="http://schemas.openxmlformats.org/officeDocument/2006/relationships" id="270" r:id="R9a97b0839615409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a32cbb72f72441e" /><Relationship Type="http://schemas.openxmlformats.org/officeDocument/2006/relationships/slideMaster" Target="/ppt/slideMasters/slideMaster1.xml" Id="R4ecf079dac7e4449" /><Relationship Type="http://schemas.openxmlformats.org/officeDocument/2006/relationships/notesMaster" Target="/ppt/notesMasters/notesMaster1.xml" Id="Rb69f3844c5234a51" /><Relationship Type="http://schemas.openxmlformats.org/officeDocument/2006/relationships/presProps" Target="/ppt/presProps.xml" Id="Rcdcaed8b96f54d56" /><Relationship Type="http://schemas.openxmlformats.org/officeDocument/2006/relationships/tableStyles" Target="/ppt/tableStyles.xml" Id="Raa8e887b79144245" /><Relationship Type="http://schemas.openxmlformats.org/officeDocument/2006/relationships/slide" Target="/ppt/slides/slide1.xml" Id="R7395b2e1ec054a43" /><Relationship Type="http://schemas.openxmlformats.org/officeDocument/2006/relationships/slide" Target="/ppt/slides/slide2.xml" Id="R9240c682061e4bc0" /><Relationship Type="http://schemas.openxmlformats.org/officeDocument/2006/relationships/slide" Target="/ppt/slides/slide3.xml" Id="Rc304f4b7e8ef4fb0" /><Relationship Type="http://schemas.openxmlformats.org/officeDocument/2006/relationships/slide" Target="/ppt/slides/slide4.xml" Id="R0f0497552042495c" /><Relationship Type="http://schemas.openxmlformats.org/officeDocument/2006/relationships/slide" Target="/ppt/slides/slide5.xml" Id="R2e141dc429124149" /><Relationship Type="http://schemas.openxmlformats.org/officeDocument/2006/relationships/slide" Target="/ppt/slides/slide6.xml" Id="R621b97ad1dd741c8" /><Relationship Type="http://schemas.openxmlformats.org/officeDocument/2006/relationships/slide" Target="/ppt/slides/slide7.xml" Id="R98073a28a2814fe1" /><Relationship Type="http://schemas.openxmlformats.org/officeDocument/2006/relationships/slide" Target="/ppt/slides/slide8.xml" Id="R99397729e4874545" /><Relationship Type="http://schemas.openxmlformats.org/officeDocument/2006/relationships/slide" Target="/ppt/slides/slide9.xml" Id="R6432e4e9df1c4626" /><Relationship Type="http://schemas.openxmlformats.org/officeDocument/2006/relationships/slide" Target="/ppt/slides/slide10.xml" Id="Ra6fcbdd0251d47b9" /><Relationship Type="http://schemas.openxmlformats.org/officeDocument/2006/relationships/slide" Target="/ppt/slides/slide11.xml" Id="R276d0b6b642f41e4" /><Relationship Type="http://schemas.openxmlformats.org/officeDocument/2006/relationships/slide" Target="/ppt/slides/slide12.xml" Id="R9877ad623725411c" /><Relationship Type="http://schemas.openxmlformats.org/officeDocument/2006/relationships/slide" Target="/ppt/slides/slide13.xml" Id="R6daad7e830414d24" /><Relationship Type="http://schemas.openxmlformats.org/officeDocument/2006/relationships/slide" Target="/ppt/slides/slide14.xml" Id="Rb793bec619fd41b7" /><Relationship Type="http://schemas.openxmlformats.org/officeDocument/2006/relationships/slide" Target="/ppt/slides/slide15.xml" Id="R9a97b0839615409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2d181bf1d3f4a9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844f726336f408a" /><Relationship Type="http://schemas.openxmlformats.org/officeDocument/2006/relationships/notesMaster" Target="/ppt/notesMasters/notesMaster1.xml" Id="R72dcc9fce49e485c" /></Relationships>
</file>

<file path=ppt/notesSlides/_rels/notesSlide2.xml.rels>&#65279;<?xml version="1.0" encoding="utf-8"?><Relationships xmlns="http://schemas.openxmlformats.org/package/2006/relationships"><Relationship Type="http://schemas.openxmlformats.org/officeDocument/2006/relationships/slide" Target="/ppt/slides/slide2.xml" Id="Ra596aed245d1424d" /><Relationship Type="http://schemas.openxmlformats.org/officeDocument/2006/relationships/notesMaster" Target="/ppt/notesMasters/notesMaster1.xml" Id="R0afdad289841480e" /></Relationships>
</file>

<file path=ppt/notesSlides/_rels/notesSlide3.xml.rels>&#65279;<?xml version="1.0" encoding="utf-8"?><Relationships xmlns="http://schemas.openxmlformats.org/package/2006/relationships"><Relationship Type="http://schemas.openxmlformats.org/officeDocument/2006/relationships/slide" Target="/ppt/slides/slide3.xml" Id="Rf4005ccfdaf9461a" /><Relationship Type="http://schemas.openxmlformats.org/officeDocument/2006/relationships/notesMaster" Target="/ppt/notesMasters/notesMaster1.xml" Id="R633e405ea2344ce0" /></Relationships>
</file>

<file path=ppt/notesSlides/_rels/notesSlide4.xml.rels>&#65279;<?xml version="1.0" encoding="utf-8"?><Relationships xmlns="http://schemas.openxmlformats.org/package/2006/relationships"><Relationship Type="http://schemas.openxmlformats.org/officeDocument/2006/relationships/slide" Target="/ppt/slides/slide4.xml" Id="Rca3981ef9b544a4d" /><Relationship Type="http://schemas.openxmlformats.org/officeDocument/2006/relationships/notesMaster" Target="/ppt/notesMasters/notesMaster1.xml" Id="Rbf7123c73e244e46" /></Relationships>
</file>

<file path=ppt/notesSlides/_rels/notesSlide5.xml.rels>&#65279;<?xml version="1.0" encoding="utf-8"?><Relationships xmlns="http://schemas.openxmlformats.org/package/2006/relationships"><Relationship Type="http://schemas.openxmlformats.org/officeDocument/2006/relationships/slide" Target="/ppt/slides/slide5.xml" Id="R314ebdd6dba74310" /><Relationship Type="http://schemas.openxmlformats.org/officeDocument/2006/relationships/notesMaster" Target="/ppt/notesMasters/notesMaster1.xml" Id="Rf85bb974292f4334" /></Relationships>
</file>

<file path=ppt/notesSlides/_rels/notesSlide6.xml.rels>&#65279;<?xml version="1.0" encoding="utf-8"?><Relationships xmlns="http://schemas.openxmlformats.org/package/2006/relationships"><Relationship Type="http://schemas.openxmlformats.org/officeDocument/2006/relationships/slide" Target="/ppt/slides/slide6.xml" Id="R21e8ebd3df5f4bd2" /><Relationship Type="http://schemas.openxmlformats.org/officeDocument/2006/relationships/notesMaster" Target="/ppt/notesMasters/notesMaster1.xml" Id="R818819582ce54f28" /></Relationships>
</file>

<file path=ppt/notesSlides/_rels/notesSlide7.xml.rels>&#65279;<?xml version="1.0" encoding="utf-8"?><Relationships xmlns="http://schemas.openxmlformats.org/package/2006/relationships"><Relationship Type="http://schemas.openxmlformats.org/officeDocument/2006/relationships/slide" Target="/ppt/slides/slide7.xml" Id="R066d1a9112404cc8" /><Relationship Type="http://schemas.openxmlformats.org/officeDocument/2006/relationships/notesMaster" Target="/ppt/notesMasters/notesMaster1.xml" Id="Re70877759bd54bc5" /></Relationships>
</file>

<file path=ppt/notesSlides/_rels/notesSlide8.xml.rels>&#65279;<?xml version="1.0" encoding="utf-8"?><Relationships xmlns="http://schemas.openxmlformats.org/package/2006/relationships"><Relationship Type="http://schemas.openxmlformats.org/officeDocument/2006/relationships/slide" Target="/ppt/slides/slide8.xml" Id="Rd17e158fd49e40a5" /><Relationship Type="http://schemas.openxmlformats.org/officeDocument/2006/relationships/notesMaster" Target="/ppt/notesMasters/notesMaster1.xml" Id="Rcf6a272683c044bf" /></Relationships>
</file>

<file path=ppt/notesSlides/_rels/notesSlide9.xml.rels>&#65279;<?xml version="1.0" encoding="utf-8"?><Relationships xmlns="http://schemas.openxmlformats.org/package/2006/relationships"><Relationship Type="http://schemas.openxmlformats.org/officeDocument/2006/relationships/slide" Target="/ppt/slides/slide9.xml" Id="R5cf671edda404f54" /><Relationship Type="http://schemas.openxmlformats.org/officeDocument/2006/relationships/notesMaster" Target="/ppt/notesMasters/notesMaster1.xml" Id="Rec7d1c1f671a4e8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316e8cddde54d2a" /><Relationship Type="http://schemas.openxmlformats.org/officeDocument/2006/relationships/notesMaster" Target="/ppt/notesMasters/notesMaster1.xml" Id="R2004d7bbc0064e5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1113e11ae9b4024" /><Relationship Type="http://schemas.openxmlformats.org/officeDocument/2006/relationships/notesMaster" Target="/ppt/notesMasters/notesMaster1.xml" Id="R822c7a682238478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fc8b09541ca4afe" /><Relationship Type="http://schemas.openxmlformats.org/officeDocument/2006/relationships/notesMaster" Target="/ppt/notesMasters/notesMaster1.xml" Id="R9bba6caf560543f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9f54e6da4984144" /><Relationship Type="http://schemas.openxmlformats.org/officeDocument/2006/relationships/notesMaster" Target="/ppt/notesMasters/notesMaster1.xml" Id="R57193ed5d723499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24e0a08d00a411d" /><Relationship Type="http://schemas.openxmlformats.org/officeDocument/2006/relationships/notesMaster" Target="/ppt/notesMasters/notesMaster1.xml" Id="Ra30736462dd249e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df08965d6914085" /><Relationship Type="http://schemas.openxmlformats.org/officeDocument/2006/relationships/notesMaster" Target="/ppt/notesMasters/notesMaster1.xml" Id="R88701deb00a2430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dtox research is a Web3-first research retrieval service for agents. It returns source-linked evidence, including structured formulas when available and author-stated limitations where indexed. Public free beta as of October 5, 2026.</a:t>
            </a:r>
          </a:p>
          <a:p xmlns:a="http://schemas.openxmlformats.org/drawingml/2006/main">
            <a:r>
              <a:t>Sources: https://read.whoim.space/research/</a:t>
            </a:r>
          </a:p>
          <a:p xmlns:a="http://schemas.openxmlformats.org/drawingml/2006/main">
            <a:r>
              <a:t>https://github.com/who1900/dtox-research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Protocol design decisions depend on details and assumptions in source research.</a:t>
            </a:r>
          </a:p>
          <a:p xmlns:a="http://schemas.openxmlformats.org/drawingml/2006/main">
            <a:r>
              <a:t>Project context: https://github.com/who1900/dtox-research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customer: teams building Web3 protocols. Adjacent expansion hypotheses include wallet and security teams and agent platforms.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public MCP currently exposes 13 tools. Search, read, structured math retrieval, method comparison, bounded research bundles, validation, and signed verdict recording are available. Retrieval is bounded and source provenance should be checked. Full text varies by record.</a:t>
            </a:r>
          </a:p>
          <a:p xmlns:a="http://schemas.openxmlformats.org/drawingml/2006/main">
            <a:r>
              <a:t>Sources: https://github.com/who1900/dtox-research</a:t>
            </a:r>
          </a:p>
          <a:p xmlns:a="http://schemas.openxmlformats.org/drawingml/2006/main">
            <a:r>
              <a:t>https://read.whoim.space/mcp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Equation 4 in the BEV Auction Modeling section of arXiv 2101.05511. The top line is readable notation for Eq. 4. The next line preserves the exact original LaTeX returned by get_code_or_math_spec. The authors assume player rewards are independently drawn from the same uniform distribution, with n and that distribution known as prior information. Source extraction returned exact_latex=true.</a:t>
            </a:r>
          </a:p>
          <a:p xmlns:a="http://schemas.openxmlformats.org/drawingml/2006/main">
            <a:r>
              <a:t>Paper HTML: https://arxiv.org/html/2101.05511v5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EIP-4337 Security Considerations state that EntryPoint is a central trust point and concentrates security risk. The authors say it needs auditing and formal verification, including safety against arbitrary hijacking and fee draining.</a:t>
            </a:r>
          </a:p>
          <a:p xmlns:a="http://schemas.openxmlformats.org/drawingml/2006/main">
            <a:r>
              <a:t>Source: https://eips.ethereum.org/EIPS/eip-4337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free MCP read endpoint is live. x402 payment is an optional devnet experiment. Elicit also offers API and MCP, so dtox does not claim MCP exclusivity.</a:t>
            </a:r>
          </a:p>
          <a:p xmlns:a="http://schemas.openxmlformats.org/drawingml/2006/main">
            <a:r>
              <a:t>Elicit API and MCP announcement (July 15, 2026): https://elicit.com/blog/the-elicit-api-and-mcp-powering-autonomous-research-engines</a:t>
            </a:r>
          </a:p>
          <a:p xmlns:a="http://schemas.openxmlformats.org/drawingml/2006/main">
            <a:r>
              <a:t>Project overview: https://github.com/who1900/dtox-research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 corpus counters at 2026-10-05 09:30 UTC: 180,833 documents; 17,365 Web3 documents; 10,801,846 structural chunks; 3,388,455 citation edges. Full-text availability is per record. The strategic asset hypothesis is a maintained Web3 corpus structured for evidence retrieval.</a:t>
            </a:r>
          </a:p>
          <a:p xmlns:a="http://schemas.openxmlformats.org/drawingml/2006/main">
            <a:r>
              <a:t>Public stats: https://read.whoim.space/research/stats.json</a:t>
            </a:r>
          </a:p>
          <a:p xmlns:a="http://schemas.openxmlformats.org/drawingml/2006/main">
            <a:r>
              <a:t>Project documentation: https://github.com/who1900/dtox-research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Competitive positioning focuses on workflow scope. Sources are included in the comparison notes and evidence ledger.</a:t>
            </a:r>
          </a:p>
          <a:p xmlns:a="http://schemas.openxmlformats.org/drawingml/2006/main">
            <a:r>
              <a:t/>
            </a:r>
          </a:p>
          <a:p xmlns:a="http://schemas.openxmlformats.org/drawingml/2006/main">
            <a:r>
              <a:t>Competitor workflows: Semantic Scholar supports discovery, metadata and citations. Elicit supports literature synthesis, extraction, API and MCP. arxiv-mcp-server supports original LaTeX reading and topic watches. dtox focuses on Web3 papers and specifications linked to implementation questions.</a:t>
            </a:r>
          </a:p>
          <a:p xmlns:a="http://schemas.openxmlformats.org/drawingml/2006/main">
            <a:r>
              <a:t>Sources: https://api.semanticscholar.org/api-docs/</a:t>
            </a:r>
          </a:p>
          <a:p xmlns:a="http://schemas.openxmlformats.org/drawingml/2006/main">
            <a:r>
              <a:t>https://elicit.com/</a:t>
            </a:r>
          </a:p>
          <a:p xmlns:a="http://schemas.openxmlformats.org/drawingml/2006/main">
            <a:r>
              <a:t>https://elicit.com/blog/the-elicit-api-and-mcp-powering-autonomous-research-engines</a:t>
            </a:r>
          </a:p>
          <a:p xmlns:a="http://schemas.openxmlformats.org/drawingml/2006/main">
            <a:r>
              <a:t>https://github.com/blazickjp/arxiv-mcp-server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Historical Solana devnet x402 settlement from 2026-09-29. Wallet-signed attestation is an authorship and attribution signal, not correctness, sybil resistance, or independent consensus. Solana is demonstrated on devnet. Base, Ethereum, and Arbitrum have configured testnet support, with end-to-end proof pending. No mainnet claim.</a:t>
            </a:r>
          </a:p>
          <a:p xmlns:a="http://schemas.openxmlformats.org/drawingml/2006/main">
            <a:r>
              <a:t>Transaction: https://explorer.solana.com/tx/5DWkk85AFVHSTCqeSEbq8SpxEAtfkSRgQZLPJy9ZyCnTvZczsyD86yKELGWf5xYrDrF5wTvt3txUL19NFLYmrBvG?cluster=devnet</a:t>
            </a:r>
          </a:p>
          <a:p xmlns:a="http://schemas.openxmlformats.org/drawingml/2006/main">
            <a:r>
              <a:t>Attestation: https://explorer.solana.com/address/6pC4NS96euD9G7jPtjvXbVs1ffaWAjKdJMkX799Mq6eL?cluster=devnet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public research MCP is free. Proposed monetization includes optional credits or x402 access for heavier usage and team integrations. This remains a hypothesis, not a deployed exclusive paid tier, proven demand, paid pilot, or revenue. The next validation milestone is to recruit design partners and measure repeat usage and willingness to pay. No external pilot feedback is claimed.</a:t>
            </a:r>
          </a:p>
          <a:p xmlns:a="http://schemas.openxmlformats.org/drawingml/2006/main">
            <a:r>
              <a:t>Free MCP: https://read.whoim.space/mcp</a:t>
            </a:r>
          </a:p>
          <a:p xmlns:a="http://schemas.openxmlformats.org/drawingml/2006/main">
            <a:r>
              <a:t>Research site: https://read.whoim.space/research/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information is attributed to the founder-provided CV. It reports independent mobile, Web3, and AI product work since 2019; blockchain, dApp, and wallet QA experience since 2020; and two apps live in the Solana Seeker dApp Store, SeekerVault and X-Booster/Aibat.</a:t>
            </a:r>
          </a:p>
          <a:p xmlns:a="http://schemas.openxmlformats.org/drawingml/2006/main">
            <a:r>
              <a:t>Portfolio: https://portfolio.whoim.space/</a:t>
            </a:r>
          </a:p>
          <a:p xmlns:a="http://schemas.openxmlformats.org/drawingml/2006/main">
            <a:r>
              <a:t>LinkedIn: https://www.linkedin.com/in/daniyar-gabdullin-11312b252/</a:t>
            </a:r>
          </a:p>
          <a:p xmlns:a="http://schemas.openxmlformats.org/drawingml/2006/main">
            <a:r>
              <a:t>CV: https://portfolio.whoim.space/Daniyar_Gabdullin_CV.pdf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Call to action: connect the free MCP endpoint and test one concrete Web3 design question. The research service returns evidence candidates with provenance. Users should inspect source links and full-text markers.</a:t>
            </a:r>
          </a:p>
          <a:p xmlns:a="http://schemas.openxmlformats.org/drawingml/2006/main">
            <a:r>
              <a:t>MCP: https://read.whoim.space/mcp</a:t>
            </a:r>
          </a:p>
          <a:p xmlns:a="http://schemas.openxmlformats.org/drawingml/2006/main">
            <a:r>
              <a:t>Research: https://read.whoim.space/research/</a:t>
            </a:r>
          </a:p>
          <a:p xmlns:a="http://schemas.openxmlformats.org/drawingml/2006/main">
            <a:r>
              <a:t>Code: https://github.com/who1900/dtox-research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text availability is per record. Some arXiv records have original LaTeX, while others fall back to abstracts. PDF extraction is not exact original LaTeX. Empty results reflect index and retrieval limits and never prove novelty. Patents are not indexed.</a:t>
            </a:r>
          </a:p>
          <a:p xmlns:a="http://schemas.openxmlformats.org/drawingml/2006/main">
            <a:r>
              <a:t>Project scope: https://github.com/who1900/dtox-research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Development began July 31, 2026, before the Crypto World's Fair contest start on September 14, 2026. During the contest the project added wallet-signed SAS attestations, Solana devnet x402 settlement, hierarchical retrieval, and a Web3 evidence demo.</a:t>
            </a:r>
          </a:p>
          <a:p xmlns:a="http://schemas.openxmlformats.org/drawingml/2006/main">
            <a:r>
              <a:t>Project submission and sources: https://github.com/who1900/dtox-research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0b68584de6d421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03b8cfdf3d74b94" /><Relationship Type="http://schemas.openxmlformats.org/officeDocument/2006/relationships/slideLayout" Target="/ppt/slideLayouts/slideLayout1.xml" Id="R8c636848a808424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c636848a808424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5f578f55cd749d0" /><Relationship Type="http://schemas.openxmlformats.org/officeDocument/2006/relationships/notesSlide" Target="/ppt/notesSlides/notesSlide1.xml" Id="R2a9c3884737544c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18caac9644d41d0" /><Relationship Type="http://schemas.openxmlformats.org/officeDocument/2006/relationships/notesSlide" Target="/ppt/notesSlides/notesSlide2.xml" Id="Rd1523e1c7b0544b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53046c9bff6400b" /><Relationship Type="http://schemas.openxmlformats.org/officeDocument/2006/relationships/notesSlide" Target="/ppt/notesSlides/notesSlide3.xml" Id="R1fc7c32d43064b2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dbd71da1d414aff" /><Relationship Type="http://schemas.openxmlformats.org/officeDocument/2006/relationships/notesSlide" Target="/ppt/notesSlides/notesSlide4.xml" Id="R4ee7249310ad444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a212a1cc54c40cc" /><Relationship Type="http://schemas.openxmlformats.org/officeDocument/2006/relationships/notesSlide" Target="/ppt/notesSlides/notesSlide5.xml" Id="R59eb4004cbf64d0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2152c7335284b0c" /><Relationship Type="http://schemas.openxmlformats.org/officeDocument/2006/relationships/notesSlide" Target="/ppt/notesSlides/notesSlide6.xml" Id="R84030203416f49e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4b92853b8b84d7e" /><Relationship Type="http://schemas.openxmlformats.org/officeDocument/2006/relationships/notesSlide" Target="/ppt/notesSlides/notesSlide7.xml" Id="R2526a2ca9cf94e9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6ac1e449ae74144" /><Relationship Type="http://schemas.openxmlformats.org/officeDocument/2006/relationships/notesSlide" Target="/ppt/notesSlides/notesSlide8.xml" Id="Rb2d52e7eb0654b5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8e12ea297e247a4" /><Relationship Type="http://schemas.openxmlformats.org/officeDocument/2006/relationships/notesSlide" Target="/ppt/notesSlides/notesSlide9.xml" Id="Rfd88b584d6ba4de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1b793557c044eaf" /><Relationship Type="http://schemas.openxmlformats.org/officeDocument/2006/relationships/notesSlide" Target="/ppt/notesSlides/notesSlide10.xml" Id="Ra5340354a5e4426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f5e7f78253c4eb5" /><Relationship Type="http://schemas.openxmlformats.org/officeDocument/2006/relationships/notesSlide" Target="/ppt/notesSlides/notesSlide11.xml" Id="R29265e7d8b6d49b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bbea49e9a2d4f12" /><Relationship Type="http://schemas.openxmlformats.org/officeDocument/2006/relationships/notesSlide" Target="/ppt/notesSlides/notesSlide12.xml" Id="Rf07a2a1ef896411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307414c87394262" /><Relationship Type="http://schemas.openxmlformats.org/officeDocument/2006/relationships/notesSlide" Target="/ppt/notesSlides/notesSlide13.xml" Id="R47d11f8a6011412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b102ff0668d4049" /><Relationship Type="http://schemas.openxmlformats.org/officeDocument/2006/relationships/notesSlide" Target="/ppt/notesSlides/notesSlide14.xml" Id="Ref61928d975844c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85838c888724c6e" /><Relationship Type="http://schemas.openxmlformats.org/officeDocument/2006/relationships/notesSlide" Target="/ppt/notesSlides/notesSlide15.xml" Id="Rda7aab4192a94956" /></Relationships>
</file>

<file path=ppt/slides/slide1.xml><?xml version="1.0" encoding="utf-8"?>
<p:sld xmlns:p="http://schemas.openxmlformats.org/presentationml/2006/main">
  <p:cSld>
    <p:bg>
      <p:bgPr>
        <a:solidFill xmlns:a="http://schemas.openxmlformats.org/drawingml/2006/main">
          <a:srgbClr val="14263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00EA2B0-26EA-4B10-B898-FD3ED7775EBE}"/>
              </a:ext>
            </a:extLst>
          </p:cNvPr>
          <p:cNvSpPr>
            <a:spLocks xmlns:a="http://schemas.openxmlformats.org/drawingml/2006/main" noGrp="1"/>
          </p:cNvSpPr>
          <p:nvPr/>
        </p:nvSpPr>
        <p:spPr>
          <a:xfrm xmlns:a="http://schemas.openxmlformats.org/drawingml/2006/main">
            <a:off x="819150" y="72390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E7AE34"/>
                </a:solidFill>
                <a:latin typeface="Consolas"/>
                <a:ea typeface="Consolas"/>
                <a:cs typeface="Consolas"/>
              </a:defRPr>
            </a:pPr>
            <a:r>
              <a:rPr sz="1350" b="0">
                <a:solidFill>
                  <a:srgbClr val="E7AE34"/>
                </a:solidFill>
                <a:latin typeface="Consolas"/>
                <a:ea typeface="Consolas"/>
                <a:cs typeface="Consolas"/>
              </a:rPr>
              <a:t>DTOX RESEARCH     /     WEB3 EVIDENCE FOR AGENTS</a:t>
            </a:r>
          </a:p>
        </p:txBody>
      </p:sp>
      <p:sp>
        <p:nvSpPr>
          <p:cNvPr id="2" name="">
            <a:extLst xmlns:a="http://schemas.openxmlformats.org/drawingml/2006/main">
              <a:ext uri="{FF2B5EF4-FFF2-40B4-BE49-F238E27FC236}">
                <a16:creationId xmlns:a16="http://schemas.microsoft.com/office/drawing/2014/main" id="{166277FE-0F5D-46E5-9F02-064627D958EE}"/>
              </a:ext>
            </a:extLst>
          </p:cNvPr>
          <p:cNvSpPr>
            <a:spLocks xmlns:a="http://schemas.openxmlformats.org/drawingml/2006/main" noGrp="1"/>
          </p:cNvSpPr>
          <p:nvPr/>
        </p:nvSpPr>
        <p:spPr>
          <a:xfrm xmlns:a="http://schemas.openxmlformats.org/drawingml/2006/main">
            <a:off x="742950" y="1600200"/>
            <a:ext cx="102870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6450" b="1">
                <a:solidFill>
                  <a:srgbClr val="FAFAF3"/>
                </a:solidFill>
                <a:latin typeface="Arial"/>
                <a:ea typeface="Arial"/>
                <a:cs typeface="Arial"/>
              </a:defRPr>
            </a:pPr>
            <a:r>
              <a:rPr sz="6450" b="1">
                <a:solidFill>
                  <a:srgbClr val="FAFAF3"/>
                </a:solidFill>
                <a:latin typeface="Arial"/>
                <a:ea typeface="Arial"/>
                <a:cs typeface="Arial"/>
              </a:rPr>
              <a:t>Web3 research</a:t>
            </a:r>
          </a:p>
          <a:p xmlns:a="http://schemas.openxmlformats.org/drawingml/2006/main">
            <a:pPr algn="l">
              <a:defRPr sz="6450" b="1">
                <a:solidFill>
                  <a:srgbClr val="FAFAF3"/>
                </a:solidFill>
                <a:latin typeface="Arial"/>
                <a:ea typeface="Arial"/>
                <a:cs typeface="Arial"/>
              </a:defRPr>
            </a:pPr>
            <a:r>
              <a:rPr sz="6450" b="1">
                <a:solidFill>
                  <a:srgbClr val="FAFAF3"/>
                </a:solidFill>
                <a:latin typeface="Arial"/>
                <a:ea typeface="Arial"/>
                <a:cs typeface="Arial"/>
              </a:rPr>
              <a:t>your agent can</a:t>
            </a:r>
          </a:p>
          <a:p xmlns:a="http://schemas.openxmlformats.org/drawingml/2006/main">
            <a:pPr algn="l">
              <a:defRPr sz="6450" b="1">
                <a:solidFill>
                  <a:srgbClr val="FAFAF3"/>
                </a:solidFill>
                <a:latin typeface="Arial"/>
                <a:ea typeface="Arial"/>
                <a:cs typeface="Arial"/>
              </a:defRPr>
            </a:pPr>
            <a:r>
              <a:rPr sz="6450" b="1">
                <a:solidFill>
                  <a:srgbClr val="FAFAF3"/>
                </a:solidFill>
                <a:latin typeface="Arial"/>
                <a:ea typeface="Arial"/>
                <a:cs typeface="Arial"/>
              </a:rPr>
              <a:t>build from.</a:t>
            </a:r>
          </a:p>
        </p:txBody>
      </p:sp>
      <p:sp>
        <p:nvSpPr>
          <p:cNvPr id="3" name="">
            <a:extLst xmlns:a="http://schemas.openxmlformats.org/drawingml/2006/main">
              <a:ext uri="{FF2B5EF4-FFF2-40B4-BE49-F238E27FC236}">
                <a16:creationId xmlns:a16="http://schemas.microsoft.com/office/drawing/2014/main" id="{77058598-19D9-460D-B016-F0C366AB9ED2}"/>
              </a:ext>
            </a:extLst>
          </p:cNvPr>
          <p:cNvSpPr>
            <a:spLocks xmlns:a="http://schemas.openxmlformats.org/drawingml/2006/main" noGrp="1"/>
          </p:cNvSpPr>
          <p:nvPr/>
        </p:nvSpPr>
        <p:spPr>
          <a:xfrm xmlns:a="http://schemas.openxmlformats.org/drawingml/2006/main">
            <a:off x="800100" y="5095875"/>
            <a:ext cx="895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0">
                <a:solidFill>
                  <a:srgbClr val="FAFAF3"/>
                </a:solidFill>
                <a:latin typeface="Arial"/>
                <a:ea typeface="Arial"/>
                <a:cs typeface="Arial"/>
              </a:defRPr>
            </a:pPr>
            <a:r>
              <a:rPr sz="2325" b="0">
                <a:solidFill>
                  <a:srgbClr val="FAFAF3"/>
                </a:solidFill>
                <a:latin typeface="Arial"/>
                <a:ea typeface="Arial"/>
                <a:cs typeface="Arial"/>
              </a:rPr>
              <a:t>Source equations. Author-stated limitations.</a:t>
            </a:r>
          </a:p>
        </p:txBody>
      </p:sp>
      <p:sp>
        <p:nvSpPr>
          <p:cNvPr id="4" name="">
            <a:extLst xmlns:a="http://schemas.openxmlformats.org/drawingml/2006/main">
              <a:ext uri="{FF2B5EF4-FFF2-40B4-BE49-F238E27FC236}">
                <a16:creationId xmlns:a16="http://schemas.microsoft.com/office/drawing/2014/main" id="{AE8CEA9E-508D-4640-B4E5-70352F7F9B2C}"/>
              </a:ext>
            </a:extLst>
          </p:cNvPr>
          <p:cNvSpPr>
            <a:spLocks xmlns:a="http://schemas.openxmlformats.org/drawingml/2006/main" noGrp="1"/>
          </p:cNvSpPr>
          <p:nvPr/>
        </p:nvSpPr>
        <p:spPr>
          <a:xfrm xmlns:a="http://schemas.openxmlformats.org/drawingml/2006/main">
            <a:off x="819150" y="6057900"/>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D9DFE4"/>
                </a:solidFill>
                <a:latin typeface="Consolas"/>
                <a:ea typeface="Consolas"/>
                <a:cs typeface="Consolas"/>
              </a:defRPr>
            </a:pPr>
            <a:r>
              <a:rPr sz="1350" b="0">
                <a:solidFill>
                  <a:srgbClr val="D9DFE4"/>
                </a:solidFill>
                <a:latin typeface="Consolas"/>
                <a:ea typeface="Consolas"/>
                <a:cs typeface="Consolas"/>
              </a:rPr>
              <a:t>FREE PUBLIC BETA     /     COLOSSEUM 2026     /     OCT 05 2026</a:t>
            </a:r>
          </a:p>
        </p:txBody>
      </p:sp>
    </p:spTree>
    <p:extLst>
      <p:ext uri="{BB962C8B-B14F-4D97-AF65-F5344CB8AC3E}">
        <p14:creationId xmlns:p14="http://schemas.microsoft.com/office/powerpoint/2010/main" val="431229448"/>
      </p:ext>
    </p:extLst>
  </p:cSld>
</p:sld>
</file>

<file path=ppt/slides/slide2.xml><?xml version="1.0" encoding="utf-8"?>
<p:sld xmlns:p="http://schemas.openxmlformats.org/presentationml/2006/main">
  <p:cSld>
    <p:bg>
      <p:bgPr>
        <a:solidFill xmlns:a="http://schemas.openxmlformats.org/drawingml/2006/main">
          <a:srgbClr val="FAFAF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05151C9-3A84-44A8-8FD5-E86BEF413E39}"/>
              </a:ext>
            </a:extLst>
          </p:cNvPr>
          <p:cNvSpPr>
            <a:spLocks xmlns:a="http://schemas.openxmlformats.org/drawingml/2006/main" noGrp="1"/>
          </p:cNvSpPr>
          <p:nvPr/>
        </p:nvSpPr>
        <p:spPr>
          <a:xfrm xmlns:a="http://schemas.openxmlformats.org/drawingml/2006/main">
            <a:off x="781050" y="5905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86777"/>
                </a:solidFill>
                <a:latin typeface="Consolas"/>
                <a:ea typeface="Consolas"/>
                <a:cs typeface="Consolas"/>
              </a:defRPr>
            </a:pPr>
            <a:r>
              <a:rPr sz="1350" b="0">
                <a:solidFill>
                  <a:srgbClr val="586777"/>
                </a:solidFill>
                <a:latin typeface="Consolas"/>
                <a:ea typeface="Consolas"/>
                <a:cs typeface="Consolas"/>
              </a:rPr>
              <a:t>01     /     PROTOCOL RESEARCH GAP</a:t>
            </a:r>
          </a:p>
        </p:txBody>
      </p:sp>
      <p:sp>
        <p:nvSpPr>
          <p:cNvPr id="2" name="">
            <a:extLst xmlns:a="http://schemas.openxmlformats.org/drawingml/2006/main">
              <a:ext uri="{FF2B5EF4-FFF2-40B4-BE49-F238E27FC236}">
                <a16:creationId xmlns:a16="http://schemas.microsoft.com/office/drawing/2014/main" id="{942B5C87-A594-4D88-B1B2-7E0319FC2516}"/>
              </a:ext>
            </a:extLst>
          </p:cNvPr>
          <p:cNvSpPr>
            <a:spLocks xmlns:a="http://schemas.openxmlformats.org/drawingml/2006/main" noGrp="1"/>
          </p:cNvSpPr>
          <p:nvPr/>
        </p:nvSpPr>
        <p:spPr>
          <a:xfrm xmlns:a="http://schemas.openxmlformats.org/drawingml/2006/main">
            <a:off x="781050" y="1200150"/>
            <a:ext cx="5619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1A1A1A"/>
                </a:solidFill>
                <a:latin typeface="Arial"/>
                <a:ea typeface="Arial"/>
                <a:cs typeface="Arial"/>
              </a:defRPr>
            </a:pPr>
            <a:r>
              <a:rPr sz="4650" b="1">
                <a:solidFill>
                  <a:srgbClr val="1A1A1A"/>
                </a:solidFill>
                <a:latin typeface="Arial"/>
                <a:ea typeface="Arial"/>
                <a:cs typeface="Arial"/>
              </a:rPr>
              <a:t>Missing assumptions</a:t>
            </a:r>
          </a:p>
          <a:p xmlns:a="http://schemas.openxmlformats.org/drawingml/2006/main">
            <a:pPr algn="l">
              <a:defRPr sz="4650" b="1">
                <a:solidFill>
                  <a:srgbClr val="1A1A1A"/>
                </a:solidFill>
                <a:latin typeface="Arial"/>
                <a:ea typeface="Arial"/>
                <a:cs typeface="Arial"/>
              </a:defRPr>
            </a:pPr>
            <a:r>
              <a:rPr sz="4650" b="1">
                <a:solidFill>
                  <a:srgbClr val="1A1A1A"/>
                </a:solidFill>
                <a:latin typeface="Arial"/>
                <a:ea typeface="Arial"/>
                <a:cs typeface="Arial"/>
              </a:rPr>
              <a:t>in protocol design</a:t>
            </a:r>
          </a:p>
        </p:txBody>
      </p:sp>
      <p:sp>
        <p:nvSpPr>
          <p:cNvPr id="3" name="">
            <a:extLst xmlns:a="http://schemas.openxmlformats.org/drawingml/2006/main">
              <a:ext uri="{FF2B5EF4-FFF2-40B4-BE49-F238E27FC236}">
                <a16:creationId xmlns:a16="http://schemas.microsoft.com/office/drawing/2014/main" id="{12A2475C-945B-4E22-933C-E3882A9ABFFB}"/>
              </a:ext>
            </a:extLst>
          </p:cNvPr>
          <p:cNvSpPr>
            <a:spLocks xmlns:a="http://schemas.openxmlformats.org/drawingml/2006/main" noGrp="1"/>
          </p:cNvSpPr>
          <p:nvPr/>
        </p:nvSpPr>
        <p:spPr>
          <a:xfrm xmlns:a="http://schemas.openxmlformats.org/drawingml/2006/main">
            <a:off x="6743700" y="1381125"/>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86777"/>
                </a:solidFill>
                <a:latin typeface="Consolas"/>
                <a:ea typeface="Consolas"/>
                <a:cs typeface="Consolas"/>
              </a:defRPr>
            </a:pPr>
            <a:r>
              <a:rPr sz="1350" b="0">
                <a:solidFill>
                  <a:srgbClr val="586777"/>
                </a:solidFill>
                <a:latin typeface="Consolas"/>
                <a:ea typeface="Consolas"/>
                <a:cs typeface="Consolas"/>
              </a:rPr>
              <a:t>THE DECISION GAP</a:t>
            </a:r>
          </a:p>
        </p:txBody>
      </p:sp>
      <p:sp>
        <p:nvSpPr>
          <p:cNvPr id="4" name="">
            <a:extLst xmlns:a="http://schemas.openxmlformats.org/drawingml/2006/main">
              <a:ext uri="{FF2B5EF4-FFF2-40B4-BE49-F238E27FC236}">
                <a16:creationId xmlns:a16="http://schemas.microsoft.com/office/drawing/2014/main" id="{211A022C-687B-4F29-BE54-0B65BF0E64A3}"/>
              </a:ext>
            </a:extLst>
          </p:cNvPr>
          <p:cNvSpPr>
            <a:spLocks xmlns:a="http://schemas.openxmlformats.org/drawingml/2006/main" noGrp="1"/>
          </p:cNvSpPr>
          <p:nvPr/>
        </p:nvSpPr>
        <p:spPr>
          <a:xfrm xmlns:a="http://schemas.openxmlformats.org/drawingml/2006/main">
            <a:off x="6724650" y="1857375"/>
            <a:ext cx="4572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1">
                <a:solidFill>
                  <a:srgbClr val="1A1A1A"/>
                </a:solidFill>
                <a:latin typeface="Arial"/>
                <a:ea typeface="Arial"/>
                <a:cs typeface="Arial"/>
              </a:defRPr>
            </a:pPr>
            <a:r>
              <a:rPr sz="2550" b="1">
                <a:solidFill>
                  <a:srgbClr val="1A1A1A"/>
                </a:solidFill>
                <a:latin typeface="Arial"/>
                <a:ea typeface="Arial"/>
                <a:cs typeface="Arial"/>
              </a:rPr>
              <a:t>Paper discovery</a:t>
            </a:r>
          </a:p>
        </p:txBody>
      </p:sp>
      <p:sp>
        <p:nvSpPr>
          <p:cNvPr id="5" name="">
            <a:extLst xmlns:a="http://schemas.openxmlformats.org/drawingml/2006/main">
              <a:ext uri="{FF2B5EF4-FFF2-40B4-BE49-F238E27FC236}">
                <a16:creationId xmlns:a16="http://schemas.microsoft.com/office/drawing/2014/main" id="{D6481984-1BC8-46BC-8885-BB0F457B9F6A}"/>
              </a:ext>
            </a:extLst>
          </p:cNvPr>
          <p:cNvSpPr>
            <a:spLocks xmlns:a="http://schemas.openxmlformats.org/drawingml/2006/main" noGrp="1"/>
          </p:cNvSpPr>
          <p:nvPr/>
        </p:nvSpPr>
        <p:spPr>
          <a:xfrm xmlns:a="http://schemas.openxmlformats.org/drawingml/2006/main">
            <a:off x="6724650" y="2562225"/>
            <a:ext cx="457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0">
                <a:solidFill>
                  <a:srgbClr val="1A1A1A"/>
                </a:solidFill>
                <a:latin typeface="Arial"/>
                <a:ea typeface="Arial"/>
                <a:cs typeface="Arial"/>
              </a:defRPr>
            </a:pPr>
            <a:r>
              <a:rPr sz="2250" b="0">
                <a:solidFill>
                  <a:srgbClr val="1A1A1A"/>
                </a:solidFill>
                <a:latin typeface="Arial"/>
                <a:ea typeface="Arial"/>
                <a:cs typeface="Arial"/>
              </a:rPr>
              <a:t>Manual math and</a:t>
            </a:r>
          </a:p>
          <a:p xmlns:a="http://schemas.openxmlformats.org/drawingml/2006/main">
            <a:pPr algn="l">
              <a:defRPr sz="2250" b="0">
                <a:solidFill>
                  <a:srgbClr val="1A1A1A"/>
                </a:solidFill>
                <a:latin typeface="Arial"/>
                <a:ea typeface="Arial"/>
                <a:cs typeface="Arial"/>
              </a:defRPr>
            </a:pPr>
            <a:r>
              <a:rPr sz="2250" b="0">
                <a:solidFill>
                  <a:srgbClr val="1A1A1A"/>
                </a:solidFill>
                <a:latin typeface="Arial"/>
                <a:ea typeface="Arial"/>
                <a:cs typeface="Arial"/>
              </a:rPr>
              <a:t>assumption checking</a:t>
            </a:r>
          </a:p>
        </p:txBody>
      </p:sp>
      <p:sp>
        <p:nvSpPr>
          <p:cNvPr id="6" name="">
            <a:extLst xmlns:a="http://schemas.openxmlformats.org/drawingml/2006/main">
              <a:ext uri="{FF2B5EF4-FFF2-40B4-BE49-F238E27FC236}">
                <a16:creationId xmlns:a16="http://schemas.microsoft.com/office/drawing/2014/main" id="{E6846B90-79FA-4E4D-9419-4A6330F1F0AB}"/>
              </a:ext>
            </a:extLst>
          </p:cNvPr>
          <p:cNvSpPr>
            <a:spLocks xmlns:a="http://schemas.openxmlformats.org/drawingml/2006/main" noGrp="1"/>
          </p:cNvSpPr>
          <p:nvPr/>
        </p:nvSpPr>
        <p:spPr>
          <a:xfrm xmlns:a="http://schemas.openxmlformats.org/drawingml/2006/main">
            <a:off x="6724650" y="3429000"/>
            <a:ext cx="4572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1">
                <a:solidFill>
                  <a:srgbClr val="1A1A1A"/>
                </a:solidFill>
                <a:latin typeface="Arial"/>
                <a:ea typeface="Arial"/>
                <a:cs typeface="Arial"/>
              </a:defRPr>
            </a:pPr>
            <a:r>
              <a:rPr sz="2550" b="1">
                <a:solidFill>
                  <a:srgbClr val="1A1A1A"/>
                </a:solidFill>
                <a:latin typeface="Arial"/>
                <a:ea typeface="Arial"/>
                <a:cs typeface="Arial"/>
              </a:rPr>
              <a:t>Implementation choice</a:t>
            </a:r>
          </a:p>
        </p:txBody>
      </p:sp>
      <p:sp>
        <p:nvSpPr>
          <p:cNvPr id="7" name="">
            <a:extLst xmlns:a="http://schemas.openxmlformats.org/drawingml/2006/main">
              <a:ext uri="{FF2B5EF4-FFF2-40B4-BE49-F238E27FC236}">
                <a16:creationId xmlns:a16="http://schemas.microsoft.com/office/drawing/2014/main" id="{A0DE1D5A-BF10-4445-A27C-C5DE6B806A74}"/>
              </a:ext>
            </a:extLst>
          </p:cNvPr>
          <p:cNvSpPr>
            <a:spLocks xmlns:a="http://schemas.openxmlformats.org/drawingml/2006/main" noGrp="1"/>
          </p:cNvSpPr>
          <p:nvPr/>
        </p:nvSpPr>
        <p:spPr>
          <a:xfrm xmlns:a="http://schemas.openxmlformats.org/drawingml/2006/main">
            <a:off x="781050" y="4695825"/>
            <a:ext cx="10191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1A1A1A"/>
                </a:solidFill>
                <a:latin typeface="Arial"/>
                <a:ea typeface="Arial"/>
                <a:cs typeface="Arial"/>
              </a:defRPr>
            </a:pPr>
            <a:r>
              <a:rPr sz="2700" b="1">
                <a:solidFill>
                  <a:srgbClr val="1A1A1A"/>
                </a:solidFill>
                <a:latin typeface="Arial"/>
                <a:ea typeface="Arial"/>
                <a:cs typeface="Arial"/>
              </a:rPr>
              <a:t>The missing detail is often the assumption that breaks the design.</a:t>
            </a:r>
          </a:p>
        </p:txBody>
      </p:sp>
    </p:spTree>
    <p:extLst>
      <p:ext uri="{BB962C8B-B14F-4D97-AF65-F5344CB8AC3E}">
        <p14:creationId xmlns:p14="http://schemas.microsoft.com/office/powerpoint/2010/main" val="197059724"/>
      </p:ext>
    </p:extLst>
  </p:cSld>
</p:sld>
</file>

<file path=ppt/slides/slide3.xml><?xml version="1.0" encoding="utf-8"?>
<p:sld xmlns:p="http://schemas.openxmlformats.org/presentationml/2006/main">
  <p:cSld>
    <p:bg>
      <p:bgPr>
        <a:solidFill xmlns:a="http://schemas.openxmlformats.org/drawingml/2006/main">
          <a:srgbClr val="E7AE3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AEA0C50-C075-4518-BF5D-C721A4385E87}"/>
              </a:ext>
            </a:extLst>
          </p:cNvPr>
          <p:cNvSpPr>
            <a:spLocks xmlns:a="http://schemas.openxmlformats.org/drawingml/2006/main" noGrp="1"/>
          </p:cNvSpPr>
          <p:nvPr/>
        </p:nvSpPr>
        <p:spPr>
          <a:xfrm xmlns:a="http://schemas.openxmlformats.org/drawingml/2006/main">
            <a:off x="781050" y="5905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1401C"/>
                </a:solidFill>
                <a:latin typeface="Consolas"/>
                <a:ea typeface="Consolas"/>
                <a:cs typeface="Consolas"/>
              </a:defRPr>
            </a:pPr>
            <a:r>
              <a:rPr sz="1350" b="0">
                <a:solidFill>
                  <a:srgbClr val="51401C"/>
                </a:solidFill>
                <a:latin typeface="Consolas"/>
                <a:ea typeface="Consolas"/>
                <a:cs typeface="Consolas"/>
              </a:rPr>
              <a:t>02     /     WEB3 DEVELOPMENT TEAMS</a:t>
            </a:r>
          </a:p>
        </p:txBody>
      </p:sp>
      <p:sp>
        <p:nvSpPr>
          <p:cNvPr id="2" name="">
            <a:extLst xmlns:a="http://schemas.openxmlformats.org/drawingml/2006/main">
              <a:ext uri="{FF2B5EF4-FFF2-40B4-BE49-F238E27FC236}">
                <a16:creationId xmlns:a16="http://schemas.microsoft.com/office/drawing/2014/main" id="{0BA3CD1F-2244-4CBD-A2A5-6E5EF80A350B}"/>
              </a:ext>
            </a:extLst>
          </p:cNvPr>
          <p:cNvSpPr>
            <a:spLocks xmlns:a="http://schemas.openxmlformats.org/drawingml/2006/main" noGrp="1"/>
          </p:cNvSpPr>
          <p:nvPr/>
        </p:nvSpPr>
        <p:spPr>
          <a:xfrm xmlns:a="http://schemas.openxmlformats.org/drawingml/2006/main">
            <a:off x="781050" y="1295400"/>
            <a:ext cx="5334000" cy="211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350" b="1">
                <a:solidFill>
                  <a:srgbClr val="1A1A1A"/>
                </a:solidFill>
                <a:latin typeface="Arial"/>
                <a:ea typeface="Arial"/>
                <a:cs typeface="Arial"/>
              </a:defRPr>
            </a:pPr>
            <a:r>
              <a:rPr sz="4350" b="1">
                <a:solidFill>
                  <a:srgbClr val="1A1A1A"/>
                </a:solidFill>
                <a:latin typeface="Arial"/>
                <a:ea typeface="Arial"/>
                <a:cs typeface="Arial"/>
              </a:rPr>
              <a:t>Teams building</a:t>
            </a:r>
          </a:p>
          <a:p xmlns:a="http://schemas.openxmlformats.org/drawingml/2006/main">
            <a:pPr algn="l">
              <a:defRPr sz="4350" b="1">
                <a:solidFill>
                  <a:srgbClr val="1A1A1A"/>
                </a:solidFill>
                <a:latin typeface="Arial"/>
                <a:ea typeface="Arial"/>
                <a:cs typeface="Arial"/>
              </a:defRPr>
            </a:pPr>
            <a:r>
              <a:rPr sz="4350" b="1">
                <a:solidFill>
                  <a:srgbClr val="1A1A1A"/>
                </a:solidFill>
                <a:latin typeface="Arial"/>
                <a:ea typeface="Arial"/>
                <a:cs typeface="Arial"/>
              </a:rPr>
              <a:t>Web3 protocols.</a:t>
            </a:r>
          </a:p>
        </p:txBody>
      </p:sp>
      <p:sp>
        <p:nvSpPr>
          <p:cNvPr id="3" name="">
            <a:extLst xmlns:a="http://schemas.openxmlformats.org/drawingml/2006/main">
              <a:ext uri="{FF2B5EF4-FFF2-40B4-BE49-F238E27FC236}">
                <a16:creationId xmlns:a16="http://schemas.microsoft.com/office/drawing/2014/main" id="{7DDC5F13-AA1D-4AF3-B8E7-F04AD9D7CCF7}"/>
              </a:ext>
            </a:extLst>
          </p:cNvPr>
          <p:cNvSpPr>
            <a:spLocks xmlns:a="http://schemas.openxmlformats.org/drawingml/2006/main" noGrp="1"/>
          </p:cNvSpPr>
          <p:nvPr/>
        </p:nvSpPr>
        <p:spPr>
          <a:xfrm xmlns:a="http://schemas.openxmlformats.org/drawingml/2006/main">
            <a:off x="6953250" y="1295400"/>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1401C"/>
                </a:solidFill>
                <a:latin typeface="Consolas"/>
                <a:ea typeface="Consolas"/>
                <a:cs typeface="Consolas"/>
              </a:defRPr>
            </a:pPr>
            <a:r>
              <a:rPr sz="1350" b="0">
                <a:solidFill>
                  <a:srgbClr val="51401C"/>
                </a:solidFill>
                <a:latin typeface="Consolas"/>
                <a:ea typeface="Consolas"/>
                <a:cs typeface="Consolas"/>
              </a:rPr>
              <a:t>PROTOCOL DESIGN QUESTIONS</a:t>
            </a:r>
          </a:p>
        </p:txBody>
      </p:sp>
      <p:sp>
        <p:nvSpPr>
          <p:cNvPr id="4" name="">
            <a:extLst xmlns:a="http://schemas.openxmlformats.org/drawingml/2006/main">
              <a:ext uri="{FF2B5EF4-FFF2-40B4-BE49-F238E27FC236}">
                <a16:creationId xmlns:a16="http://schemas.microsoft.com/office/drawing/2014/main" id="{13F8FEBE-B550-4676-860B-01C9EECCA13F}"/>
              </a:ext>
            </a:extLst>
          </p:cNvPr>
          <p:cNvSpPr>
            <a:spLocks xmlns:a="http://schemas.openxmlformats.org/drawingml/2006/main" noGrp="1"/>
          </p:cNvSpPr>
          <p:nvPr/>
        </p:nvSpPr>
        <p:spPr>
          <a:xfrm xmlns:a="http://schemas.openxmlformats.org/drawingml/2006/main">
            <a:off x="6953250" y="1828800"/>
            <a:ext cx="428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1A1A1A"/>
                </a:solidFill>
                <a:latin typeface="Arial"/>
                <a:ea typeface="Arial"/>
                <a:cs typeface="Arial"/>
              </a:defRPr>
            </a:pPr>
            <a:r>
              <a:rPr sz="2100" b="1">
                <a:solidFill>
                  <a:srgbClr val="1A1A1A"/>
                </a:solidFill>
                <a:latin typeface="Arial"/>
                <a:ea typeface="Arial"/>
                <a:cs typeface="Arial"/>
              </a:rPr>
              <a:t>DeFi and MEV</a:t>
            </a:r>
          </a:p>
          <a:p xmlns:a="http://schemas.openxmlformats.org/drawingml/2006/main">
            <a:pPr algn="l">
              <a:defRPr sz="2100" b="1">
                <a:solidFill>
                  <a:srgbClr val="1A1A1A"/>
                </a:solidFill>
                <a:latin typeface="Arial"/>
                <a:ea typeface="Arial"/>
                <a:cs typeface="Arial"/>
              </a:defRPr>
            </a:pPr>
            <a:r>
              <a:rPr sz="2100" b="1">
                <a:solidFill>
                  <a:srgbClr val="1A1A1A"/>
                </a:solidFill>
                <a:latin typeface="Arial"/>
                <a:ea typeface="Arial"/>
                <a:cs typeface="Arial"/>
              </a:rPr>
              <a:t>Compare incentives</a:t>
            </a:r>
          </a:p>
        </p:txBody>
      </p:sp>
      <p:sp>
        <p:nvSpPr>
          <p:cNvPr id="5" name="">
            <a:extLst xmlns:a="http://schemas.openxmlformats.org/drawingml/2006/main">
              <a:ext uri="{FF2B5EF4-FFF2-40B4-BE49-F238E27FC236}">
                <a16:creationId xmlns:a16="http://schemas.microsoft.com/office/drawing/2014/main" id="{F719FF89-38E3-4B41-B1AF-B25171D3F288}"/>
              </a:ext>
            </a:extLst>
          </p:cNvPr>
          <p:cNvSpPr>
            <a:spLocks xmlns:a="http://schemas.openxmlformats.org/drawingml/2006/main" noGrp="1"/>
          </p:cNvSpPr>
          <p:nvPr/>
        </p:nvSpPr>
        <p:spPr>
          <a:xfrm xmlns:a="http://schemas.openxmlformats.org/drawingml/2006/main">
            <a:off x="6953250" y="2895600"/>
            <a:ext cx="428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1A1A1A"/>
                </a:solidFill>
                <a:latin typeface="Arial"/>
                <a:ea typeface="Arial"/>
                <a:cs typeface="Arial"/>
              </a:defRPr>
            </a:pPr>
            <a:r>
              <a:rPr sz="2100" b="1">
                <a:solidFill>
                  <a:srgbClr val="1A1A1A"/>
                </a:solidFill>
                <a:latin typeface="Arial"/>
                <a:ea typeface="Arial"/>
                <a:cs typeface="Arial"/>
              </a:rPr>
              <a:t>ZK developers</a:t>
            </a:r>
          </a:p>
          <a:p xmlns:a="http://schemas.openxmlformats.org/drawingml/2006/main">
            <a:pPr algn="l">
              <a:defRPr sz="2100" b="1">
                <a:solidFill>
                  <a:srgbClr val="1A1A1A"/>
                </a:solidFill>
                <a:latin typeface="Arial"/>
                <a:ea typeface="Arial"/>
                <a:cs typeface="Arial"/>
              </a:defRPr>
            </a:pPr>
            <a:r>
              <a:rPr sz="2100" b="1">
                <a:solidFill>
                  <a:srgbClr val="1A1A1A"/>
                </a:solidFill>
                <a:latin typeface="Arial"/>
                <a:ea typeface="Arial"/>
                <a:cs typeface="Arial"/>
              </a:rPr>
              <a:t>Inspect prover assumptions</a:t>
            </a:r>
          </a:p>
        </p:txBody>
      </p:sp>
      <p:sp>
        <p:nvSpPr>
          <p:cNvPr id="6" name="">
            <a:extLst xmlns:a="http://schemas.openxmlformats.org/drawingml/2006/main">
              <a:ext uri="{FF2B5EF4-FFF2-40B4-BE49-F238E27FC236}">
                <a16:creationId xmlns:a16="http://schemas.microsoft.com/office/drawing/2014/main" id="{EC6D6503-A032-482C-9BA2-F5B75055F6A3}"/>
              </a:ext>
            </a:extLst>
          </p:cNvPr>
          <p:cNvSpPr>
            <a:spLocks xmlns:a="http://schemas.openxmlformats.org/drawingml/2006/main" noGrp="1"/>
          </p:cNvSpPr>
          <p:nvPr/>
        </p:nvSpPr>
        <p:spPr>
          <a:xfrm xmlns:a="http://schemas.openxmlformats.org/drawingml/2006/main">
            <a:off x="6953250" y="3962400"/>
            <a:ext cx="4286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1A1A1A"/>
                </a:solidFill>
                <a:latin typeface="Arial"/>
                <a:ea typeface="Arial"/>
                <a:cs typeface="Arial"/>
              </a:defRPr>
            </a:pPr>
            <a:r>
              <a:rPr sz="2100" b="1">
                <a:solidFill>
                  <a:srgbClr val="1A1A1A"/>
                </a:solidFill>
                <a:latin typeface="Arial"/>
                <a:ea typeface="Arial"/>
                <a:cs typeface="Arial"/>
              </a:rPr>
              <a:t>Wallet teams</a:t>
            </a:r>
          </a:p>
          <a:p xmlns:a="http://schemas.openxmlformats.org/drawingml/2006/main">
            <a:pPr algn="l">
              <a:defRPr sz="2100" b="1">
                <a:solidFill>
                  <a:srgbClr val="1A1A1A"/>
                </a:solidFill>
                <a:latin typeface="Arial"/>
                <a:ea typeface="Arial"/>
                <a:cs typeface="Arial"/>
              </a:defRPr>
            </a:pPr>
            <a:r>
              <a:rPr sz="2100" b="1">
                <a:solidFill>
                  <a:srgbClr val="1A1A1A"/>
                </a:solidFill>
                <a:latin typeface="Arial"/>
                <a:ea typeface="Arial"/>
                <a:cs typeface="Arial"/>
              </a:rPr>
              <a:t>Check account abstraction</a:t>
            </a:r>
          </a:p>
          <a:p xmlns:a="http://schemas.openxmlformats.org/drawingml/2006/main">
            <a:pPr algn="l">
              <a:defRPr sz="2100" b="1">
                <a:solidFill>
                  <a:srgbClr val="1A1A1A"/>
                </a:solidFill>
                <a:latin typeface="Arial"/>
                <a:ea typeface="Arial"/>
                <a:cs typeface="Arial"/>
              </a:defRPr>
            </a:pPr>
            <a:r>
              <a:rPr sz="2100" b="1">
                <a:solidFill>
                  <a:srgbClr val="1A1A1A"/>
                </a:solidFill>
                <a:latin typeface="Arial"/>
                <a:ea typeface="Arial"/>
                <a:cs typeface="Arial"/>
              </a:rPr>
              <a:t>security conditions</a:t>
            </a:r>
          </a:p>
        </p:txBody>
      </p:sp>
      <p:sp>
        <p:nvSpPr>
          <p:cNvPr id="7" name="">
            <a:extLst xmlns:a="http://schemas.openxmlformats.org/drawingml/2006/main">
              <a:ext uri="{FF2B5EF4-FFF2-40B4-BE49-F238E27FC236}">
                <a16:creationId xmlns:a16="http://schemas.microsoft.com/office/drawing/2014/main" id="{BA09389D-DA99-4C78-94A3-AE0D39557F1C}"/>
              </a:ext>
            </a:extLst>
          </p:cNvPr>
          <p:cNvSpPr>
            <a:spLocks xmlns:a="http://schemas.openxmlformats.org/drawingml/2006/main" noGrp="1"/>
          </p:cNvSpPr>
          <p:nvPr/>
        </p:nvSpPr>
        <p:spPr>
          <a:xfrm xmlns:a="http://schemas.openxmlformats.org/drawingml/2006/main">
            <a:off x="781050" y="605790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1401C"/>
                </a:solidFill>
                <a:latin typeface="Consolas"/>
                <a:ea typeface="Consolas"/>
                <a:cs typeface="Consolas"/>
              </a:defRPr>
            </a:pPr>
            <a:r>
              <a:rPr sz="1275" b="0">
                <a:solidFill>
                  <a:srgbClr val="51401C"/>
                </a:solidFill>
                <a:latin typeface="Consolas"/>
                <a:ea typeface="Consolas"/>
                <a:cs typeface="Consolas"/>
              </a:rPr>
              <a:t>BEACHHEAD     /     WEB3 DEVELOPER TEAMS</a:t>
            </a:r>
          </a:p>
        </p:txBody>
      </p:sp>
    </p:spTree>
    <p:extLst>
      <p:ext uri="{BB962C8B-B14F-4D97-AF65-F5344CB8AC3E}">
        <p14:creationId xmlns:p14="http://schemas.microsoft.com/office/powerpoint/2010/main" val="433339159"/>
      </p:ext>
    </p:extLst>
  </p:cSld>
</p:sld>
</file>

<file path=ppt/slides/slide4.xml><?xml version="1.0" encoding="utf-8"?>
<p:sld xmlns:p="http://schemas.openxmlformats.org/presentationml/2006/main">
  <p:cSld>
    <p:bg>
      <p:bgPr>
        <a:solidFill xmlns:a="http://schemas.openxmlformats.org/drawingml/2006/main">
          <a:srgbClr val="14263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491920B-EC86-4ECC-9CF2-925C6988C42F}"/>
              </a:ext>
            </a:extLst>
          </p:cNvPr>
          <p:cNvSpPr>
            <a:spLocks xmlns:a="http://schemas.openxmlformats.org/drawingml/2006/main" noGrp="1"/>
          </p:cNvSpPr>
          <p:nvPr/>
        </p:nvSpPr>
        <p:spPr>
          <a:xfrm xmlns:a="http://schemas.openxmlformats.org/drawingml/2006/main">
            <a:off x="781050" y="5905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E7AE34"/>
                </a:solidFill>
                <a:latin typeface="Consolas"/>
                <a:ea typeface="Consolas"/>
                <a:cs typeface="Consolas"/>
              </a:defRPr>
            </a:pPr>
            <a:r>
              <a:rPr sz="1350" b="0">
                <a:solidFill>
                  <a:srgbClr val="E7AE34"/>
                </a:solidFill>
                <a:latin typeface="Consolas"/>
                <a:ea typeface="Consolas"/>
                <a:cs typeface="Consolas"/>
              </a:rPr>
              <a:t>03     /     EVIDENCE INSIDE THE AGENT WORKFLOW</a:t>
            </a:r>
          </a:p>
        </p:txBody>
      </p:sp>
      <p:sp>
        <p:nvSpPr>
          <p:cNvPr id="2" name="">
            <a:extLst xmlns:a="http://schemas.openxmlformats.org/drawingml/2006/main">
              <a:ext uri="{FF2B5EF4-FFF2-40B4-BE49-F238E27FC236}">
                <a16:creationId xmlns:a16="http://schemas.microsoft.com/office/drawing/2014/main" id="{2A4E2EE4-6208-4FCA-A1C8-F45C9E589344}"/>
              </a:ext>
            </a:extLst>
          </p:cNvPr>
          <p:cNvSpPr>
            <a:spLocks xmlns:a="http://schemas.openxmlformats.org/drawingml/2006/main" noGrp="1"/>
          </p:cNvSpPr>
          <p:nvPr/>
        </p:nvSpPr>
        <p:spPr>
          <a:xfrm xmlns:a="http://schemas.openxmlformats.org/drawingml/2006/main">
            <a:off x="781050" y="1333500"/>
            <a:ext cx="4524375"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050" b="1">
                <a:solidFill>
                  <a:srgbClr val="FAFAF3"/>
                </a:solidFill>
                <a:latin typeface="Arial"/>
                <a:ea typeface="Arial"/>
                <a:cs typeface="Arial"/>
              </a:defRPr>
            </a:pPr>
            <a:r>
              <a:rPr sz="4050" b="1">
                <a:solidFill>
                  <a:srgbClr val="FAFAF3"/>
                </a:solidFill>
                <a:latin typeface="Arial"/>
                <a:ea typeface="Arial"/>
                <a:cs typeface="Arial"/>
              </a:rPr>
              <a:t>Source evidence</a:t>
            </a:r>
          </a:p>
          <a:p xmlns:a="http://schemas.openxmlformats.org/drawingml/2006/main">
            <a:pPr algn="l">
              <a:defRPr sz="4050" b="1">
                <a:solidFill>
                  <a:srgbClr val="FAFAF3"/>
                </a:solidFill>
                <a:latin typeface="Arial"/>
                <a:ea typeface="Arial"/>
                <a:cs typeface="Arial"/>
              </a:defRPr>
            </a:pPr>
            <a:r>
              <a:rPr sz="4050" b="1">
                <a:solidFill>
                  <a:srgbClr val="FAFAF3"/>
                </a:solidFill>
                <a:latin typeface="Arial"/>
                <a:ea typeface="Arial"/>
                <a:cs typeface="Arial"/>
              </a:rPr>
              <a:t>inside the agent</a:t>
            </a:r>
          </a:p>
          <a:p xmlns:a="http://schemas.openxmlformats.org/drawingml/2006/main">
            <a:pPr algn="l">
              <a:defRPr sz="4050" b="1">
                <a:solidFill>
                  <a:srgbClr val="FAFAF3"/>
                </a:solidFill>
                <a:latin typeface="Arial"/>
                <a:ea typeface="Arial"/>
                <a:cs typeface="Arial"/>
              </a:defRPr>
            </a:pPr>
            <a:r>
              <a:rPr sz="4050" b="1">
                <a:solidFill>
                  <a:srgbClr val="FAFAF3"/>
                </a:solidFill>
                <a:latin typeface="Arial"/>
                <a:ea typeface="Arial"/>
                <a:cs typeface="Arial"/>
              </a:rPr>
              <a:t>workflow.</a:t>
            </a:r>
          </a:p>
        </p:txBody>
      </p:sp>
      <p:sp>
        <p:nvSpPr>
          <p:cNvPr id="3" name="">
            <a:extLst xmlns:a="http://schemas.openxmlformats.org/drawingml/2006/main">
              <a:ext uri="{FF2B5EF4-FFF2-40B4-BE49-F238E27FC236}">
                <a16:creationId xmlns:a16="http://schemas.microsoft.com/office/drawing/2014/main" id="{542DE787-F930-4EE5-9A6E-499D1A0E9064}"/>
              </a:ext>
            </a:extLst>
          </p:cNvPr>
          <p:cNvSpPr>
            <a:spLocks xmlns:a="http://schemas.openxmlformats.org/drawingml/2006/main" noGrp="1"/>
          </p:cNvSpPr>
          <p:nvPr/>
        </p:nvSpPr>
        <p:spPr>
          <a:xfrm xmlns:a="http://schemas.openxmlformats.org/drawingml/2006/main">
            <a:off x="781050" y="4038600"/>
            <a:ext cx="457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FAFAF3"/>
                </a:solidFill>
                <a:latin typeface="Arial"/>
                <a:ea typeface="Arial"/>
                <a:cs typeface="Arial"/>
              </a:defRPr>
            </a:pPr>
            <a:r>
              <a:rPr sz="1950" b="0">
                <a:solidFill>
                  <a:srgbClr val="FAFAF3"/>
                </a:solidFill>
                <a:latin typeface="Arial"/>
                <a:ea typeface="Arial"/>
                <a:cs typeface="Arial"/>
              </a:rPr>
              <a:t>One MCP connection for Codex, Claude, and other compatible clients.</a:t>
            </a:r>
          </a:p>
        </p:txBody>
      </p:sp>
      <p:sp>
        <p:nvSpPr>
          <p:cNvPr id="4" name="">
            <a:extLst xmlns:a="http://schemas.openxmlformats.org/drawingml/2006/main">
              <a:ext uri="{FF2B5EF4-FFF2-40B4-BE49-F238E27FC236}">
                <a16:creationId xmlns:a16="http://schemas.microsoft.com/office/drawing/2014/main" id="{B9AF6BE5-E686-48F6-AAED-7E2BD13A2134}"/>
              </a:ext>
            </a:extLst>
          </p:cNvPr>
          <p:cNvSpPr>
            <a:spLocks xmlns:a="http://schemas.openxmlformats.org/drawingml/2006/main" noGrp="1"/>
          </p:cNvSpPr>
          <p:nvPr/>
        </p:nvSpPr>
        <p:spPr>
          <a:xfrm xmlns:a="http://schemas.openxmlformats.org/drawingml/2006/main">
            <a:off x="6553200" y="1381125"/>
            <a:ext cx="428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D9DFE4"/>
                </a:solidFill>
                <a:latin typeface="Consolas"/>
                <a:ea typeface="Consolas"/>
                <a:cs typeface="Consolas"/>
              </a:defRPr>
            </a:pPr>
            <a:r>
              <a:rPr sz="1350" b="0">
                <a:solidFill>
                  <a:srgbClr val="D9DFE4"/>
                </a:solidFill>
                <a:latin typeface="Consolas"/>
                <a:ea typeface="Consolas"/>
                <a:cs typeface="Consolas"/>
              </a:rPr>
              <a:t>A BOUNDED RESEARCH WORKFLOW</a:t>
            </a:r>
          </a:p>
        </p:txBody>
      </p:sp>
      <p:sp>
        <p:nvSpPr>
          <p:cNvPr id="5" name="">
            <a:extLst xmlns:a="http://schemas.openxmlformats.org/drawingml/2006/main">
              <a:ext uri="{FF2B5EF4-FFF2-40B4-BE49-F238E27FC236}">
                <a16:creationId xmlns:a16="http://schemas.microsoft.com/office/drawing/2014/main" id="{3A48F429-4279-4E8A-8367-CBD0971272FF}"/>
              </a:ext>
            </a:extLst>
          </p:cNvPr>
          <p:cNvSpPr>
            <a:spLocks xmlns:a="http://schemas.openxmlformats.org/drawingml/2006/main" noGrp="1"/>
          </p:cNvSpPr>
          <p:nvPr/>
        </p:nvSpPr>
        <p:spPr>
          <a:xfrm xmlns:a="http://schemas.openxmlformats.org/drawingml/2006/main">
            <a:off x="6553200" y="1885950"/>
            <a:ext cx="4191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FAFAF3"/>
                </a:solidFill>
                <a:latin typeface="Arial"/>
                <a:ea typeface="Arial"/>
                <a:cs typeface="Arial"/>
              </a:defRPr>
            </a:pPr>
            <a:r>
              <a:rPr sz="2175" b="1">
                <a:solidFill>
                  <a:srgbClr val="FAFAF3"/>
                </a:solidFill>
                <a:latin typeface="Arial"/>
                <a:ea typeface="Arial"/>
                <a:cs typeface="Arial"/>
              </a:rPr>
              <a:t>01   Find relevant work</a:t>
            </a:r>
          </a:p>
        </p:txBody>
      </p:sp>
      <p:sp>
        <p:nvSpPr>
          <p:cNvPr id="6" name="">
            <a:extLst xmlns:a="http://schemas.openxmlformats.org/drawingml/2006/main">
              <a:ext uri="{FF2B5EF4-FFF2-40B4-BE49-F238E27FC236}">
                <a16:creationId xmlns:a16="http://schemas.microsoft.com/office/drawing/2014/main" id="{5115C3D8-C80F-481F-8F43-4DC55C4EB6C9}"/>
              </a:ext>
            </a:extLst>
          </p:cNvPr>
          <p:cNvSpPr>
            <a:spLocks xmlns:a="http://schemas.openxmlformats.org/drawingml/2006/main" noGrp="1"/>
          </p:cNvSpPr>
          <p:nvPr/>
        </p:nvSpPr>
        <p:spPr>
          <a:xfrm xmlns:a="http://schemas.openxmlformats.org/drawingml/2006/main">
            <a:off x="6553200" y="2571750"/>
            <a:ext cx="4191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FAFAF3"/>
                </a:solidFill>
                <a:latin typeface="Arial"/>
                <a:ea typeface="Arial"/>
                <a:cs typeface="Arial"/>
              </a:defRPr>
            </a:pPr>
            <a:r>
              <a:rPr sz="2175" b="1">
                <a:solidFill>
                  <a:srgbClr val="FAFAF3"/>
                </a:solidFill>
                <a:latin typeface="Arial"/>
                <a:ea typeface="Arial"/>
                <a:cs typeface="Arial"/>
              </a:rPr>
              <a:t>02   Read the source section</a:t>
            </a:r>
          </a:p>
        </p:txBody>
      </p:sp>
      <p:sp>
        <p:nvSpPr>
          <p:cNvPr id="7" name="">
            <a:extLst xmlns:a="http://schemas.openxmlformats.org/drawingml/2006/main">
              <a:ext uri="{FF2B5EF4-FFF2-40B4-BE49-F238E27FC236}">
                <a16:creationId xmlns:a16="http://schemas.microsoft.com/office/drawing/2014/main" id="{13DB2CE9-C56F-4362-9CBB-E7DA5822514F}"/>
              </a:ext>
            </a:extLst>
          </p:cNvPr>
          <p:cNvSpPr>
            <a:spLocks xmlns:a="http://schemas.openxmlformats.org/drawingml/2006/main" noGrp="1"/>
          </p:cNvSpPr>
          <p:nvPr/>
        </p:nvSpPr>
        <p:spPr>
          <a:xfrm xmlns:a="http://schemas.openxmlformats.org/drawingml/2006/main">
            <a:off x="6553200" y="3257550"/>
            <a:ext cx="4191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1">
                <a:solidFill>
                  <a:srgbClr val="FAFAF3"/>
                </a:solidFill>
                <a:latin typeface="Arial"/>
                <a:ea typeface="Arial"/>
                <a:cs typeface="Arial"/>
              </a:defRPr>
            </a:pPr>
            <a:r>
              <a:rPr sz="2025" b="1">
                <a:solidFill>
                  <a:srgbClr val="FAFAF3"/>
                </a:solidFill>
                <a:latin typeface="Arial"/>
                <a:ea typeface="Arial"/>
                <a:cs typeface="Arial"/>
              </a:rPr>
              <a:t>03   Retrieve formulas, code,</a:t>
            </a:r>
          </a:p>
          <a:p xmlns:a="http://schemas.openxmlformats.org/drawingml/2006/main">
            <a:pPr algn="l">
              <a:defRPr sz="2025" b="1">
                <a:solidFill>
                  <a:srgbClr val="FAFAF3"/>
                </a:solidFill>
                <a:latin typeface="Arial"/>
                <a:ea typeface="Arial"/>
                <a:cs typeface="Arial"/>
              </a:defRPr>
            </a:pPr>
            <a:r>
              <a:rPr sz="2025" b="1">
                <a:solidFill>
                  <a:srgbClr val="FAFAF3"/>
                </a:solidFill>
                <a:latin typeface="Arial"/>
                <a:ea typeface="Arial"/>
                <a:cs typeface="Arial"/>
              </a:rPr>
              <a:t>       or stated limitations</a:t>
            </a:r>
          </a:p>
        </p:txBody>
      </p:sp>
      <p:sp>
        <p:nvSpPr>
          <p:cNvPr id="8" name="">
            <a:extLst xmlns:a="http://schemas.openxmlformats.org/drawingml/2006/main">
              <a:ext uri="{FF2B5EF4-FFF2-40B4-BE49-F238E27FC236}">
                <a16:creationId xmlns:a16="http://schemas.microsoft.com/office/drawing/2014/main" id="{7FC876B0-2C75-457D-B96E-2460BF2D7918}"/>
              </a:ext>
            </a:extLst>
          </p:cNvPr>
          <p:cNvSpPr>
            <a:spLocks xmlns:a="http://schemas.openxmlformats.org/drawingml/2006/main" noGrp="1"/>
          </p:cNvSpPr>
          <p:nvPr/>
        </p:nvSpPr>
        <p:spPr>
          <a:xfrm xmlns:a="http://schemas.openxmlformats.org/drawingml/2006/main">
            <a:off x="6553200" y="4114800"/>
            <a:ext cx="4191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1">
                <a:solidFill>
                  <a:srgbClr val="FAFAF3"/>
                </a:solidFill>
                <a:latin typeface="Arial"/>
                <a:ea typeface="Arial"/>
                <a:cs typeface="Arial"/>
              </a:defRPr>
            </a:pPr>
            <a:r>
              <a:rPr sz="2025" b="1">
                <a:solidFill>
                  <a:srgbClr val="FAFAF3"/>
                </a:solidFill>
                <a:latin typeface="Arial"/>
                <a:ea typeface="Arial"/>
                <a:cs typeface="Arial"/>
              </a:rPr>
              <a:t>04   Compare evidence and</a:t>
            </a:r>
          </a:p>
          <a:p xmlns:a="http://schemas.openxmlformats.org/drawingml/2006/main">
            <a:pPr algn="l">
              <a:defRPr sz="2025" b="1">
                <a:solidFill>
                  <a:srgbClr val="FAFAF3"/>
                </a:solidFill>
                <a:latin typeface="Arial"/>
                <a:ea typeface="Arial"/>
                <a:cs typeface="Arial"/>
              </a:defRPr>
            </a:pPr>
            <a:r>
              <a:rPr sz="2025" b="1">
                <a:solidFill>
                  <a:srgbClr val="FAFAF3"/>
                </a:solidFill>
                <a:latin typeface="Arial"/>
                <a:ea typeface="Arial"/>
                <a:cs typeface="Arial"/>
              </a:rPr>
              <a:t>       record a reading</a:t>
            </a:r>
          </a:p>
        </p:txBody>
      </p:sp>
      <p:sp>
        <p:nvSpPr>
          <p:cNvPr id="9" name="">
            <a:extLst xmlns:a="http://schemas.openxmlformats.org/drawingml/2006/main">
              <a:ext uri="{FF2B5EF4-FFF2-40B4-BE49-F238E27FC236}">
                <a16:creationId xmlns:a16="http://schemas.microsoft.com/office/drawing/2014/main" id="{ACE0012D-B669-4390-B95B-92CD3928F25E}"/>
              </a:ext>
            </a:extLst>
          </p:cNvPr>
          <p:cNvSpPr>
            <a:spLocks xmlns:a="http://schemas.openxmlformats.org/drawingml/2006/main" noGrp="1"/>
          </p:cNvSpPr>
          <p:nvPr/>
        </p:nvSpPr>
        <p:spPr>
          <a:xfrm xmlns:a="http://schemas.openxmlformats.org/drawingml/2006/main">
            <a:off x="781050" y="605790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D9DFE4"/>
                </a:solidFill>
                <a:latin typeface="Consolas"/>
                <a:ea typeface="Consolas"/>
                <a:cs typeface="Consolas"/>
              </a:defRPr>
            </a:pPr>
            <a:r>
              <a:rPr sz="1275" b="0">
                <a:solidFill>
                  <a:srgbClr val="D9DFE4"/>
                </a:solidFill>
                <a:latin typeface="Consolas"/>
                <a:ea typeface="Consolas"/>
                <a:cs typeface="Consolas"/>
              </a:rPr>
              <a:t>PAPERS     /     EIPS AND ERCS     /     SOLANA SIMDS     /     TECHNICAL WHITEPAPERS</a:t>
            </a:r>
          </a:p>
        </p:txBody>
      </p:sp>
    </p:spTree>
    <p:extLst>
      <p:ext uri="{BB962C8B-B14F-4D97-AF65-F5344CB8AC3E}">
        <p14:creationId xmlns:p14="http://schemas.microsoft.com/office/powerpoint/2010/main" val="1260254386"/>
      </p:ext>
    </p:extLst>
  </p:cSld>
</p:sld>
</file>

<file path=ppt/slides/slide5.xml><?xml version="1.0" encoding="utf-8"?>
<p:sld xmlns:p="http://schemas.openxmlformats.org/presentationml/2006/main">
  <p:cSld>
    <p:bg>
      <p:bgPr>
        <a:solidFill xmlns:a="http://schemas.openxmlformats.org/drawingml/2006/main">
          <a:srgbClr val="FAFAF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4E5E829-D17B-4968-B16E-34B63DC769A0}"/>
              </a:ext>
            </a:extLst>
          </p:cNvPr>
          <p:cNvSpPr>
            <a:spLocks xmlns:a="http://schemas.openxmlformats.org/drawingml/2006/main" noGrp="1"/>
          </p:cNvSpPr>
          <p:nvPr/>
        </p:nvSpPr>
        <p:spPr>
          <a:xfrm xmlns:a="http://schemas.openxmlformats.org/drawingml/2006/main">
            <a:off x="781050" y="590550"/>
            <a:ext cx="1038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86777"/>
                </a:solidFill>
                <a:latin typeface="Consolas"/>
                <a:ea typeface="Consolas"/>
                <a:cs typeface="Consolas"/>
              </a:defRPr>
            </a:pPr>
            <a:r>
              <a:rPr sz="1350" b="0">
                <a:solidFill>
                  <a:srgbClr val="586777"/>
                </a:solidFill>
                <a:latin typeface="Consolas"/>
                <a:ea typeface="Consolas"/>
                <a:cs typeface="Consolas"/>
              </a:rPr>
              <a:t>04     /     ORIGINAL SOURCE EQUATIONS</a:t>
            </a:r>
          </a:p>
        </p:txBody>
      </p:sp>
      <p:sp>
        <p:nvSpPr>
          <p:cNvPr id="2" name="">
            <a:extLst xmlns:a="http://schemas.openxmlformats.org/drawingml/2006/main">
              <a:ext uri="{FF2B5EF4-FFF2-40B4-BE49-F238E27FC236}">
                <a16:creationId xmlns:a16="http://schemas.microsoft.com/office/drawing/2014/main" id="{656B9656-9CC9-43E8-86C0-B8361908197D}"/>
              </a:ext>
            </a:extLst>
          </p:cNvPr>
          <p:cNvSpPr>
            <a:spLocks xmlns:a="http://schemas.openxmlformats.org/drawingml/2006/main" noGrp="1"/>
          </p:cNvSpPr>
          <p:nvPr/>
        </p:nvSpPr>
        <p:spPr>
          <a:xfrm xmlns:a="http://schemas.openxmlformats.org/drawingml/2006/main">
            <a:off x="781050" y="1123950"/>
            <a:ext cx="10477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050" b="1">
                <a:solidFill>
                  <a:srgbClr val="1A1A1A"/>
                </a:solidFill>
                <a:latin typeface="Arial"/>
                <a:ea typeface="Arial"/>
                <a:cs typeface="Arial"/>
              </a:defRPr>
            </a:pPr>
            <a:r>
              <a:rPr sz="4050" b="1">
                <a:solidFill>
                  <a:srgbClr val="1A1A1A"/>
                </a:solidFill>
                <a:latin typeface="Arial"/>
                <a:ea typeface="Arial"/>
                <a:cs typeface="Arial"/>
              </a:rPr>
              <a:t>Original equations</a:t>
            </a:r>
          </a:p>
          <a:p xmlns:a="http://schemas.openxmlformats.org/drawingml/2006/main">
            <a:pPr algn="l">
              <a:defRPr sz="4050" b="1">
                <a:solidFill>
                  <a:srgbClr val="1A1A1A"/>
                </a:solidFill>
                <a:latin typeface="Arial"/>
                <a:ea typeface="Arial"/>
                <a:cs typeface="Arial"/>
              </a:defRPr>
            </a:pPr>
            <a:r>
              <a:rPr sz="4050" b="1">
                <a:solidFill>
                  <a:srgbClr val="1A1A1A"/>
                </a:solidFill>
                <a:latin typeface="Arial"/>
                <a:ea typeface="Arial"/>
                <a:cs typeface="Arial"/>
              </a:rPr>
              <a:t>with their assumptions.</a:t>
            </a:r>
          </a:p>
        </p:txBody>
      </p:sp>
      <p:sp>
        <p:nvSpPr>
          <p:cNvPr id="3" name="">
            <a:extLst xmlns:a="http://schemas.openxmlformats.org/drawingml/2006/main">
              <a:ext uri="{FF2B5EF4-FFF2-40B4-BE49-F238E27FC236}">
                <a16:creationId xmlns:a16="http://schemas.microsoft.com/office/drawing/2014/main" id="{9348F90F-A186-4267-BE4D-6ADA60E38984}"/>
              </a:ext>
            </a:extLst>
          </p:cNvPr>
          <p:cNvSpPr>
            <a:spLocks xmlns:a="http://schemas.openxmlformats.org/drawingml/2006/main" noGrp="1"/>
          </p:cNvSpPr>
          <p:nvPr/>
        </p:nvSpPr>
        <p:spPr>
          <a:xfrm xmlns:a="http://schemas.openxmlformats.org/drawingml/2006/main">
            <a:off x="857250" y="27241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86777"/>
                </a:solidFill>
                <a:latin typeface="Consolas"/>
                <a:ea typeface="Consolas"/>
                <a:cs typeface="Consolas"/>
              </a:defRPr>
            </a:pPr>
            <a:r>
              <a:rPr sz="1350" b="0">
                <a:solidFill>
                  <a:srgbClr val="586777"/>
                </a:solidFill>
                <a:latin typeface="Consolas"/>
                <a:ea typeface="Consolas"/>
                <a:cs typeface="Consolas"/>
              </a:rPr>
              <a:t>BEV AUCTION MODEL     /     EQUATION 4</a:t>
            </a:r>
          </a:p>
        </p:txBody>
      </p:sp>
      <p:sp>
        <p:nvSpPr>
          <p:cNvPr id="4" name="">
            <a:extLst xmlns:a="http://schemas.openxmlformats.org/drawingml/2006/main">
              <a:ext uri="{FF2B5EF4-FFF2-40B4-BE49-F238E27FC236}">
                <a16:creationId xmlns:a16="http://schemas.microsoft.com/office/drawing/2014/main" id="{C3F6005A-A6CA-40E6-81F6-F17B0279CEE9}"/>
              </a:ext>
            </a:extLst>
          </p:cNvPr>
          <p:cNvSpPr>
            <a:spLocks xmlns:a="http://schemas.openxmlformats.org/drawingml/2006/main" noGrp="1"/>
          </p:cNvSpPr>
          <p:nvPr/>
        </p:nvSpPr>
        <p:spPr>
          <a:xfrm xmlns:a="http://schemas.openxmlformats.org/drawingml/2006/main">
            <a:off x="857250" y="3238500"/>
            <a:ext cx="10477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1A1A1A"/>
                </a:solidFill>
                <a:latin typeface="Arial"/>
                <a:ea typeface="Arial"/>
                <a:cs typeface="Arial"/>
              </a:defRPr>
            </a:pPr>
            <a:r>
              <a:rPr sz="2775" b="1">
                <a:solidFill>
                  <a:srgbClr val="1A1A1A"/>
                </a:solidFill>
                <a:latin typeface="Arial"/>
                <a:ea typeface="Arial"/>
                <a:cs typeface="Arial"/>
              </a:rPr>
              <a:t>bᵢᴾᴬ(O, Sᵢ) = (n − 1)/n × Rᵢ(O)</a:t>
            </a:r>
          </a:p>
        </p:txBody>
      </p:sp>
      <p:sp>
        <p:nvSpPr>
          <p:cNvPr id="5" name="">
            <a:extLst xmlns:a="http://schemas.openxmlformats.org/drawingml/2006/main">
              <a:ext uri="{FF2B5EF4-FFF2-40B4-BE49-F238E27FC236}">
                <a16:creationId xmlns:a16="http://schemas.microsoft.com/office/drawing/2014/main" id="{7F472A21-E31B-4069-979E-0D5E54E01E0B}"/>
              </a:ext>
            </a:extLst>
          </p:cNvPr>
          <p:cNvSpPr>
            <a:spLocks xmlns:a="http://schemas.openxmlformats.org/drawingml/2006/main" noGrp="1"/>
          </p:cNvSpPr>
          <p:nvPr/>
        </p:nvSpPr>
        <p:spPr>
          <a:xfrm xmlns:a="http://schemas.openxmlformats.org/drawingml/2006/main">
            <a:off x="857250" y="39433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1A1A1A"/>
                </a:solidFill>
                <a:latin typeface="Consolas"/>
                <a:ea typeface="Consolas"/>
                <a:cs typeface="Consolas"/>
              </a:defRPr>
            </a:pPr>
            <a:r>
              <a:rPr sz="1575" b="0">
                <a:solidFill>
                  <a:srgbClr val="1A1A1A"/>
                </a:solidFill>
                <a:latin typeface="Consolas"/>
                <a:ea typeface="Consolas"/>
                <a:cs typeface="Consolas"/>
              </a:rPr>
              <a:t>b_i^{\text{PA}}(\mathcal{O}, \mathcal{S}_i)=\frac{n-1}{n}\mathcal{R}_i(\mathcal{O})</a:t>
            </a:r>
          </a:p>
        </p:txBody>
      </p:sp>
      <p:sp>
        <p:nvSpPr>
          <p:cNvPr id="6" name="">
            <a:extLst xmlns:a="http://schemas.openxmlformats.org/drawingml/2006/main">
              <a:ext uri="{FF2B5EF4-FFF2-40B4-BE49-F238E27FC236}">
                <a16:creationId xmlns:a16="http://schemas.microsoft.com/office/drawing/2014/main" id="{4B3DB3B6-B881-4C95-B8AA-3C52156B5BB3}"/>
              </a:ext>
            </a:extLst>
          </p:cNvPr>
          <p:cNvSpPr>
            <a:spLocks xmlns:a="http://schemas.openxmlformats.org/drawingml/2006/main" noGrp="1"/>
          </p:cNvSpPr>
          <p:nvPr/>
        </p:nvSpPr>
        <p:spPr>
          <a:xfrm xmlns:a="http://schemas.openxmlformats.org/drawingml/2006/main">
            <a:off x="857250" y="4810125"/>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1A1A1A"/>
                </a:solidFill>
                <a:latin typeface="Arial"/>
                <a:ea typeface="Arial"/>
                <a:cs typeface="Arial"/>
              </a:defRPr>
            </a:pPr>
            <a:r>
              <a:rPr sz="1875" b="1">
                <a:solidFill>
                  <a:srgbClr val="1A1A1A"/>
                </a:solidFill>
                <a:latin typeface="Arial"/>
                <a:ea typeface="Arial"/>
                <a:cs typeface="Arial"/>
              </a:rPr>
              <a:t>Assumes uniform rewards and known participant count.</a:t>
            </a:r>
          </a:p>
        </p:txBody>
      </p:sp>
      <p:sp>
        <p:nvSpPr>
          <p:cNvPr id="7" name="">
            <a:extLst xmlns:a="http://schemas.openxmlformats.org/drawingml/2006/main">
              <a:ext uri="{FF2B5EF4-FFF2-40B4-BE49-F238E27FC236}">
                <a16:creationId xmlns:a16="http://schemas.microsoft.com/office/drawing/2014/main" id="{DFC0DE95-5DA2-407E-BFE7-019494A464A0}"/>
              </a:ext>
            </a:extLst>
          </p:cNvPr>
          <p:cNvSpPr>
            <a:spLocks xmlns:a="http://schemas.openxmlformats.org/drawingml/2006/main" noGrp="1"/>
          </p:cNvSpPr>
          <p:nvPr/>
        </p:nvSpPr>
        <p:spPr>
          <a:xfrm xmlns:a="http://schemas.openxmlformats.org/drawingml/2006/main">
            <a:off x="857250" y="533400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1A1A1A"/>
                </a:solidFill>
                <a:latin typeface="Arial"/>
                <a:ea typeface="Arial"/>
                <a:cs typeface="Arial"/>
              </a:defRPr>
            </a:pPr>
            <a:r>
              <a:rPr sz="1575" b="0">
                <a:solidFill>
                  <a:srgbClr val="1A1A1A"/>
                </a:solidFill>
                <a:latin typeface="Arial"/>
                <a:ea typeface="Arial"/>
                <a:cs typeface="Arial"/>
              </a:rPr>
              <a:t>Readable notation above. Exact source LaTeX below.</a:t>
            </a:r>
          </a:p>
        </p:txBody>
      </p:sp>
      <p:sp>
        <p:nvSpPr>
          <p:cNvPr id="8" name="">
            <a:extLst xmlns:a="http://schemas.openxmlformats.org/drawingml/2006/main">
              <a:ext uri="{FF2B5EF4-FFF2-40B4-BE49-F238E27FC236}">
                <a16:creationId xmlns:a16="http://schemas.microsoft.com/office/drawing/2014/main" id="{B5D058A8-7796-46F7-AB9B-FE6B3B78D3EA}"/>
              </a:ext>
            </a:extLst>
          </p:cNvPr>
          <p:cNvSpPr>
            <a:spLocks xmlns:a="http://schemas.openxmlformats.org/drawingml/2006/main" noGrp="1"/>
          </p:cNvSpPr>
          <p:nvPr/>
        </p:nvSpPr>
        <p:spPr>
          <a:xfrm xmlns:a="http://schemas.openxmlformats.org/drawingml/2006/main">
            <a:off x="781050" y="605790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86777"/>
                </a:solidFill>
                <a:latin typeface="Consolas"/>
                <a:ea typeface="Consolas"/>
                <a:cs typeface="Consolas"/>
              </a:defRPr>
            </a:pPr>
            <a:r>
              <a:rPr sz="1275" b="0">
                <a:solidFill>
                  <a:srgbClr val="586777"/>
                </a:solidFill>
                <a:latin typeface="Consolas"/>
                <a:ea typeface="Consolas"/>
                <a:cs typeface="Consolas"/>
              </a:rPr>
              <a:t>QUANTIFYING BLOCKCHAIN EXTRACTABLE VALUE     /     ARXIV:2101.05511</a:t>
            </a:r>
          </a:p>
        </p:txBody>
      </p:sp>
    </p:spTree>
    <p:extLst>
      <p:ext uri="{BB962C8B-B14F-4D97-AF65-F5344CB8AC3E}">
        <p14:creationId xmlns:p14="http://schemas.microsoft.com/office/powerpoint/2010/main" val="1537454610"/>
      </p:ext>
    </p:extLst>
  </p:cSld>
</p:sld>
</file>

<file path=ppt/slides/slide6.xml><?xml version="1.0" encoding="utf-8"?>
<p:sld xmlns:p="http://schemas.openxmlformats.org/presentationml/2006/main">
  <p:cSld>
    <p:bg>
      <p:bgPr>
        <a:solidFill xmlns:a="http://schemas.openxmlformats.org/drawingml/2006/main">
          <a:srgbClr val="E7AE3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FDB76DA-B3A3-4F01-8280-0DE0A7CC362F}"/>
              </a:ext>
            </a:extLst>
          </p:cNvPr>
          <p:cNvSpPr>
            <a:spLocks xmlns:a="http://schemas.openxmlformats.org/drawingml/2006/main" noGrp="1"/>
          </p:cNvSpPr>
          <p:nvPr/>
        </p:nvSpPr>
        <p:spPr>
          <a:xfrm xmlns:a="http://schemas.openxmlformats.org/drawingml/2006/main">
            <a:off x="781050" y="590550"/>
            <a:ext cx="1038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1401C"/>
                </a:solidFill>
                <a:latin typeface="Consolas"/>
                <a:ea typeface="Consolas"/>
                <a:cs typeface="Consolas"/>
              </a:defRPr>
            </a:pPr>
            <a:r>
              <a:rPr sz="1350" b="0">
                <a:solidFill>
                  <a:srgbClr val="51401C"/>
                </a:solidFill>
                <a:latin typeface="Consolas"/>
                <a:ea typeface="Consolas"/>
                <a:cs typeface="Consolas"/>
              </a:rPr>
              <a:t>05     /     AUTHOR-STATED CONSTRAINTS</a:t>
            </a:r>
          </a:p>
        </p:txBody>
      </p:sp>
      <p:sp>
        <p:nvSpPr>
          <p:cNvPr id="2" name="">
            <a:extLst xmlns:a="http://schemas.openxmlformats.org/drawingml/2006/main">
              <a:ext uri="{FF2B5EF4-FFF2-40B4-BE49-F238E27FC236}">
                <a16:creationId xmlns:a16="http://schemas.microsoft.com/office/drawing/2014/main" id="{37F46BDD-29E5-4E02-884E-9A72C7DEF4EE}"/>
              </a:ext>
            </a:extLst>
          </p:cNvPr>
          <p:cNvSpPr>
            <a:spLocks xmlns:a="http://schemas.openxmlformats.org/drawingml/2006/main" noGrp="1"/>
          </p:cNvSpPr>
          <p:nvPr/>
        </p:nvSpPr>
        <p:spPr>
          <a:xfrm xmlns:a="http://schemas.openxmlformats.org/drawingml/2006/main">
            <a:off x="781050" y="1162050"/>
            <a:ext cx="1028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350" b="1">
                <a:solidFill>
                  <a:srgbClr val="1A1A1A"/>
                </a:solidFill>
                <a:latin typeface="Arial"/>
                <a:ea typeface="Arial"/>
                <a:cs typeface="Arial"/>
              </a:defRPr>
            </a:pPr>
            <a:r>
              <a:rPr sz="4350" b="1">
                <a:solidFill>
                  <a:srgbClr val="1A1A1A"/>
                </a:solidFill>
                <a:latin typeface="Arial"/>
                <a:ea typeface="Arial"/>
                <a:cs typeface="Arial"/>
              </a:rPr>
              <a:t>Design limits</a:t>
            </a:r>
          </a:p>
          <a:p xmlns:a="http://schemas.openxmlformats.org/drawingml/2006/main">
            <a:pPr algn="l">
              <a:defRPr sz="4350" b="1">
                <a:solidFill>
                  <a:srgbClr val="1A1A1A"/>
                </a:solidFill>
                <a:latin typeface="Arial"/>
                <a:ea typeface="Arial"/>
                <a:cs typeface="Arial"/>
              </a:defRPr>
            </a:pPr>
            <a:r>
              <a:rPr sz="4350" b="1">
                <a:solidFill>
                  <a:srgbClr val="1A1A1A"/>
                </a:solidFill>
                <a:latin typeface="Arial"/>
                <a:ea typeface="Arial"/>
                <a:cs typeface="Arial"/>
              </a:rPr>
              <a:t>from the authors.</a:t>
            </a:r>
          </a:p>
        </p:txBody>
      </p:sp>
      <p:sp>
        <p:nvSpPr>
          <p:cNvPr id="3" name="">
            <a:extLst xmlns:a="http://schemas.openxmlformats.org/drawingml/2006/main">
              <a:ext uri="{FF2B5EF4-FFF2-40B4-BE49-F238E27FC236}">
                <a16:creationId xmlns:a16="http://schemas.microsoft.com/office/drawing/2014/main" id="{26EF4090-4912-4ECF-B5AD-12FA0C65A8D8}"/>
              </a:ext>
            </a:extLst>
          </p:cNvPr>
          <p:cNvSpPr>
            <a:spLocks xmlns:a="http://schemas.openxmlformats.org/drawingml/2006/main" noGrp="1"/>
          </p:cNvSpPr>
          <p:nvPr/>
        </p:nvSpPr>
        <p:spPr>
          <a:xfrm xmlns:a="http://schemas.openxmlformats.org/drawingml/2006/main">
            <a:off x="781050" y="2857500"/>
            <a:ext cx="3286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1A1A1A"/>
                </a:solidFill>
                <a:latin typeface="Arial"/>
                <a:ea typeface="Arial"/>
                <a:cs typeface="Arial"/>
              </a:defRPr>
            </a:pPr>
            <a:r>
              <a:rPr sz="2400" b="1">
                <a:solidFill>
                  <a:srgbClr val="1A1A1A"/>
                </a:solidFill>
                <a:latin typeface="Arial"/>
                <a:ea typeface="Arial"/>
                <a:cs typeface="Arial"/>
              </a:rPr>
              <a:t>EntryPoint</a:t>
            </a:r>
          </a:p>
          <a:p xmlns:a="http://schemas.openxmlformats.org/drawingml/2006/main">
            <a:pPr algn="l">
              <a:defRPr sz="2400" b="1">
                <a:solidFill>
                  <a:srgbClr val="1A1A1A"/>
                </a:solidFill>
                <a:latin typeface="Arial"/>
                <a:ea typeface="Arial"/>
                <a:cs typeface="Arial"/>
              </a:defRPr>
            </a:pPr>
            <a:r>
              <a:rPr sz="2400" b="1">
                <a:solidFill>
                  <a:srgbClr val="1A1A1A"/>
                </a:solidFill>
                <a:latin typeface="Arial"/>
                <a:ea typeface="Arial"/>
                <a:cs typeface="Arial"/>
              </a:rPr>
              <a:t>concentrates risk.</a:t>
            </a:r>
          </a:p>
        </p:txBody>
      </p:sp>
      <p:sp>
        <p:nvSpPr>
          <p:cNvPr id="4" name="">
            <a:extLst xmlns:a="http://schemas.openxmlformats.org/drawingml/2006/main">
              <a:ext uri="{FF2B5EF4-FFF2-40B4-BE49-F238E27FC236}">
                <a16:creationId xmlns:a16="http://schemas.microsoft.com/office/drawing/2014/main" id="{1850B1C7-B007-45EB-A666-8B3B2F226DAD}"/>
              </a:ext>
            </a:extLst>
          </p:cNvPr>
          <p:cNvSpPr>
            <a:spLocks xmlns:a="http://schemas.openxmlformats.org/drawingml/2006/main" noGrp="1"/>
          </p:cNvSpPr>
          <p:nvPr/>
        </p:nvSpPr>
        <p:spPr>
          <a:xfrm xmlns:a="http://schemas.openxmlformats.org/drawingml/2006/main">
            <a:off x="4448175" y="2857500"/>
            <a:ext cx="3286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1A1A1A"/>
                </a:solidFill>
                <a:latin typeface="Arial"/>
                <a:ea typeface="Arial"/>
                <a:cs typeface="Arial"/>
              </a:defRPr>
            </a:pPr>
            <a:r>
              <a:rPr sz="2400" b="1">
                <a:solidFill>
                  <a:srgbClr val="1A1A1A"/>
                </a:solidFill>
                <a:latin typeface="Arial"/>
                <a:ea typeface="Arial"/>
                <a:cs typeface="Arial"/>
              </a:rPr>
              <a:t>Hijacking and</a:t>
            </a:r>
          </a:p>
          <a:p xmlns:a="http://schemas.openxmlformats.org/drawingml/2006/main">
            <a:pPr algn="l">
              <a:defRPr sz="2400" b="1">
                <a:solidFill>
                  <a:srgbClr val="1A1A1A"/>
                </a:solidFill>
                <a:latin typeface="Arial"/>
                <a:ea typeface="Arial"/>
                <a:cs typeface="Arial"/>
              </a:defRPr>
            </a:pPr>
            <a:r>
              <a:rPr sz="2400" b="1">
                <a:solidFill>
                  <a:srgbClr val="1A1A1A"/>
                </a:solidFill>
                <a:latin typeface="Arial"/>
                <a:ea typeface="Arial"/>
                <a:cs typeface="Arial"/>
              </a:rPr>
              <a:t>fee draining matter.</a:t>
            </a:r>
          </a:p>
        </p:txBody>
      </p:sp>
      <p:sp>
        <p:nvSpPr>
          <p:cNvPr id="5" name="">
            <a:extLst xmlns:a="http://schemas.openxmlformats.org/drawingml/2006/main">
              <a:ext uri="{FF2B5EF4-FFF2-40B4-BE49-F238E27FC236}">
                <a16:creationId xmlns:a16="http://schemas.microsoft.com/office/drawing/2014/main" id="{D9DA19D1-3CEB-4C83-925C-EF3684B951FE}"/>
              </a:ext>
            </a:extLst>
          </p:cNvPr>
          <p:cNvSpPr>
            <a:spLocks xmlns:a="http://schemas.openxmlformats.org/drawingml/2006/main" noGrp="1"/>
          </p:cNvSpPr>
          <p:nvPr/>
        </p:nvSpPr>
        <p:spPr>
          <a:xfrm xmlns:a="http://schemas.openxmlformats.org/drawingml/2006/main">
            <a:off x="8115300" y="2857500"/>
            <a:ext cx="323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1A1A1A"/>
                </a:solidFill>
                <a:latin typeface="Arial"/>
                <a:ea typeface="Arial"/>
                <a:cs typeface="Arial"/>
              </a:defRPr>
            </a:pPr>
            <a:r>
              <a:rPr sz="2250" b="1">
                <a:solidFill>
                  <a:srgbClr val="1A1A1A"/>
                </a:solidFill>
                <a:latin typeface="Arial"/>
                <a:ea typeface="Arial"/>
                <a:cs typeface="Arial"/>
              </a:rPr>
              <a:t>Authors call for</a:t>
            </a:r>
          </a:p>
          <a:p xmlns:a="http://schemas.openxmlformats.org/drawingml/2006/main">
            <a:pPr algn="l">
              <a:defRPr sz="2250" b="1">
                <a:solidFill>
                  <a:srgbClr val="1A1A1A"/>
                </a:solidFill>
                <a:latin typeface="Arial"/>
                <a:ea typeface="Arial"/>
                <a:cs typeface="Arial"/>
              </a:defRPr>
            </a:pPr>
            <a:r>
              <a:rPr sz="2250" b="1">
                <a:solidFill>
                  <a:srgbClr val="1A1A1A"/>
                </a:solidFill>
                <a:latin typeface="Arial"/>
                <a:ea typeface="Arial"/>
                <a:cs typeface="Arial"/>
              </a:rPr>
              <a:t>auditing and formal</a:t>
            </a:r>
          </a:p>
          <a:p xmlns:a="http://schemas.openxmlformats.org/drawingml/2006/main">
            <a:pPr algn="l">
              <a:defRPr sz="2250" b="1">
                <a:solidFill>
                  <a:srgbClr val="1A1A1A"/>
                </a:solidFill>
                <a:latin typeface="Arial"/>
                <a:ea typeface="Arial"/>
                <a:cs typeface="Arial"/>
              </a:defRPr>
            </a:pPr>
            <a:r>
              <a:rPr sz="2250" b="1">
                <a:solidFill>
                  <a:srgbClr val="1A1A1A"/>
                </a:solidFill>
                <a:latin typeface="Arial"/>
                <a:ea typeface="Arial"/>
                <a:cs typeface="Arial"/>
              </a:rPr>
              <a:t>verification.</a:t>
            </a:r>
          </a:p>
        </p:txBody>
      </p:sp>
      <p:sp>
        <p:nvSpPr>
          <p:cNvPr id="6" name="">
            <a:extLst xmlns:a="http://schemas.openxmlformats.org/drawingml/2006/main">
              <a:ext uri="{FF2B5EF4-FFF2-40B4-BE49-F238E27FC236}">
                <a16:creationId xmlns:a16="http://schemas.microsoft.com/office/drawing/2014/main" id="{F63B3819-CA60-439D-A621-C55FD0FA2FAD}"/>
              </a:ext>
            </a:extLst>
          </p:cNvPr>
          <p:cNvSpPr>
            <a:spLocks xmlns:a="http://schemas.openxmlformats.org/drawingml/2006/main" noGrp="1"/>
          </p:cNvSpPr>
          <p:nvPr/>
        </p:nvSpPr>
        <p:spPr>
          <a:xfrm xmlns:a="http://schemas.openxmlformats.org/drawingml/2006/main">
            <a:off x="781050" y="47053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1A1A1A"/>
                </a:solidFill>
                <a:latin typeface="Arial"/>
                <a:ea typeface="Arial"/>
                <a:cs typeface="Arial"/>
              </a:defRPr>
            </a:pPr>
            <a:r>
              <a:rPr sz="2400" b="0">
                <a:solidFill>
                  <a:srgbClr val="1A1A1A"/>
                </a:solidFill>
                <a:latin typeface="Arial"/>
                <a:ea typeface="Arial"/>
                <a:cs typeface="Arial"/>
              </a:rPr>
              <a:t>A retrieved warning, not a dtox security audit.</a:t>
            </a:r>
          </a:p>
        </p:txBody>
      </p:sp>
      <p:sp>
        <p:nvSpPr>
          <p:cNvPr id="7" name="">
            <a:extLst xmlns:a="http://schemas.openxmlformats.org/drawingml/2006/main">
              <a:ext uri="{FF2B5EF4-FFF2-40B4-BE49-F238E27FC236}">
                <a16:creationId xmlns:a16="http://schemas.microsoft.com/office/drawing/2014/main" id="{A6BB543B-2FE1-4FA4-9B02-3BC4A3663AF6}"/>
              </a:ext>
            </a:extLst>
          </p:cNvPr>
          <p:cNvSpPr>
            <a:spLocks xmlns:a="http://schemas.openxmlformats.org/drawingml/2006/main" noGrp="1"/>
          </p:cNvSpPr>
          <p:nvPr/>
        </p:nvSpPr>
        <p:spPr>
          <a:xfrm xmlns:a="http://schemas.openxmlformats.org/drawingml/2006/main">
            <a:off x="781050" y="55530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1401C"/>
                </a:solidFill>
                <a:latin typeface="Consolas"/>
                <a:ea typeface="Consolas"/>
                <a:cs typeface="Consolas"/>
              </a:defRPr>
            </a:pPr>
            <a:r>
              <a:rPr sz="1275" b="0">
                <a:solidFill>
                  <a:srgbClr val="51401C"/>
                </a:solidFill>
                <a:latin typeface="Consolas"/>
                <a:ea typeface="Consolas"/>
                <a:cs typeface="Consolas"/>
              </a:rPr>
              <a:t>SOURCE     /     ERC-4337 SECURITY CONSIDERATIONS</a:t>
            </a:r>
          </a:p>
        </p:txBody>
      </p:sp>
    </p:spTree>
    <p:extLst>
      <p:ext uri="{BB962C8B-B14F-4D97-AF65-F5344CB8AC3E}">
        <p14:creationId xmlns:p14="http://schemas.microsoft.com/office/powerpoint/2010/main" val="376665101"/>
      </p:ext>
    </p:extLst>
  </p:cSld>
</p:sld>
</file>

<file path=ppt/slides/slide7.xml><?xml version="1.0" encoding="utf-8"?>
<p:sld xmlns:p="http://schemas.openxmlformats.org/presentationml/2006/main">
  <p:cSld>
    <p:bg>
      <p:bgPr>
        <a:solidFill xmlns:a="http://schemas.openxmlformats.org/drawingml/2006/main">
          <a:srgbClr val="14263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977699F-78E0-4955-88C1-902B7C1C6873}"/>
              </a:ext>
            </a:extLst>
          </p:cNvPr>
          <p:cNvSpPr>
            <a:spLocks xmlns:a="http://schemas.openxmlformats.org/drawingml/2006/main" noGrp="1"/>
          </p:cNvSpPr>
          <p:nvPr/>
        </p:nvSpPr>
        <p:spPr>
          <a:xfrm xmlns:a="http://schemas.openxmlformats.org/drawingml/2006/main">
            <a:off x="781050" y="590550"/>
            <a:ext cx="1038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E7AE34"/>
                </a:solidFill>
                <a:latin typeface="Consolas"/>
                <a:ea typeface="Consolas"/>
                <a:cs typeface="Consolas"/>
              </a:defRPr>
            </a:pPr>
            <a:r>
              <a:rPr sz="1350" b="0">
                <a:solidFill>
                  <a:srgbClr val="E7AE34"/>
                </a:solidFill>
                <a:latin typeface="Consolas"/>
                <a:ea typeface="Consolas"/>
                <a:cs typeface="Consolas"/>
              </a:rPr>
              <a:t>06     /     AN AGENT-NATIVE RESEARCH LAYER</a:t>
            </a:r>
          </a:p>
        </p:txBody>
      </p:sp>
      <p:sp>
        <p:nvSpPr>
          <p:cNvPr id="2" name="">
            <a:extLst xmlns:a="http://schemas.openxmlformats.org/drawingml/2006/main">
              <a:ext uri="{FF2B5EF4-FFF2-40B4-BE49-F238E27FC236}">
                <a16:creationId xmlns:a16="http://schemas.microsoft.com/office/drawing/2014/main" id="{3D71249D-C183-40A7-AF4D-8DF2CCB1BCE5}"/>
              </a:ext>
            </a:extLst>
          </p:cNvPr>
          <p:cNvSpPr>
            <a:spLocks xmlns:a="http://schemas.openxmlformats.org/drawingml/2006/main" noGrp="1"/>
          </p:cNvSpPr>
          <p:nvPr/>
        </p:nvSpPr>
        <p:spPr>
          <a:xfrm xmlns:a="http://schemas.openxmlformats.org/drawingml/2006/main">
            <a:off x="781050" y="1257300"/>
            <a:ext cx="1000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350" b="1">
                <a:solidFill>
                  <a:srgbClr val="FAFAF3"/>
                </a:solidFill>
                <a:latin typeface="Arial"/>
                <a:ea typeface="Arial"/>
                <a:cs typeface="Arial"/>
              </a:defRPr>
            </a:pPr>
            <a:r>
              <a:rPr sz="4350" b="1">
                <a:solidFill>
                  <a:srgbClr val="FAFAF3"/>
                </a:solidFill>
                <a:latin typeface="Arial"/>
                <a:ea typeface="Arial"/>
                <a:cs typeface="Arial"/>
              </a:rPr>
              <a:t>Research tools meet</a:t>
            </a:r>
          </a:p>
          <a:p xmlns:a="http://schemas.openxmlformats.org/drawingml/2006/main">
            <a:pPr algn="l">
              <a:defRPr sz="4350" b="1">
                <a:solidFill>
                  <a:srgbClr val="FAFAF3"/>
                </a:solidFill>
                <a:latin typeface="Arial"/>
                <a:ea typeface="Arial"/>
                <a:cs typeface="Arial"/>
              </a:defRPr>
            </a:pPr>
            <a:r>
              <a:rPr sz="4350" b="1">
                <a:solidFill>
                  <a:srgbClr val="FAFAF3"/>
                </a:solidFill>
                <a:latin typeface="Arial"/>
                <a:ea typeface="Arial"/>
                <a:cs typeface="Arial"/>
              </a:rPr>
              <a:t>the agent workflow.</a:t>
            </a:r>
          </a:p>
        </p:txBody>
      </p:sp>
      <p:sp>
        <p:nvSpPr>
          <p:cNvPr id="3" name="">
            <a:extLst xmlns:a="http://schemas.openxmlformats.org/drawingml/2006/main">
              <a:ext uri="{FF2B5EF4-FFF2-40B4-BE49-F238E27FC236}">
                <a16:creationId xmlns:a16="http://schemas.microsoft.com/office/drawing/2014/main" id="{A33040A1-B7B2-4841-A854-45739087B11E}"/>
              </a:ext>
            </a:extLst>
          </p:cNvPr>
          <p:cNvSpPr>
            <a:spLocks xmlns:a="http://schemas.openxmlformats.org/drawingml/2006/main" noGrp="1"/>
          </p:cNvSpPr>
          <p:nvPr/>
        </p:nvSpPr>
        <p:spPr>
          <a:xfrm xmlns:a="http://schemas.openxmlformats.org/drawingml/2006/main">
            <a:off x="781050" y="3124200"/>
            <a:ext cx="438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850" b="1">
                <a:solidFill>
                  <a:srgbClr val="E7AE34"/>
                </a:solidFill>
                <a:latin typeface="Arial"/>
                <a:ea typeface="Arial"/>
                <a:cs typeface="Arial"/>
              </a:defRPr>
            </a:pPr>
            <a:r>
              <a:rPr sz="2850" b="1">
                <a:solidFill>
                  <a:srgbClr val="E7AE34"/>
                </a:solidFill>
                <a:latin typeface="Arial"/>
                <a:ea typeface="Arial"/>
                <a:cs typeface="Arial"/>
              </a:rPr>
              <a:t>MCP</a:t>
            </a:r>
          </a:p>
        </p:txBody>
      </p:sp>
      <p:sp>
        <p:nvSpPr>
          <p:cNvPr id="4" name="">
            <a:extLst xmlns:a="http://schemas.openxmlformats.org/drawingml/2006/main">
              <a:ext uri="{FF2B5EF4-FFF2-40B4-BE49-F238E27FC236}">
                <a16:creationId xmlns:a16="http://schemas.microsoft.com/office/drawing/2014/main" id="{DE6FAB4B-C031-4396-AA2D-CC9836BD9EE0}"/>
              </a:ext>
            </a:extLst>
          </p:cNvPr>
          <p:cNvSpPr>
            <a:spLocks xmlns:a="http://schemas.openxmlformats.org/drawingml/2006/main" noGrp="1"/>
          </p:cNvSpPr>
          <p:nvPr/>
        </p:nvSpPr>
        <p:spPr>
          <a:xfrm xmlns:a="http://schemas.openxmlformats.org/drawingml/2006/main">
            <a:off x="781050" y="3657600"/>
            <a:ext cx="4286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0">
                <a:solidFill>
                  <a:srgbClr val="FAFAF3"/>
                </a:solidFill>
                <a:latin typeface="Arial"/>
                <a:ea typeface="Arial"/>
                <a:cs typeface="Arial"/>
              </a:defRPr>
            </a:pPr>
            <a:r>
              <a:rPr sz="2250" b="0">
                <a:solidFill>
                  <a:srgbClr val="FAFAF3"/>
                </a:solidFill>
                <a:latin typeface="Arial"/>
                <a:ea typeface="Arial"/>
                <a:cs typeface="Arial"/>
              </a:rPr>
              <a:t>Research tools can be called from the agent clients developers already use.</a:t>
            </a:r>
          </a:p>
        </p:txBody>
      </p:sp>
      <p:sp>
        <p:nvSpPr>
          <p:cNvPr id="5" name="">
            <a:extLst xmlns:a="http://schemas.openxmlformats.org/drawingml/2006/main">
              <a:ext uri="{FF2B5EF4-FFF2-40B4-BE49-F238E27FC236}">
                <a16:creationId xmlns:a16="http://schemas.microsoft.com/office/drawing/2014/main" id="{CD506312-06E8-4BCB-87AF-26C8B2D2F968}"/>
              </a:ext>
            </a:extLst>
          </p:cNvPr>
          <p:cNvSpPr>
            <a:spLocks xmlns:a="http://schemas.openxmlformats.org/drawingml/2006/main" noGrp="1"/>
          </p:cNvSpPr>
          <p:nvPr/>
        </p:nvSpPr>
        <p:spPr>
          <a:xfrm xmlns:a="http://schemas.openxmlformats.org/drawingml/2006/main">
            <a:off x="6477000" y="312420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850" b="1">
                <a:solidFill>
                  <a:srgbClr val="E7AE34"/>
                </a:solidFill>
                <a:latin typeface="Arial"/>
                <a:ea typeface="Arial"/>
                <a:cs typeface="Arial"/>
              </a:defRPr>
            </a:pPr>
            <a:r>
              <a:rPr sz="2850" b="1">
                <a:solidFill>
                  <a:srgbClr val="E7AE34"/>
                </a:solidFill>
                <a:latin typeface="Arial"/>
                <a:ea typeface="Arial"/>
                <a:cs typeface="Arial"/>
              </a:rPr>
              <a:t>x402</a:t>
            </a:r>
          </a:p>
        </p:txBody>
      </p:sp>
      <p:sp>
        <p:nvSpPr>
          <p:cNvPr id="6" name="">
            <a:extLst xmlns:a="http://schemas.openxmlformats.org/drawingml/2006/main">
              <a:ext uri="{FF2B5EF4-FFF2-40B4-BE49-F238E27FC236}">
                <a16:creationId xmlns:a16="http://schemas.microsoft.com/office/drawing/2014/main" id="{243C8400-1574-49F7-BE26-809A8DA2746D}"/>
              </a:ext>
            </a:extLst>
          </p:cNvPr>
          <p:cNvSpPr>
            <a:spLocks xmlns:a="http://schemas.openxmlformats.org/drawingml/2006/main" noGrp="1"/>
          </p:cNvSpPr>
          <p:nvPr/>
        </p:nvSpPr>
        <p:spPr>
          <a:xfrm xmlns:a="http://schemas.openxmlformats.org/drawingml/2006/main">
            <a:off x="6477000" y="3657600"/>
            <a:ext cx="4572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0">
                <a:solidFill>
                  <a:srgbClr val="FAFAF3"/>
                </a:solidFill>
                <a:latin typeface="Arial"/>
                <a:ea typeface="Arial"/>
                <a:cs typeface="Arial"/>
              </a:defRPr>
            </a:pPr>
            <a:r>
              <a:rPr sz="2100" b="0">
                <a:solidFill>
                  <a:srgbClr val="FAFAF3"/>
                </a:solidFill>
                <a:latin typeface="Arial"/>
                <a:ea typeface="Arial"/>
                <a:cs typeface="Arial"/>
              </a:rPr>
              <a:t>An optional payment route can be tested for heavier machine requests. dtox has a Solana devnet demonstration.</a:t>
            </a:r>
          </a:p>
        </p:txBody>
      </p:sp>
      <p:sp>
        <p:nvSpPr>
          <p:cNvPr id="7" name="">
            <a:extLst xmlns:a="http://schemas.openxmlformats.org/drawingml/2006/main">
              <a:ext uri="{FF2B5EF4-FFF2-40B4-BE49-F238E27FC236}">
                <a16:creationId xmlns:a16="http://schemas.microsoft.com/office/drawing/2014/main" id="{E0E826D8-4749-451E-B088-3DC7A255C84B}"/>
              </a:ext>
            </a:extLst>
          </p:cNvPr>
          <p:cNvSpPr>
            <a:spLocks xmlns:a="http://schemas.openxmlformats.org/drawingml/2006/main" noGrp="1"/>
          </p:cNvSpPr>
          <p:nvPr/>
        </p:nvSpPr>
        <p:spPr>
          <a:xfrm xmlns:a="http://schemas.openxmlformats.org/drawingml/2006/main">
            <a:off x="781050" y="550545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FAFAF3"/>
                </a:solidFill>
                <a:latin typeface="Arial"/>
                <a:ea typeface="Arial"/>
                <a:cs typeface="Arial"/>
              </a:defRPr>
            </a:pPr>
            <a:r>
              <a:rPr sz="1875" b="1">
                <a:solidFill>
                  <a:srgbClr val="FAFAF3"/>
                </a:solidFill>
                <a:latin typeface="Arial"/>
                <a:ea typeface="Arial"/>
                <a:cs typeface="Arial"/>
              </a:rPr>
              <a:t>Research works without a wallet. Payments are optional.</a:t>
            </a:r>
          </a:p>
        </p:txBody>
      </p:sp>
    </p:spTree>
    <p:extLst>
      <p:ext uri="{BB962C8B-B14F-4D97-AF65-F5344CB8AC3E}">
        <p14:creationId xmlns:p14="http://schemas.microsoft.com/office/powerpoint/2010/main" val="855203069"/>
      </p:ext>
    </p:extLst>
  </p:cSld>
</p:sld>
</file>

<file path=ppt/slides/slide8.xml><?xml version="1.0" encoding="utf-8"?>
<p:sld xmlns:p="http://schemas.openxmlformats.org/presentationml/2006/main">
  <p:cSld>
    <p:bg>
      <p:bgPr>
        <a:solidFill xmlns:a="http://schemas.openxmlformats.org/drawingml/2006/main">
          <a:srgbClr val="FAFAF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D963AF9-596F-47B6-B744-E90BCE06B673}"/>
              </a:ext>
            </a:extLst>
          </p:cNvPr>
          <p:cNvSpPr>
            <a:spLocks xmlns:a="http://schemas.openxmlformats.org/drawingml/2006/main" noGrp="1"/>
          </p:cNvSpPr>
          <p:nvPr/>
        </p:nvSpPr>
        <p:spPr>
          <a:xfrm xmlns:a="http://schemas.openxmlformats.org/drawingml/2006/main">
            <a:off x="781050" y="590550"/>
            <a:ext cx="1038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86777"/>
                </a:solidFill>
                <a:latin typeface="Consolas"/>
                <a:ea typeface="Consolas"/>
                <a:cs typeface="Consolas"/>
              </a:defRPr>
            </a:pPr>
            <a:r>
              <a:rPr sz="1350" b="0">
                <a:solidFill>
                  <a:srgbClr val="586777"/>
                </a:solidFill>
                <a:latin typeface="Consolas"/>
                <a:ea typeface="Consolas"/>
                <a:cs typeface="Consolas"/>
              </a:rPr>
              <a:t>07     /     INDEXED RESEARCH</a:t>
            </a:r>
          </a:p>
        </p:txBody>
      </p:sp>
      <p:sp>
        <p:nvSpPr>
          <p:cNvPr id="2" name="">
            <a:extLst xmlns:a="http://schemas.openxmlformats.org/drawingml/2006/main">
              <a:ext uri="{FF2B5EF4-FFF2-40B4-BE49-F238E27FC236}">
                <a16:creationId xmlns:a16="http://schemas.microsoft.com/office/drawing/2014/main" id="{316792CD-F80F-4C55-AF6F-B74F2BADBF85}"/>
              </a:ext>
            </a:extLst>
          </p:cNvPr>
          <p:cNvSpPr>
            <a:spLocks xmlns:a="http://schemas.openxmlformats.org/drawingml/2006/main" noGrp="1"/>
          </p:cNvSpPr>
          <p:nvPr/>
        </p:nvSpPr>
        <p:spPr>
          <a:xfrm xmlns:a="http://schemas.openxmlformats.org/drawingml/2006/main">
            <a:off x="781050" y="1162050"/>
            <a:ext cx="10382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350" b="1">
                <a:solidFill>
                  <a:srgbClr val="1A1A1A"/>
                </a:solidFill>
                <a:latin typeface="Arial"/>
                <a:ea typeface="Arial"/>
                <a:cs typeface="Arial"/>
              </a:defRPr>
            </a:pPr>
            <a:r>
              <a:rPr sz="4350" b="1">
                <a:solidFill>
                  <a:srgbClr val="1A1A1A"/>
                </a:solidFill>
                <a:latin typeface="Arial"/>
                <a:ea typeface="Arial"/>
                <a:cs typeface="Arial"/>
              </a:rPr>
              <a:t>A working corpus.</a:t>
            </a:r>
          </a:p>
        </p:txBody>
      </p:sp>
      <p:sp>
        <p:nvSpPr>
          <p:cNvPr id="3" name="">
            <a:extLst xmlns:a="http://schemas.openxmlformats.org/drawingml/2006/main">
              <a:ext uri="{FF2B5EF4-FFF2-40B4-BE49-F238E27FC236}">
                <a16:creationId xmlns:a16="http://schemas.microsoft.com/office/drawing/2014/main" id="{92E7A60C-87B4-4ABB-AB29-FB2BEE8387A0}"/>
              </a:ext>
            </a:extLst>
          </p:cNvPr>
          <p:cNvSpPr>
            <a:spLocks xmlns:a="http://schemas.openxmlformats.org/drawingml/2006/main" noGrp="1"/>
          </p:cNvSpPr>
          <p:nvPr/>
        </p:nvSpPr>
        <p:spPr>
          <a:xfrm xmlns:a="http://schemas.openxmlformats.org/drawingml/2006/main">
            <a:off x="781050" y="2438400"/>
            <a:ext cx="4857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8400" b="1">
                <a:solidFill>
                  <a:srgbClr val="1A1A1A"/>
                </a:solidFill>
                <a:latin typeface="Arial"/>
                <a:ea typeface="Arial"/>
                <a:cs typeface="Arial"/>
              </a:defRPr>
            </a:pPr>
            <a:r>
              <a:rPr sz="8400" b="1">
                <a:solidFill>
                  <a:srgbClr val="1A1A1A"/>
                </a:solidFill>
                <a:latin typeface="Arial"/>
                <a:ea typeface="Arial"/>
                <a:cs typeface="Arial"/>
              </a:rPr>
              <a:t>17,365</a:t>
            </a:r>
          </a:p>
        </p:txBody>
      </p:sp>
      <p:sp>
        <p:nvSpPr>
          <p:cNvPr id="4" name="">
            <a:extLst xmlns:a="http://schemas.openxmlformats.org/drawingml/2006/main">
              <a:ext uri="{FF2B5EF4-FFF2-40B4-BE49-F238E27FC236}">
                <a16:creationId xmlns:a16="http://schemas.microsoft.com/office/drawing/2014/main" id="{D6E6F641-AD03-4069-A28E-29D937A8963C}"/>
              </a:ext>
            </a:extLst>
          </p:cNvPr>
          <p:cNvSpPr>
            <a:spLocks xmlns:a="http://schemas.openxmlformats.org/drawingml/2006/main" noGrp="1"/>
          </p:cNvSpPr>
          <p:nvPr/>
        </p:nvSpPr>
        <p:spPr>
          <a:xfrm xmlns:a="http://schemas.openxmlformats.org/drawingml/2006/main">
            <a:off x="876300" y="4162425"/>
            <a:ext cx="457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1A1A1A"/>
                </a:solidFill>
                <a:latin typeface="Arial"/>
                <a:ea typeface="Arial"/>
                <a:cs typeface="Arial"/>
              </a:defRPr>
            </a:pPr>
            <a:r>
              <a:rPr sz="2400" b="1">
                <a:solidFill>
                  <a:srgbClr val="1A1A1A"/>
                </a:solidFill>
                <a:latin typeface="Arial"/>
                <a:ea typeface="Arial"/>
                <a:cs typeface="Arial"/>
              </a:rPr>
              <a:t>Web3 research records</a:t>
            </a:r>
          </a:p>
        </p:txBody>
      </p:sp>
      <p:sp>
        <p:nvSpPr>
          <p:cNvPr id="5" name="">
            <a:extLst xmlns:a="http://schemas.openxmlformats.org/drawingml/2006/main">
              <a:ext uri="{FF2B5EF4-FFF2-40B4-BE49-F238E27FC236}">
                <a16:creationId xmlns:a16="http://schemas.microsoft.com/office/drawing/2014/main" id="{FAE5BB6B-9338-40C7-B3C4-44268FAB93B9}"/>
              </a:ext>
            </a:extLst>
          </p:cNvPr>
          <p:cNvSpPr>
            <a:spLocks xmlns:a="http://schemas.openxmlformats.org/drawingml/2006/main" noGrp="1"/>
          </p:cNvSpPr>
          <p:nvPr/>
        </p:nvSpPr>
        <p:spPr>
          <a:xfrm xmlns:a="http://schemas.openxmlformats.org/drawingml/2006/main">
            <a:off x="6667500" y="2476500"/>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1A1A1A"/>
                </a:solidFill>
                <a:latin typeface="Arial"/>
                <a:ea typeface="Arial"/>
                <a:cs typeface="Arial"/>
              </a:defRPr>
            </a:pPr>
            <a:r>
              <a:rPr sz="1875" b="1">
                <a:solidFill>
                  <a:srgbClr val="1A1A1A"/>
                </a:solidFill>
                <a:latin typeface="Arial"/>
                <a:ea typeface="Arial"/>
                <a:cs typeface="Arial"/>
              </a:rPr>
              <a:t>180,833  total documents</a:t>
            </a:r>
          </a:p>
        </p:txBody>
      </p:sp>
      <p:sp>
        <p:nvSpPr>
          <p:cNvPr id="6" name="">
            <a:extLst xmlns:a="http://schemas.openxmlformats.org/drawingml/2006/main">
              <a:ext uri="{FF2B5EF4-FFF2-40B4-BE49-F238E27FC236}">
                <a16:creationId xmlns:a16="http://schemas.microsoft.com/office/drawing/2014/main" id="{4070B4F3-01D8-4867-85A0-649619888F74}"/>
              </a:ext>
            </a:extLst>
          </p:cNvPr>
          <p:cNvSpPr>
            <a:spLocks xmlns:a="http://schemas.openxmlformats.org/drawingml/2006/main" noGrp="1"/>
          </p:cNvSpPr>
          <p:nvPr/>
        </p:nvSpPr>
        <p:spPr>
          <a:xfrm xmlns:a="http://schemas.openxmlformats.org/drawingml/2006/main">
            <a:off x="6667500" y="3190875"/>
            <a:ext cx="438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1A1A1A"/>
                </a:solidFill>
                <a:latin typeface="Arial"/>
                <a:ea typeface="Arial"/>
                <a:cs typeface="Arial"/>
              </a:defRPr>
            </a:pPr>
            <a:r>
              <a:rPr sz="1875" b="1">
                <a:solidFill>
                  <a:srgbClr val="1A1A1A"/>
                </a:solidFill>
                <a:latin typeface="Arial"/>
                <a:ea typeface="Arial"/>
                <a:cs typeface="Arial"/>
              </a:rPr>
              <a:t>10,801,846  structural chunks</a:t>
            </a:r>
          </a:p>
        </p:txBody>
      </p:sp>
      <p:sp>
        <p:nvSpPr>
          <p:cNvPr id="7" name="">
            <a:extLst xmlns:a="http://schemas.openxmlformats.org/drawingml/2006/main">
              <a:ext uri="{FF2B5EF4-FFF2-40B4-BE49-F238E27FC236}">
                <a16:creationId xmlns:a16="http://schemas.microsoft.com/office/drawing/2014/main" id="{17670165-CFC4-4096-93A7-6FD0CDBF91E6}"/>
              </a:ext>
            </a:extLst>
          </p:cNvPr>
          <p:cNvSpPr>
            <a:spLocks xmlns:a="http://schemas.openxmlformats.org/drawingml/2006/main" noGrp="1"/>
          </p:cNvSpPr>
          <p:nvPr/>
        </p:nvSpPr>
        <p:spPr>
          <a:xfrm xmlns:a="http://schemas.openxmlformats.org/drawingml/2006/main">
            <a:off x="6667500" y="3905250"/>
            <a:ext cx="438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1A1A1A"/>
                </a:solidFill>
                <a:latin typeface="Arial"/>
                <a:ea typeface="Arial"/>
                <a:cs typeface="Arial"/>
              </a:defRPr>
            </a:pPr>
            <a:r>
              <a:rPr sz="1875" b="1">
                <a:solidFill>
                  <a:srgbClr val="1A1A1A"/>
                </a:solidFill>
                <a:latin typeface="Arial"/>
                <a:ea typeface="Arial"/>
                <a:cs typeface="Arial"/>
              </a:rPr>
              <a:t>3,388,455  citation edges</a:t>
            </a:r>
          </a:p>
        </p:txBody>
      </p:sp>
      <p:sp>
        <p:nvSpPr>
          <p:cNvPr id="8" name="">
            <a:extLst xmlns:a="http://schemas.openxmlformats.org/drawingml/2006/main">
              <a:ext uri="{FF2B5EF4-FFF2-40B4-BE49-F238E27FC236}">
                <a16:creationId xmlns:a16="http://schemas.microsoft.com/office/drawing/2014/main" id="{32AABF96-AE8B-454A-8EC3-C9C7A3A66A6D}"/>
              </a:ext>
            </a:extLst>
          </p:cNvPr>
          <p:cNvSpPr>
            <a:spLocks xmlns:a="http://schemas.openxmlformats.org/drawingml/2006/main" noGrp="1"/>
          </p:cNvSpPr>
          <p:nvPr/>
        </p:nvSpPr>
        <p:spPr>
          <a:xfrm xmlns:a="http://schemas.openxmlformats.org/drawingml/2006/main">
            <a:off x="781050" y="521970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0">
                <a:solidFill>
                  <a:srgbClr val="1A1A1A"/>
                </a:solidFill>
                <a:latin typeface="Arial"/>
                <a:ea typeface="Arial"/>
                <a:cs typeface="Arial"/>
              </a:defRPr>
            </a:pPr>
            <a:r>
              <a:rPr sz="2100" b="0">
                <a:solidFill>
                  <a:srgbClr val="1A1A1A"/>
                </a:solidFill>
                <a:latin typeface="Arial"/>
                <a:ea typeface="Arial"/>
                <a:cs typeface="Arial"/>
              </a:rPr>
              <a:t>A maintained Web3 corpus, organized for source retrieval.</a:t>
            </a:r>
          </a:p>
        </p:txBody>
      </p:sp>
      <p:sp>
        <p:nvSpPr>
          <p:cNvPr id="9" name="">
            <a:extLst xmlns:a="http://schemas.openxmlformats.org/drawingml/2006/main">
              <a:ext uri="{FF2B5EF4-FFF2-40B4-BE49-F238E27FC236}">
                <a16:creationId xmlns:a16="http://schemas.microsoft.com/office/drawing/2014/main" id="{D472728B-6B80-4CB3-98CB-9596C2E80616}"/>
              </a:ext>
            </a:extLst>
          </p:cNvPr>
          <p:cNvSpPr>
            <a:spLocks xmlns:a="http://schemas.openxmlformats.org/drawingml/2006/main" noGrp="1"/>
          </p:cNvSpPr>
          <p:nvPr/>
        </p:nvSpPr>
        <p:spPr>
          <a:xfrm xmlns:a="http://schemas.openxmlformats.org/drawingml/2006/main">
            <a:off x="781050" y="5676900"/>
            <a:ext cx="10382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86777"/>
                </a:solidFill>
                <a:latin typeface="Consolas"/>
                <a:ea typeface="Consolas"/>
                <a:cs typeface="Consolas"/>
              </a:defRPr>
            </a:pPr>
            <a:r>
              <a:rPr sz="1350" b="0">
                <a:solidFill>
                  <a:srgbClr val="586777"/>
                </a:solidFill>
                <a:latin typeface="Consolas"/>
                <a:ea typeface="Consolas"/>
                <a:cs typeface="Consolas"/>
              </a:rPr>
              <a:t>MIXED FULL-TEXT AND ABSTRACT RECORDS</a:t>
            </a:r>
          </a:p>
        </p:txBody>
      </p:sp>
      <p:sp>
        <p:nvSpPr>
          <p:cNvPr id="10" name="">
            <a:extLst xmlns:a="http://schemas.openxmlformats.org/drawingml/2006/main">
              <a:ext uri="{FF2B5EF4-FFF2-40B4-BE49-F238E27FC236}">
                <a16:creationId xmlns:a16="http://schemas.microsoft.com/office/drawing/2014/main" id="{61534048-447A-48B3-8F89-E524E638883E}"/>
              </a:ext>
            </a:extLst>
          </p:cNvPr>
          <p:cNvSpPr>
            <a:spLocks xmlns:a="http://schemas.openxmlformats.org/drawingml/2006/main" noGrp="1"/>
          </p:cNvSpPr>
          <p:nvPr/>
        </p:nvSpPr>
        <p:spPr>
          <a:xfrm xmlns:a="http://schemas.openxmlformats.org/drawingml/2006/main">
            <a:off x="781050" y="605790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86777"/>
                </a:solidFill>
                <a:latin typeface="Consolas"/>
                <a:ea typeface="Consolas"/>
                <a:cs typeface="Consolas"/>
              </a:defRPr>
            </a:pPr>
            <a:r>
              <a:rPr sz="1275" b="0">
                <a:solidFill>
                  <a:srgbClr val="586777"/>
                </a:solidFill>
                <a:latin typeface="Consolas"/>
                <a:ea typeface="Consolas"/>
                <a:cs typeface="Consolas"/>
              </a:rPr>
              <a:t>PUBLIC COUNTERS     /     2026-10-05 09:30 UTC</a:t>
            </a:r>
          </a:p>
        </p:txBody>
      </p:sp>
    </p:spTree>
    <p:extLst>
      <p:ext uri="{BB962C8B-B14F-4D97-AF65-F5344CB8AC3E}">
        <p14:creationId xmlns:p14="http://schemas.microsoft.com/office/powerpoint/2010/main" val="257292631"/>
      </p:ext>
    </p:extLst>
  </p:cSld>
</p:sld>
</file>

<file path=ppt/slides/slide9.xml><?xml version="1.0" encoding="utf-8"?>
<p:sld xmlns:p="http://schemas.openxmlformats.org/presentationml/2006/main">
  <p:cSld>
    <p:bg>
      <p:bgPr>
        <a:solidFill xmlns:a="http://schemas.openxmlformats.org/drawingml/2006/main">
          <a:srgbClr val="E7AE34"/>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5D04E64-9F91-4182-90FB-373CB63A2652}"/>
              </a:ext>
            </a:extLst>
          </p:cNvPr>
          <p:cNvSpPr>
            <a:spLocks xmlns:a="http://schemas.openxmlformats.org/drawingml/2006/main" noGrp="1"/>
          </p:cNvSpPr>
          <p:nvPr/>
        </p:nvSpPr>
        <p:spPr>
          <a:xfrm xmlns:a="http://schemas.openxmlformats.org/drawingml/2006/main">
            <a:off x="781050" y="5143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1401C"/>
                </a:solidFill>
                <a:latin typeface="Consolas"/>
                <a:ea typeface="Consolas"/>
                <a:cs typeface="Consolas"/>
              </a:defRPr>
            </a:pPr>
            <a:r>
              <a:rPr sz="1350" b="0">
                <a:solidFill>
                  <a:srgbClr val="51401C"/>
                </a:solidFill>
                <a:latin typeface="Consolas"/>
                <a:ea typeface="Consolas"/>
                <a:cs typeface="Consolas"/>
              </a:rPr>
              <a:t>08     /     COMPETITIVE WEDGE</a:t>
            </a:r>
          </a:p>
        </p:txBody>
      </p:sp>
      <p:sp>
        <p:nvSpPr>
          <p:cNvPr id="2" name="">
            <a:extLst xmlns:a="http://schemas.openxmlformats.org/drawingml/2006/main">
              <a:ext uri="{FF2B5EF4-FFF2-40B4-BE49-F238E27FC236}">
                <a16:creationId xmlns:a16="http://schemas.microsoft.com/office/drawing/2014/main" id="{7D3C93F5-7CB1-4AC9-9730-4E7A80C2E49D}"/>
              </a:ext>
            </a:extLst>
          </p:cNvPr>
          <p:cNvSpPr>
            <a:spLocks xmlns:a="http://schemas.openxmlformats.org/drawingml/2006/main" noGrp="1"/>
          </p:cNvSpPr>
          <p:nvPr/>
        </p:nvSpPr>
        <p:spPr>
          <a:xfrm xmlns:a="http://schemas.openxmlformats.org/drawingml/2006/main">
            <a:off x="781050" y="914400"/>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600" b="1">
                <a:solidFill>
                  <a:srgbClr val="1A1A1A"/>
                </a:solidFill>
                <a:latin typeface="Arial"/>
                <a:ea typeface="Arial"/>
                <a:cs typeface="Arial"/>
              </a:defRPr>
            </a:pPr>
            <a:r>
              <a:rPr sz="3600" b="1">
                <a:solidFill>
                  <a:srgbClr val="1A1A1A"/>
                </a:solidFill>
                <a:latin typeface="Arial"/>
                <a:ea typeface="Arial"/>
                <a:cs typeface="Arial"/>
              </a:rPr>
              <a:t>Web3 implementation evidence.</a:t>
            </a:r>
          </a:p>
        </p:txBody>
      </p:sp>
      <p:sp>
        <p:nvSpPr>
          <p:cNvPr id="3" name="">
            <a:extLst xmlns:a="http://schemas.openxmlformats.org/drawingml/2006/main">
              <a:ext uri="{FF2B5EF4-FFF2-40B4-BE49-F238E27FC236}">
                <a16:creationId xmlns:a16="http://schemas.microsoft.com/office/drawing/2014/main" id="{22AE55F4-E8F5-4A03-BC37-D6AA320C040A}"/>
              </a:ext>
            </a:extLst>
          </p:cNvPr>
          <p:cNvSpPr>
            <a:spLocks xmlns:a="http://schemas.openxmlformats.org/drawingml/2006/main" noGrp="1"/>
          </p:cNvSpPr>
          <p:nvPr/>
        </p:nvSpPr>
        <p:spPr>
          <a:xfrm xmlns:a="http://schemas.openxmlformats.org/drawingml/2006/main">
            <a:off x="781050" y="5753100"/>
            <a:ext cx="10334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1">
                <a:solidFill>
                  <a:srgbClr val="1A1A1A"/>
                </a:solidFill>
                <a:latin typeface="Arial"/>
                <a:ea typeface="Arial"/>
                <a:cs typeface="Arial"/>
              </a:defRPr>
            </a:pPr>
            <a:r>
              <a:rPr sz="1950" b="1">
                <a:solidFill>
                  <a:srgbClr val="1A1A1A"/>
                </a:solidFill>
                <a:latin typeface="Arial"/>
                <a:ea typeface="Arial"/>
                <a:cs typeface="Arial"/>
              </a:rPr>
              <a:t>Differentiation is the corpus and workflow.</a:t>
            </a:r>
          </a:p>
        </p:txBody>
      </p:sp>
      <p:graphicFrame>
        <p:nvGraphicFramePr>
          <p:cNvPr id="8" name=""/>
          <p:cNvGraphicFramePr/>
          <p:nvPr/>
        </p:nvGraphicFramePr>
        <p:xfrm>
          <a:off xmlns:a="http://schemas.openxmlformats.org/drawingml/2006/main" x="781050" y="1743075"/>
          <a:ext xmlns:a="http://schemas.openxmlformats.org/drawingml/2006/main" cx="10572750" cy="3762375"/>
        </p:xfrm>
        <a:graphic xmlns:a="http://schemas.openxmlformats.org/drawingml/2006/main">
          <a:graphicData uri="http://schemas.openxmlformats.org/drawingml/2006/table">
            <a:tbl>
              <a:tblPr/>
              <a:tblGrid>
                <a:gridCol w="2381250"/>
                <a:gridCol w="3810000"/>
                <a:gridCol w="4381500"/>
              </a:tblGrid>
              <a:tr h="752475">
                <a:tc>
                  <a:txBody>
                    <a:bodyPr lIns="95250" tIns="76200" rIns="95250" bIns="76200">
                      <a:normAutofit/>
                    </a:bodyPr>
                    <a:lstStyle/>
                    <a:p>
                      <a:r>
                        <a:rPr sz="1350" b="1">
                          <a:solidFill>
                            <a:srgbClr val="FAFAF3"/>
                          </a:solidFill>
                          <a:latin typeface="Consolas"/>
                          <a:ea typeface="Consolas"/>
                          <a:cs typeface="Consolas"/>
                        </a:rPr>
                        <a:t>SERVICE</a:t>
                      </a:r>
                    </a:p>
                  </a:txBody>
                  <a:tcPr marL="91440" marR="91440" marT="45720" marB="45720" anchor="ctr">
                    <a:solidFill>
                      <a:srgbClr val="1A1A1A"/>
                    </a:solidFill>
                  </a:tcPr>
                </a:tc>
                <a:tc>
                  <a:txBody>
                    <a:bodyPr lIns="95250" tIns="76200" rIns="95250" bIns="76200">
                      <a:normAutofit/>
                    </a:bodyPr>
                    <a:lstStyle/>
                    <a:p>
                      <a:r>
                        <a:rPr sz="1350" b="1">
                          <a:solidFill>
                            <a:srgbClr val="FAFAF3"/>
                          </a:solidFill>
                          <a:latin typeface="Consolas"/>
                          <a:ea typeface="Consolas"/>
                          <a:cs typeface="Consolas"/>
                        </a:rPr>
                        <a:t>PRIMARY WORKFLOW</a:t>
                      </a:r>
                    </a:p>
                  </a:txBody>
                  <a:tcPr marL="91440" marR="91440" marT="45720" marB="45720" anchor="ctr">
                    <a:solidFill>
                      <a:srgbClr val="1A1A1A"/>
                    </a:solidFill>
                  </a:tcPr>
                </a:tc>
                <a:tc>
                  <a:txBody>
                    <a:bodyPr lIns="95250" tIns="76200" rIns="95250" bIns="76200">
                      <a:normAutofit/>
                    </a:bodyPr>
                    <a:lstStyle/>
                    <a:p>
                      <a:r>
                        <a:rPr sz="1350" b="1">
                          <a:solidFill>
                            <a:srgbClr val="FAFAF3"/>
                          </a:solidFill>
                          <a:latin typeface="Consolas"/>
                          <a:ea typeface="Consolas"/>
                          <a:cs typeface="Consolas"/>
                        </a:rPr>
                        <a:t>SCOPE</a:t>
                      </a:r>
                    </a:p>
                  </a:txBody>
                  <a:tcPr marL="91440" marR="91440" marT="45720" marB="45720" anchor="ctr">
                    <a:solidFill>
                      <a:srgbClr val="1A1A1A"/>
                    </a:solidFill>
                  </a:tcPr>
                </a:tc>
              </a:tr>
              <a:tr h="752475">
                <a:tc>
                  <a:txBody>
                    <a:bodyPr lIns="95250" tIns="76200" rIns="95250" bIns="76200">
                      <a:normAutofit/>
                    </a:bodyPr>
                    <a:lstStyle/>
                    <a:p>
                      <a:r>
                        <a:rPr sz="1725" b="1">
                          <a:solidFill>
                            <a:srgbClr val="1A1A1A"/>
                          </a:solidFill>
                          <a:latin typeface="Consolas"/>
                          <a:ea typeface="Consolas"/>
                          <a:cs typeface="Consolas"/>
                        </a:rPr>
                        <a:t>Semantic Scholar</a:t>
                      </a:r>
                    </a:p>
                  </a:txBody>
                  <a:tcPr marL="91440" marR="91440" marT="45720" marB="45720" anchor="ctr">
                    <a:solidFill>
                      <a:srgbClr val="F2D98F"/>
                    </a:solidFill>
                  </a:tcPr>
                </a:tc>
                <a:tc>
                  <a:txBody>
                    <a:bodyPr lIns="95250" tIns="76200" rIns="95250" bIns="76200">
                      <a:normAutofit/>
                    </a:bodyPr>
                    <a:lstStyle/>
                    <a:p>
                      <a:r>
                        <a:rPr sz="1725" b="0">
                          <a:solidFill>
                            <a:srgbClr val="1A1A1A"/>
                          </a:solidFill>
                          <a:latin typeface="Arial"/>
                          <a:ea typeface="Arial"/>
                          <a:cs typeface="Arial"/>
                        </a:rPr>
                        <a:t>Discovery, metadata, citations</a:t>
                      </a:r>
                    </a:p>
                  </a:txBody>
                  <a:tcPr marL="91440" marR="91440" marT="45720" marB="45720" anchor="ctr">
                    <a:solidFill>
                      <a:srgbClr val="F2D98F"/>
                    </a:solidFill>
                  </a:tcPr>
                </a:tc>
                <a:tc>
                  <a:txBody>
                    <a:bodyPr lIns="95250" tIns="76200" rIns="95250" bIns="76200">
                      <a:normAutofit/>
                    </a:bodyPr>
                    <a:lstStyle/>
                    <a:p>
                      <a:r>
                        <a:rPr sz="1725" b="0">
                          <a:solidFill>
                            <a:srgbClr val="1A1A1A"/>
                          </a:solidFill>
                          <a:latin typeface="Arial"/>
                          <a:ea typeface="Arial"/>
                          <a:cs typeface="Arial"/>
                        </a:rPr>
                        <a:t>Broad scholarly discovery</a:t>
                      </a:r>
                    </a:p>
                  </a:txBody>
                  <a:tcPr marL="91440" marR="91440" marT="45720" marB="45720" anchor="ctr">
                    <a:solidFill>
                      <a:srgbClr val="F2D98F"/>
                    </a:solidFill>
                  </a:tcPr>
                </a:tc>
              </a:tr>
              <a:tr h="752475">
                <a:tc>
                  <a:txBody>
                    <a:bodyPr lIns="95250" tIns="76200" rIns="95250" bIns="76200">
                      <a:normAutofit/>
                    </a:bodyPr>
                    <a:lstStyle/>
                    <a:p>
                      <a:r>
                        <a:rPr sz="1725" b="1">
                          <a:solidFill>
                            <a:srgbClr val="1A1A1A"/>
                          </a:solidFill>
                          <a:latin typeface="Consolas"/>
                          <a:ea typeface="Consolas"/>
                          <a:cs typeface="Consolas"/>
                        </a:rPr>
                        <a:t>Elicit</a:t>
                      </a:r>
                    </a:p>
                  </a:txBody>
                  <a:tcPr marL="91440" marR="91440" marT="45720" marB="45720" anchor="ctr">
                    <a:solidFill>
                      <a:srgbClr val="EBD087"/>
                    </a:solidFill>
                  </a:tcPr>
                </a:tc>
                <a:tc>
                  <a:txBody>
                    <a:bodyPr lIns="95250" tIns="76200" rIns="95250" bIns="76200">
                      <a:normAutofit/>
                    </a:bodyPr>
                    <a:lstStyle/>
                    <a:p>
                      <a:r>
                        <a:rPr sz="1725" b="0">
                          <a:solidFill>
                            <a:srgbClr val="1A1A1A"/>
                          </a:solidFill>
                          <a:latin typeface="Arial"/>
                          <a:ea typeface="Arial"/>
                          <a:cs typeface="Arial"/>
                        </a:rPr>
                        <a:t>Literature synthesis, extraction, API and MCP</a:t>
                      </a:r>
                    </a:p>
                  </a:txBody>
                  <a:tcPr marL="91440" marR="91440" marT="45720" marB="45720" anchor="ctr">
                    <a:solidFill>
                      <a:srgbClr val="EBD087"/>
                    </a:solidFill>
                  </a:tcPr>
                </a:tc>
                <a:tc>
                  <a:txBody>
                    <a:bodyPr lIns="95250" tIns="76200" rIns="95250" bIns="76200">
                      <a:normAutofit/>
                    </a:bodyPr>
                    <a:lstStyle/>
                    <a:p>
                      <a:r>
                        <a:rPr sz="1725" b="0">
                          <a:solidFill>
                            <a:srgbClr val="1A1A1A"/>
                          </a:solidFill>
                          <a:latin typeface="Arial"/>
                          <a:ea typeface="Arial"/>
                          <a:cs typeface="Arial"/>
                        </a:rPr>
                        <a:t>Research engines across disciplines</a:t>
                      </a:r>
                    </a:p>
                  </a:txBody>
                  <a:tcPr marL="91440" marR="91440" marT="45720" marB="45720" anchor="ctr">
                    <a:solidFill>
                      <a:srgbClr val="EBD087"/>
                    </a:solidFill>
                  </a:tcPr>
                </a:tc>
              </a:tr>
              <a:tr h="752475">
                <a:tc>
                  <a:txBody>
                    <a:bodyPr lIns="95250" tIns="76200" rIns="95250" bIns="76200">
                      <a:normAutofit/>
                    </a:bodyPr>
                    <a:lstStyle/>
                    <a:p>
                      <a:r>
                        <a:rPr sz="1725" b="1">
                          <a:solidFill>
                            <a:srgbClr val="1A1A1A"/>
                          </a:solidFill>
                          <a:latin typeface="Consolas"/>
                          <a:ea typeface="Consolas"/>
                          <a:cs typeface="Consolas"/>
                        </a:rPr>
                        <a:t>arxiv-mcp-server</a:t>
                      </a:r>
                    </a:p>
                  </a:txBody>
                  <a:tcPr marL="91440" marR="91440" marT="45720" marB="45720" anchor="ctr">
                    <a:solidFill>
                      <a:srgbClr val="F2D98F"/>
                    </a:solidFill>
                  </a:tcPr>
                </a:tc>
                <a:tc>
                  <a:txBody>
                    <a:bodyPr lIns="95250" tIns="76200" rIns="95250" bIns="76200">
                      <a:normAutofit/>
                    </a:bodyPr>
                    <a:lstStyle/>
                    <a:p>
                      <a:r>
                        <a:rPr sz="1725" b="0">
                          <a:solidFill>
                            <a:srgbClr val="1A1A1A"/>
                          </a:solidFill>
                          <a:latin typeface="Arial"/>
                          <a:ea typeface="Arial"/>
                          <a:cs typeface="Arial"/>
                        </a:rPr>
                        <a:t>Original LaTeX reading, topic watches</a:t>
                      </a:r>
                    </a:p>
                  </a:txBody>
                  <a:tcPr marL="91440" marR="91440" marT="45720" marB="45720" anchor="ctr">
                    <a:solidFill>
                      <a:srgbClr val="F2D98F"/>
                    </a:solidFill>
                  </a:tcPr>
                </a:tc>
                <a:tc>
                  <a:txBody>
                    <a:bodyPr lIns="95250" tIns="76200" rIns="95250" bIns="76200">
                      <a:normAutofit/>
                    </a:bodyPr>
                    <a:lstStyle/>
                    <a:p>
                      <a:r>
                        <a:rPr sz="1725" b="0">
                          <a:solidFill>
                            <a:srgbClr val="1A1A1A"/>
                          </a:solidFill>
                          <a:latin typeface="Arial"/>
                          <a:ea typeface="Arial"/>
                          <a:cs typeface="Arial"/>
                        </a:rPr>
                        <a:t>arXiv-focused workflows</a:t>
                      </a:r>
                    </a:p>
                  </a:txBody>
                  <a:tcPr marL="91440" marR="91440" marT="45720" marB="45720" anchor="ctr">
                    <a:solidFill>
                      <a:srgbClr val="F2D98F"/>
                    </a:solidFill>
                  </a:tcPr>
                </a:tc>
              </a:tr>
              <a:tr h="752475">
                <a:tc>
                  <a:txBody>
                    <a:bodyPr lIns="95250" tIns="76200" rIns="95250" bIns="76200">
                      <a:normAutofit/>
                    </a:bodyPr>
                    <a:lstStyle/>
                    <a:p>
                      <a:r>
                        <a:rPr sz="1725" b="1">
                          <a:solidFill>
                            <a:srgbClr val="1A1A1A"/>
                          </a:solidFill>
                          <a:latin typeface="Consolas"/>
                          <a:ea typeface="Consolas"/>
                          <a:cs typeface="Consolas"/>
                        </a:rPr>
                        <a:t>dtox research</a:t>
                      </a:r>
                    </a:p>
                  </a:txBody>
                  <a:tcPr marL="91440" marR="91440" marT="45720" marB="45720" anchor="ctr">
                    <a:solidFill>
                      <a:srgbClr val="EBD087"/>
                    </a:solidFill>
                  </a:tcPr>
                </a:tc>
                <a:tc>
                  <a:txBody>
                    <a:bodyPr lIns="95250" tIns="76200" rIns="95250" bIns="76200">
                      <a:normAutofit/>
                    </a:bodyPr>
                    <a:lstStyle/>
                    <a:p>
                      <a:r>
                        <a:rPr sz="1725" b="0">
                          <a:solidFill>
                            <a:srgbClr val="1A1A1A"/>
                          </a:solidFill>
                          <a:latin typeface="Arial"/>
                          <a:ea typeface="Arial"/>
                          <a:cs typeface="Arial"/>
                        </a:rPr>
                        <a:t>Web3 papers, specs, equations, constraints</a:t>
                      </a:r>
                    </a:p>
                  </a:txBody>
                  <a:tcPr marL="91440" marR="91440" marT="45720" marB="45720" anchor="ctr">
                    <a:solidFill>
                      <a:srgbClr val="EBD087"/>
                    </a:solidFill>
                  </a:tcPr>
                </a:tc>
                <a:tc>
                  <a:txBody>
                    <a:bodyPr lIns="95250" tIns="76200" rIns="95250" bIns="76200">
                      <a:normAutofit/>
                    </a:bodyPr>
                    <a:lstStyle/>
                    <a:p>
                      <a:r>
                        <a:rPr sz="1725" b="0">
                          <a:solidFill>
                            <a:srgbClr val="1A1A1A"/>
                          </a:solidFill>
                          <a:latin typeface="Arial"/>
                          <a:ea typeface="Arial"/>
                          <a:cs typeface="Arial"/>
                        </a:rPr>
                        <a:t>Implementation evidence across Web3 research and specs</a:t>
                      </a:r>
                    </a:p>
                  </a:txBody>
                  <a:tcPr marL="91440" marR="91440" marT="45720" marB="45720" anchor="ctr">
                    <a:solidFill>
                      <a:srgbClr val="EBD087"/>
                    </a:solidFill>
                  </a:tcPr>
                </a:tc>
              </a:tr>
            </a:tbl>
          </a:graphicData>
        </a:graphic>
      </p:graphicFrame>
    </p:spTree>
    <p:extLst>
      <p:ext uri="{BB962C8B-B14F-4D97-AF65-F5344CB8AC3E}">
        <p14:creationId xmlns:p14="http://schemas.microsoft.com/office/powerpoint/2010/main" val="1794172077"/>
      </p:ext>
    </p:extLst>
  </p:cSld>
</p:sld>
</file>

<file path=ppt/slides/slide10.xml><?xml version="1.0" encoding="utf-8"?>
<p:sld xmlns:p="http://schemas.openxmlformats.org/presentationml/2006/main">
  <p:cSld>
    <p:bg>
      <p:bgPr>
        <a:solidFill xmlns:a="http://schemas.openxmlformats.org/drawingml/2006/main">
          <a:srgbClr val="14263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BA87A0D-AC22-4D1B-A938-346004FC601F}"/>
              </a:ext>
            </a:extLst>
          </p:cNvPr>
          <p:cNvSpPr>
            <a:spLocks xmlns:a="http://schemas.openxmlformats.org/drawingml/2006/main" noGrp="1"/>
          </p:cNvSpPr>
          <p:nvPr/>
        </p:nvSpPr>
        <p:spPr>
          <a:xfrm xmlns:a="http://schemas.openxmlformats.org/drawingml/2006/main">
            <a:off x="781050" y="590550"/>
            <a:ext cx="1038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E7AE34"/>
                </a:solidFill>
                <a:latin typeface="Consolas"/>
                <a:ea typeface="Consolas"/>
                <a:cs typeface="Consolas"/>
              </a:defRPr>
            </a:pPr>
            <a:r>
              <a:rPr sz="1350" b="0">
                <a:solidFill>
                  <a:srgbClr val="E7AE34"/>
                </a:solidFill>
                <a:latin typeface="Consolas"/>
                <a:ea typeface="Consolas"/>
                <a:cs typeface="Consolas"/>
              </a:rPr>
              <a:t>09     /     PAYMENTS AND SIGNED READINGS</a:t>
            </a:r>
          </a:p>
        </p:txBody>
      </p:sp>
      <p:sp>
        <p:nvSpPr>
          <p:cNvPr id="2" name="">
            <a:extLst xmlns:a="http://schemas.openxmlformats.org/drawingml/2006/main">
              <a:ext uri="{FF2B5EF4-FFF2-40B4-BE49-F238E27FC236}">
                <a16:creationId xmlns:a16="http://schemas.microsoft.com/office/drawing/2014/main" id="{5411D64B-5ACD-4091-AC7F-B58BBB2E9FD9}"/>
              </a:ext>
            </a:extLst>
          </p:cNvPr>
          <p:cNvSpPr>
            <a:spLocks xmlns:a="http://schemas.openxmlformats.org/drawingml/2006/main" noGrp="1"/>
          </p:cNvSpPr>
          <p:nvPr/>
        </p:nvSpPr>
        <p:spPr>
          <a:xfrm xmlns:a="http://schemas.openxmlformats.org/drawingml/2006/main">
            <a:off x="781050" y="1200150"/>
            <a:ext cx="9906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200" b="1">
                <a:solidFill>
                  <a:srgbClr val="FAFAF3"/>
                </a:solidFill>
                <a:latin typeface="Arial"/>
                <a:ea typeface="Arial"/>
                <a:cs typeface="Arial"/>
              </a:defRPr>
            </a:pPr>
            <a:r>
              <a:rPr sz="4200" b="1">
                <a:solidFill>
                  <a:srgbClr val="FAFAF3"/>
                </a:solidFill>
                <a:latin typeface="Arial"/>
                <a:ea typeface="Arial"/>
                <a:cs typeface="Arial"/>
              </a:rPr>
              <a:t>Research stays off-chain.</a:t>
            </a:r>
          </a:p>
          <a:p xmlns:a="http://schemas.openxmlformats.org/drawingml/2006/main">
            <a:pPr algn="l">
              <a:defRPr sz="4200" b="1">
                <a:solidFill>
                  <a:srgbClr val="FAFAF3"/>
                </a:solidFill>
                <a:latin typeface="Arial"/>
                <a:ea typeface="Arial"/>
                <a:cs typeface="Arial"/>
              </a:defRPr>
            </a:pPr>
            <a:r>
              <a:rPr sz="4200" b="1">
                <a:solidFill>
                  <a:srgbClr val="FAFAF3"/>
                </a:solidFill>
                <a:latin typeface="Arial"/>
                <a:ea typeface="Arial"/>
                <a:cs typeface="Arial"/>
              </a:rPr>
              <a:t>Attribution does not.</a:t>
            </a:r>
          </a:p>
        </p:txBody>
      </p:sp>
      <p:sp>
        <p:nvSpPr>
          <p:cNvPr id="3" name="">
            <a:extLst xmlns:a="http://schemas.openxmlformats.org/drawingml/2006/main">
              <a:ext uri="{FF2B5EF4-FFF2-40B4-BE49-F238E27FC236}">
                <a16:creationId xmlns:a16="http://schemas.microsoft.com/office/drawing/2014/main" id="{30FC0654-F073-4B41-8C9A-CDFB30B962E6}"/>
              </a:ext>
            </a:extLst>
          </p:cNvPr>
          <p:cNvSpPr>
            <a:spLocks xmlns:a="http://schemas.openxmlformats.org/drawingml/2006/main" noGrp="1"/>
          </p:cNvSpPr>
          <p:nvPr/>
        </p:nvSpPr>
        <p:spPr>
          <a:xfrm xmlns:a="http://schemas.openxmlformats.org/drawingml/2006/main">
            <a:off x="781050" y="2990850"/>
            <a:ext cx="4686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D9DFE4"/>
                </a:solidFill>
                <a:latin typeface="Consolas"/>
                <a:ea typeface="Consolas"/>
                <a:cs typeface="Consolas"/>
              </a:defRPr>
            </a:pPr>
            <a:r>
              <a:rPr sz="1350" b="0">
                <a:solidFill>
                  <a:srgbClr val="D9DFE4"/>
                </a:solidFill>
                <a:latin typeface="Consolas"/>
                <a:ea typeface="Consolas"/>
                <a:cs typeface="Consolas"/>
              </a:rPr>
              <a:t>WHAT THE CHAIN CAN SHOW</a:t>
            </a:r>
          </a:p>
        </p:txBody>
      </p:sp>
      <p:sp>
        <p:nvSpPr>
          <p:cNvPr id="4" name="">
            <a:extLst xmlns:a="http://schemas.openxmlformats.org/drawingml/2006/main">
              <a:ext uri="{FF2B5EF4-FFF2-40B4-BE49-F238E27FC236}">
                <a16:creationId xmlns:a16="http://schemas.microsoft.com/office/drawing/2014/main" id="{E72CAB0E-9557-4D9D-B131-8B2D853F7B9B}"/>
              </a:ext>
            </a:extLst>
          </p:cNvPr>
          <p:cNvSpPr>
            <a:spLocks xmlns:a="http://schemas.openxmlformats.org/drawingml/2006/main" noGrp="1"/>
          </p:cNvSpPr>
          <p:nvPr/>
        </p:nvSpPr>
        <p:spPr>
          <a:xfrm xmlns:a="http://schemas.openxmlformats.org/drawingml/2006/main">
            <a:off x="781050" y="3524250"/>
            <a:ext cx="4667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FAFAF3"/>
                </a:solidFill>
                <a:latin typeface="Arial"/>
                <a:ea typeface="Arial"/>
                <a:cs typeface="Arial"/>
              </a:defRPr>
            </a:pPr>
            <a:r>
              <a:rPr sz="2175" b="1">
                <a:solidFill>
                  <a:srgbClr val="FAFAF3"/>
                </a:solidFill>
                <a:latin typeface="Arial"/>
                <a:ea typeface="Arial"/>
                <a:cs typeface="Arial"/>
              </a:rPr>
              <a:t>Wallet-signed readings can be anchored with Solana Attestation Service.</a:t>
            </a:r>
          </a:p>
        </p:txBody>
      </p:sp>
      <p:sp>
        <p:nvSpPr>
          <p:cNvPr id="5" name="">
            <a:extLst xmlns:a="http://schemas.openxmlformats.org/drawingml/2006/main">
              <a:ext uri="{FF2B5EF4-FFF2-40B4-BE49-F238E27FC236}">
                <a16:creationId xmlns:a16="http://schemas.microsoft.com/office/drawing/2014/main" id="{B7D653D8-955D-4FD0-9F5D-596A84F1E558}"/>
              </a:ext>
            </a:extLst>
          </p:cNvPr>
          <p:cNvSpPr>
            <a:spLocks xmlns:a="http://schemas.openxmlformats.org/drawingml/2006/main" noGrp="1"/>
          </p:cNvSpPr>
          <p:nvPr/>
        </p:nvSpPr>
        <p:spPr>
          <a:xfrm xmlns:a="http://schemas.openxmlformats.org/drawingml/2006/main">
            <a:off x="781050" y="4991100"/>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FAFAF3"/>
                </a:solidFill>
                <a:latin typeface="Arial"/>
                <a:ea typeface="Arial"/>
                <a:cs typeface="Arial"/>
              </a:defRPr>
            </a:pPr>
            <a:r>
              <a:rPr sz="1800" b="0">
                <a:solidFill>
                  <a:srgbClr val="FAFAF3"/>
                </a:solidFill>
                <a:latin typeface="Arial"/>
                <a:ea typeface="Arial"/>
                <a:cs typeface="Arial"/>
              </a:rPr>
              <a:t>Signature proves authorship, not truth or independence.</a:t>
            </a:r>
          </a:p>
        </p:txBody>
      </p:sp>
      <p:sp>
        <p:nvSpPr>
          <p:cNvPr id="6" name="">
            <a:extLst xmlns:a="http://schemas.openxmlformats.org/drawingml/2006/main">
              <a:ext uri="{FF2B5EF4-FFF2-40B4-BE49-F238E27FC236}">
                <a16:creationId xmlns:a16="http://schemas.microsoft.com/office/drawing/2014/main" id="{D93EBA45-380A-4FB0-AD7A-C7004B824DA3}"/>
              </a:ext>
            </a:extLst>
          </p:cNvPr>
          <p:cNvSpPr>
            <a:spLocks xmlns:a="http://schemas.openxmlformats.org/drawingml/2006/main" noGrp="1"/>
          </p:cNvSpPr>
          <p:nvPr/>
        </p:nvSpPr>
        <p:spPr>
          <a:xfrm xmlns:a="http://schemas.openxmlformats.org/drawingml/2006/main">
            <a:off x="6572250" y="2990850"/>
            <a:ext cx="447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D9DFE4"/>
                </a:solidFill>
                <a:latin typeface="Consolas"/>
                <a:ea typeface="Consolas"/>
                <a:cs typeface="Consolas"/>
              </a:defRPr>
            </a:pPr>
            <a:r>
              <a:rPr sz="1350" b="0">
                <a:solidFill>
                  <a:srgbClr val="D9DFE4"/>
                </a:solidFill>
                <a:latin typeface="Consolas"/>
                <a:ea typeface="Consolas"/>
                <a:cs typeface="Consolas"/>
              </a:rPr>
              <a:t>CHAIN STATUS</a:t>
            </a:r>
          </a:p>
        </p:txBody>
      </p:sp>
      <p:sp>
        <p:nvSpPr>
          <p:cNvPr id="7" name="">
            <a:extLst xmlns:a="http://schemas.openxmlformats.org/drawingml/2006/main">
              <a:ext uri="{FF2B5EF4-FFF2-40B4-BE49-F238E27FC236}">
                <a16:creationId xmlns:a16="http://schemas.microsoft.com/office/drawing/2014/main" id="{E091C1E3-D5A7-49D0-8C09-EF48741C2986}"/>
              </a:ext>
            </a:extLst>
          </p:cNvPr>
          <p:cNvSpPr>
            <a:spLocks xmlns:a="http://schemas.openxmlformats.org/drawingml/2006/main" noGrp="1"/>
          </p:cNvSpPr>
          <p:nvPr/>
        </p:nvSpPr>
        <p:spPr>
          <a:xfrm xmlns:a="http://schemas.openxmlformats.org/drawingml/2006/main">
            <a:off x="6572250" y="35242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1">
                <a:solidFill>
                  <a:srgbClr val="FAFAF3"/>
                </a:solidFill>
                <a:latin typeface="Arial"/>
                <a:ea typeface="Arial"/>
                <a:cs typeface="Arial"/>
              </a:defRPr>
            </a:pPr>
            <a:r>
              <a:rPr sz="2025" b="1">
                <a:solidFill>
                  <a:srgbClr val="FAFAF3"/>
                </a:solidFill>
                <a:latin typeface="Arial"/>
                <a:ea typeface="Arial"/>
                <a:cs typeface="Arial"/>
              </a:rPr>
              <a:t>Solana   Devnet demonstrated</a:t>
            </a:r>
          </a:p>
        </p:txBody>
      </p:sp>
      <p:sp>
        <p:nvSpPr>
          <p:cNvPr id="8" name="">
            <a:extLst xmlns:a="http://schemas.openxmlformats.org/drawingml/2006/main">
              <a:ext uri="{FF2B5EF4-FFF2-40B4-BE49-F238E27FC236}">
                <a16:creationId xmlns:a16="http://schemas.microsoft.com/office/drawing/2014/main" id="{2164BACF-CF02-45F4-B6BA-4D66D7C0FD4E}"/>
              </a:ext>
            </a:extLst>
          </p:cNvPr>
          <p:cNvSpPr>
            <a:spLocks xmlns:a="http://schemas.openxmlformats.org/drawingml/2006/main" noGrp="1"/>
          </p:cNvSpPr>
          <p:nvPr/>
        </p:nvSpPr>
        <p:spPr>
          <a:xfrm xmlns:a="http://schemas.openxmlformats.org/drawingml/2006/main">
            <a:off x="6572250" y="4171950"/>
            <a:ext cx="457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FAFAF3"/>
                </a:solidFill>
                <a:latin typeface="Arial"/>
                <a:ea typeface="Arial"/>
                <a:cs typeface="Arial"/>
              </a:defRPr>
            </a:pPr>
            <a:r>
              <a:rPr sz="1875" b="0">
                <a:solidFill>
                  <a:srgbClr val="FAFAF3"/>
                </a:solidFill>
                <a:latin typeface="Arial"/>
                <a:ea typeface="Arial"/>
                <a:cs typeface="Arial"/>
              </a:rPr>
              <a:t>Base, Ethereum, Arbitrum</a:t>
            </a:r>
          </a:p>
          <a:p xmlns:a="http://schemas.openxmlformats.org/drawingml/2006/main">
            <a:pPr algn="l">
              <a:defRPr sz="1875" b="0">
                <a:solidFill>
                  <a:srgbClr val="FAFAF3"/>
                </a:solidFill>
                <a:latin typeface="Arial"/>
                <a:ea typeface="Arial"/>
                <a:cs typeface="Arial"/>
              </a:defRPr>
            </a:pPr>
            <a:r>
              <a:rPr sz="1875" b="0">
                <a:solidFill>
                  <a:srgbClr val="FAFAF3"/>
                </a:solidFill>
                <a:latin typeface="Arial"/>
                <a:ea typeface="Arial"/>
                <a:cs typeface="Arial"/>
              </a:rPr>
              <a:t>Configured testnets. E2E pending.</a:t>
            </a:r>
          </a:p>
        </p:txBody>
      </p:sp>
      <p:sp>
        <p:nvSpPr>
          <p:cNvPr id="9" name="">
            <a:extLst xmlns:a="http://schemas.openxmlformats.org/drawingml/2006/main">
              <a:ext uri="{FF2B5EF4-FFF2-40B4-BE49-F238E27FC236}">
                <a16:creationId xmlns:a16="http://schemas.microsoft.com/office/drawing/2014/main" id="{83EA19D3-F8AB-46CC-823B-9FA9A346A803}"/>
              </a:ext>
            </a:extLst>
          </p:cNvPr>
          <p:cNvSpPr>
            <a:spLocks xmlns:a="http://schemas.openxmlformats.org/drawingml/2006/main" noGrp="1"/>
          </p:cNvSpPr>
          <p:nvPr/>
        </p:nvSpPr>
        <p:spPr>
          <a:xfrm xmlns:a="http://schemas.openxmlformats.org/drawingml/2006/main">
            <a:off x="6572250" y="5238750"/>
            <a:ext cx="457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E7AE34"/>
                </a:solidFill>
                <a:latin typeface="Arial"/>
                <a:ea typeface="Arial"/>
                <a:cs typeface="Arial"/>
              </a:defRPr>
            </a:pPr>
            <a:r>
              <a:rPr sz="1875" b="1">
                <a:solidFill>
                  <a:srgbClr val="E7AE34"/>
                </a:solidFill>
                <a:latin typeface="Arial"/>
                <a:ea typeface="Arial"/>
                <a:cs typeface="Arial"/>
              </a:rPr>
              <a:t>No mainnet claim.</a:t>
            </a:r>
          </a:p>
        </p:txBody>
      </p:sp>
      <p:sp>
        <p:nvSpPr>
          <p:cNvPr id="10" name="">
            <a:extLst xmlns:a="http://schemas.openxmlformats.org/drawingml/2006/main">
              <a:ext uri="{FF2B5EF4-FFF2-40B4-BE49-F238E27FC236}">
                <a16:creationId xmlns:a16="http://schemas.microsoft.com/office/drawing/2014/main" id="{9107A93C-1082-491B-823D-1CC88D45B67A}"/>
              </a:ext>
            </a:extLst>
          </p:cNvPr>
          <p:cNvSpPr>
            <a:spLocks xmlns:a="http://schemas.openxmlformats.org/drawingml/2006/main" noGrp="1"/>
          </p:cNvSpPr>
          <p:nvPr/>
        </p:nvSpPr>
        <p:spPr>
          <a:xfrm xmlns:a="http://schemas.openxmlformats.org/drawingml/2006/main">
            <a:off x="781050" y="605790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D9DFE4"/>
                </a:solidFill>
                <a:latin typeface="Consolas"/>
                <a:ea typeface="Consolas"/>
                <a:cs typeface="Consolas"/>
              </a:defRPr>
            </a:pPr>
            <a:r>
              <a:rPr sz="1275" b="0">
                <a:solidFill>
                  <a:srgbClr val="D9DFE4"/>
                </a:solidFill>
                <a:latin typeface="Consolas"/>
                <a:ea typeface="Consolas"/>
                <a:cs typeface="Consolas"/>
              </a:rPr>
              <a:t>HISTORICAL DEVNET EVIDENCE     /     SEPTEMBER 29 2026</a:t>
            </a:r>
          </a:p>
        </p:txBody>
      </p:sp>
    </p:spTree>
    <p:extLst>
      <p:ext uri="{BB962C8B-B14F-4D97-AF65-F5344CB8AC3E}">
        <p14:creationId xmlns:p14="http://schemas.microsoft.com/office/powerpoint/2010/main" val="231687120"/>
      </p:ext>
    </p:extLst>
  </p:cSld>
</p:sld>
</file>

<file path=ppt/slides/slide11.xml><?xml version="1.0" encoding="utf-8"?>
<p:sld xmlns:p="http://schemas.openxmlformats.org/presentationml/2006/main">
  <p:cSld>
    <p:bg>
      <p:bgPr>
        <a:solidFill xmlns:a="http://schemas.openxmlformats.org/drawingml/2006/main">
          <a:srgbClr val="FAFAF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F60A3C2-988B-49CF-B3BB-FB424A082440}"/>
              </a:ext>
            </a:extLst>
          </p:cNvPr>
          <p:cNvSpPr>
            <a:spLocks xmlns:a="http://schemas.openxmlformats.org/drawingml/2006/main" noGrp="1"/>
          </p:cNvSpPr>
          <p:nvPr/>
        </p:nvSpPr>
        <p:spPr>
          <a:xfrm xmlns:a="http://schemas.openxmlformats.org/drawingml/2006/main">
            <a:off x="781050" y="590550"/>
            <a:ext cx="1038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86777"/>
                </a:solidFill>
                <a:latin typeface="Consolas"/>
                <a:ea typeface="Consolas"/>
                <a:cs typeface="Consolas"/>
              </a:defRPr>
            </a:pPr>
            <a:r>
              <a:rPr sz="1350" b="0">
                <a:solidFill>
                  <a:srgbClr val="586777"/>
                </a:solidFill>
                <a:latin typeface="Consolas"/>
                <a:ea typeface="Consolas"/>
                <a:cs typeface="Consolas"/>
              </a:rPr>
              <a:t>10     /     DISTRIBUTION AND REVENUE HYPOTHESIS</a:t>
            </a:r>
          </a:p>
        </p:txBody>
      </p:sp>
      <p:sp>
        <p:nvSpPr>
          <p:cNvPr id="2" name="">
            <a:extLst xmlns:a="http://schemas.openxmlformats.org/drawingml/2006/main">
              <a:ext uri="{FF2B5EF4-FFF2-40B4-BE49-F238E27FC236}">
                <a16:creationId xmlns:a16="http://schemas.microsoft.com/office/drawing/2014/main" id="{4D50B090-0010-413B-96EC-CAD73BA7FECD}"/>
              </a:ext>
            </a:extLst>
          </p:cNvPr>
          <p:cNvSpPr>
            <a:spLocks xmlns:a="http://schemas.openxmlformats.org/drawingml/2006/main" noGrp="1"/>
          </p:cNvSpPr>
          <p:nvPr/>
        </p:nvSpPr>
        <p:spPr>
          <a:xfrm xmlns:a="http://schemas.openxmlformats.org/drawingml/2006/main">
            <a:off x="781050" y="1200150"/>
            <a:ext cx="53340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050" b="1">
                <a:solidFill>
                  <a:srgbClr val="1A1A1A"/>
                </a:solidFill>
                <a:latin typeface="Arial"/>
                <a:ea typeface="Arial"/>
                <a:cs typeface="Arial"/>
              </a:defRPr>
            </a:pPr>
            <a:r>
              <a:rPr sz="4050" b="1">
                <a:solidFill>
                  <a:srgbClr val="1A1A1A"/>
                </a:solidFill>
                <a:latin typeface="Arial"/>
                <a:ea typeface="Arial"/>
                <a:cs typeface="Arial"/>
              </a:rPr>
              <a:t>Free discovery.</a:t>
            </a:r>
          </a:p>
          <a:p xmlns:a="http://schemas.openxmlformats.org/drawingml/2006/main">
            <a:pPr algn="l">
              <a:defRPr sz="4050" b="1">
                <a:solidFill>
                  <a:srgbClr val="1A1A1A"/>
                </a:solidFill>
                <a:latin typeface="Arial"/>
                <a:ea typeface="Arial"/>
                <a:cs typeface="Arial"/>
              </a:defRPr>
            </a:pPr>
            <a:r>
              <a:rPr sz="4050" b="1">
                <a:solidFill>
                  <a:srgbClr val="1A1A1A"/>
                </a:solidFill>
                <a:latin typeface="Arial"/>
                <a:ea typeface="Arial"/>
                <a:cs typeface="Arial"/>
              </a:rPr>
              <a:t>Paid depth is</a:t>
            </a:r>
          </a:p>
          <a:p xmlns:a="http://schemas.openxmlformats.org/drawingml/2006/main">
            <a:pPr algn="l">
              <a:defRPr sz="4050" b="1">
                <a:solidFill>
                  <a:srgbClr val="1A1A1A"/>
                </a:solidFill>
                <a:latin typeface="Arial"/>
                <a:ea typeface="Arial"/>
                <a:cs typeface="Arial"/>
              </a:defRPr>
            </a:pPr>
            <a:r>
              <a:rPr sz="4050" b="1">
                <a:solidFill>
                  <a:srgbClr val="1A1A1A"/>
                </a:solidFill>
                <a:latin typeface="Arial"/>
                <a:ea typeface="Arial"/>
                <a:cs typeface="Arial"/>
              </a:rPr>
              <a:t>the hypothesis.</a:t>
            </a:r>
          </a:p>
        </p:txBody>
      </p:sp>
      <p:sp>
        <p:nvSpPr>
          <p:cNvPr id="3" name="">
            <a:extLst xmlns:a="http://schemas.openxmlformats.org/drawingml/2006/main">
              <a:ext uri="{FF2B5EF4-FFF2-40B4-BE49-F238E27FC236}">
                <a16:creationId xmlns:a16="http://schemas.microsoft.com/office/drawing/2014/main" id="{2CD567CA-A2AD-45C6-A4A4-C548D9C33C30}"/>
              </a:ext>
            </a:extLst>
          </p:cNvPr>
          <p:cNvSpPr>
            <a:spLocks xmlns:a="http://schemas.openxmlformats.org/drawingml/2006/main" noGrp="1"/>
          </p:cNvSpPr>
          <p:nvPr/>
        </p:nvSpPr>
        <p:spPr>
          <a:xfrm xmlns:a="http://schemas.openxmlformats.org/drawingml/2006/main">
            <a:off x="6877050" y="133350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86777"/>
                </a:solidFill>
                <a:latin typeface="Consolas"/>
                <a:ea typeface="Consolas"/>
                <a:cs typeface="Consolas"/>
              </a:defRPr>
            </a:pPr>
            <a:r>
              <a:rPr sz="1350" b="0">
                <a:solidFill>
                  <a:srgbClr val="586777"/>
                </a:solidFill>
                <a:latin typeface="Consolas"/>
                <a:ea typeface="Consolas"/>
                <a:cs typeface="Consolas"/>
              </a:rPr>
              <a:t>TODAY</a:t>
            </a:r>
          </a:p>
        </p:txBody>
      </p:sp>
      <p:sp>
        <p:nvSpPr>
          <p:cNvPr id="4" name="">
            <a:extLst xmlns:a="http://schemas.openxmlformats.org/drawingml/2006/main">
              <a:ext uri="{FF2B5EF4-FFF2-40B4-BE49-F238E27FC236}">
                <a16:creationId xmlns:a16="http://schemas.microsoft.com/office/drawing/2014/main" id="{61D59AED-0240-4783-BE27-6D70024AB80A}"/>
              </a:ext>
            </a:extLst>
          </p:cNvPr>
          <p:cNvSpPr>
            <a:spLocks xmlns:a="http://schemas.openxmlformats.org/drawingml/2006/main" noGrp="1"/>
          </p:cNvSpPr>
          <p:nvPr/>
        </p:nvSpPr>
        <p:spPr>
          <a:xfrm xmlns:a="http://schemas.openxmlformats.org/drawingml/2006/main">
            <a:off x="6877050" y="1752600"/>
            <a:ext cx="4191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A1A1A"/>
                </a:solidFill>
                <a:latin typeface="Arial"/>
                <a:ea typeface="Arial"/>
                <a:cs typeface="Arial"/>
              </a:defRPr>
            </a:pPr>
            <a:r>
              <a:rPr sz="2175" b="1">
                <a:solidFill>
                  <a:srgbClr val="1A1A1A"/>
                </a:solidFill>
                <a:latin typeface="Arial"/>
                <a:ea typeface="Arial"/>
                <a:cs typeface="Arial"/>
              </a:rPr>
              <a:t>Public MCP research beta is free.</a:t>
            </a:r>
          </a:p>
        </p:txBody>
      </p:sp>
      <p:sp>
        <p:nvSpPr>
          <p:cNvPr id="5" name="">
            <a:extLst xmlns:a="http://schemas.openxmlformats.org/drawingml/2006/main">
              <a:ext uri="{FF2B5EF4-FFF2-40B4-BE49-F238E27FC236}">
                <a16:creationId xmlns:a16="http://schemas.microsoft.com/office/drawing/2014/main" id="{925998E2-E1B3-4F8E-A0C6-006F9BB595C4}"/>
              </a:ext>
            </a:extLst>
          </p:cNvPr>
          <p:cNvSpPr>
            <a:spLocks xmlns:a="http://schemas.openxmlformats.org/drawingml/2006/main" noGrp="1"/>
          </p:cNvSpPr>
          <p:nvPr/>
        </p:nvSpPr>
        <p:spPr>
          <a:xfrm xmlns:a="http://schemas.openxmlformats.org/drawingml/2006/main">
            <a:off x="6877050" y="2686050"/>
            <a:ext cx="419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86777"/>
                </a:solidFill>
                <a:latin typeface="Consolas"/>
                <a:ea typeface="Consolas"/>
                <a:cs typeface="Consolas"/>
              </a:defRPr>
            </a:pPr>
            <a:r>
              <a:rPr sz="1350" b="0">
                <a:solidFill>
                  <a:srgbClr val="586777"/>
                </a:solidFill>
                <a:latin typeface="Consolas"/>
                <a:ea typeface="Consolas"/>
                <a:cs typeface="Consolas"/>
              </a:rPr>
              <a:t>CANDIDATE MODEL</a:t>
            </a:r>
          </a:p>
        </p:txBody>
      </p:sp>
      <p:sp>
        <p:nvSpPr>
          <p:cNvPr id="6" name="">
            <a:extLst xmlns:a="http://schemas.openxmlformats.org/drawingml/2006/main">
              <a:ext uri="{FF2B5EF4-FFF2-40B4-BE49-F238E27FC236}">
                <a16:creationId xmlns:a16="http://schemas.microsoft.com/office/drawing/2014/main" id="{4BC15199-68B8-4239-8579-28F3444D8BA3}"/>
              </a:ext>
            </a:extLst>
          </p:cNvPr>
          <p:cNvSpPr>
            <a:spLocks xmlns:a="http://schemas.openxmlformats.org/drawingml/2006/main" noGrp="1"/>
          </p:cNvSpPr>
          <p:nvPr/>
        </p:nvSpPr>
        <p:spPr>
          <a:xfrm xmlns:a="http://schemas.openxmlformats.org/drawingml/2006/main">
            <a:off x="6877050" y="3124200"/>
            <a:ext cx="43338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1A1A1A"/>
                </a:solidFill>
                <a:latin typeface="Arial"/>
                <a:ea typeface="Arial"/>
                <a:cs typeface="Arial"/>
              </a:defRPr>
            </a:pPr>
            <a:r>
              <a:rPr sz="2025" b="0">
                <a:solidFill>
                  <a:srgbClr val="1A1A1A"/>
                </a:solidFill>
                <a:latin typeface="Arial"/>
                <a:ea typeface="Arial"/>
                <a:cs typeface="Arial"/>
              </a:rPr>
              <a:t>Optional credits or x402 for heavier usage and team integrations.</a:t>
            </a:r>
          </a:p>
        </p:txBody>
      </p:sp>
      <p:sp>
        <p:nvSpPr>
          <p:cNvPr id="7" name="">
            <a:extLst xmlns:a="http://schemas.openxmlformats.org/drawingml/2006/main">
              <a:ext uri="{FF2B5EF4-FFF2-40B4-BE49-F238E27FC236}">
                <a16:creationId xmlns:a16="http://schemas.microsoft.com/office/drawing/2014/main" id="{BEBD6183-47F8-4D9F-8DBC-68CE386247F7}"/>
              </a:ext>
            </a:extLst>
          </p:cNvPr>
          <p:cNvSpPr>
            <a:spLocks xmlns:a="http://schemas.openxmlformats.org/drawingml/2006/main" noGrp="1"/>
          </p:cNvSpPr>
          <p:nvPr/>
        </p:nvSpPr>
        <p:spPr>
          <a:xfrm xmlns:a="http://schemas.openxmlformats.org/drawingml/2006/main">
            <a:off x="781050" y="365760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86777"/>
                </a:solidFill>
                <a:latin typeface="Consolas"/>
                <a:ea typeface="Consolas"/>
                <a:cs typeface="Consolas"/>
              </a:defRPr>
            </a:pPr>
            <a:r>
              <a:rPr sz="1350" b="0">
                <a:solidFill>
                  <a:srgbClr val="586777"/>
                </a:solidFill>
                <a:latin typeface="Consolas"/>
                <a:ea typeface="Consolas"/>
                <a:cs typeface="Consolas"/>
              </a:rPr>
              <a:t>BEACHHEAD</a:t>
            </a:r>
          </a:p>
        </p:txBody>
      </p:sp>
      <p:sp>
        <p:nvSpPr>
          <p:cNvPr id="8" name="">
            <a:extLst xmlns:a="http://schemas.openxmlformats.org/drawingml/2006/main">
              <a:ext uri="{FF2B5EF4-FFF2-40B4-BE49-F238E27FC236}">
                <a16:creationId xmlns:a16="http://schemas.microsoft.com/office/drawing/2014/main" id="{7B1186DA-04E7-48AB-AF21-89204CD0AFF2}"/>
              </a:ext>
            </a:extLst>
          </p:cNvPr>
          <p:cNvSpPr>
            <a:spLocks xmlns:a="http://schemas.openxmlformats.org/drawingml/2006/main" noGrp="1"/>
          </p:cNvSpPr>
          <p:nvPr/>
        </p:nvSpPr>
        <p:spPr>
          <a:xfrm xmlns:a="http://schemas.openxmlformats.org/drawingml/2006/main">
            <a:off x="781050" y="4095750"/>
            <a:ext cx="5048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1A1A1A"/>
                </a:solidFill>
                <a:latin typeface="Arial"/>
                <a:ea typeface="Arial"/>
                <a:cs typeface="Arial"/>
              </a:defRPr>
            </a:pPr>
            <a:r>
              <a:rPr sz="2250" b="1">
                <a:solidFill>
                  <a:srgbClr val="1A1A1A"/>
                </a:solidFill>
                <a:latin typeface="Arial"/>
                <a:ea typeface="Arial"/>
                <a:cs typeface="Arial"/>
              </a:rPr>
              <a:t>Protocol teams and agent frameworks.</a:t>
            </a:r>
          </a:p>
        </p:txBody>
      </p:sp>
      <p:sp>
        <p:nvSpPr>
          <p:cNvPr id="9" name="">
            <a:extLst xmlns:a="http://schemas.openxmlformats.org/drawingml/2006/main">
              <a:ext uri="{FF2B5EF4-FFF2-40B4-BE49-F238E27FC236}">
                <a16:creationId xmlns:a16="http://schemas.microsoft.com/office/drawing/2014/main" id="{7A5B274A-3980-4716-88BF-911E9D8F35A1}"/>
              </a:ext>
            </a:extLst>
          </p:cNvPr>
          <p:cNvSpPr>
            <a:spLocks xmlns:a="http://schemas.openxmlformats.org/drawingml/2006/main" noGrp="1"/>
          </p:cNvSpPr>
          <p:nvPr/>
        </p:nvSpPr>
        <p:spPr>
          <a:xfrm xmlns:a="http://schemas.openxmlformats.org/drawingml/2006/main">
            <a:off x="781050" y="5124450"/>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1A1A1A"/>
                </a:solidFill>
                <a:latin typeface="Arial"/>
                <a:ea typeface="Arial"/>
                <a:cs typeface="Arial"/>
              </a:defRPr>
            </a:pPr>
            <a:r>
              <a:rPr sz="2100" b="1">
                <a:solidFill>
                  <a:srgbClr val="1A1A1A"/>
                </a:solidFill>
                <a:latin typeface="Arial"/>
                <a:ea typeface="Arial"/>
                <a:cs typeface="Arial"/>
              </a:rPr>
              <a:t>Next: recruit design partners. Measure repeat use and willingness to pay.</a:t>
            </a:r>
          </a:p>
        </p:txBody>
      </p:sp>
      <p:sp>
        <p:nvSpPr>
          <p:cNvPr id="10" name="">
            <a:extLst xmlns:a="http://schemas.openxmlformats.org/drawingml/2006/main">
              <a:ext uri="{FF2B5EF4-FFF2-40B4-BE49-F238E27FC236}">
                <a16:creationId xmlns:a16="http://schemas.microsoft.com/office/drawing/2014/main" id="{63AD3756-FBA8-4EB2-BE92-15E73250DD0C}"/>
              </a:ext>
            </a:extLst>
          </p:cNvPr>
          <p:cNvSpPr>
            <a:spLocks xmlns:a="http://schemas.openxmlformats.org/drawingml/2006/main" noGrp="1"/>
          </p:cNvSpPr>
          <p:nvPr/>
        </p:nvSpPr>
        <p:spPr>
          <a:xfrm xmlns:a="http://schemas.openxmlformats.org/drawingml/2006/main">
            <a:off x="781050" y="57435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86777"/>
                </a:solidFill>
                <a:latin typeface="Consolas"/>
                <a:ea typeface="Consolas"/>
                <a:cs typeface="Consolas"/>
              </a:defRPr>
            </a:pPr>
            <a:r>
              <a:rPr sz="1350" b="0">
                <a:solidFill>
                  <a:srgbClr val="586777"/>
                </a:solidFill>
                <a:latin typeface="Consolas"/>
                <a:ea typeface="Consolas"/>
                <a:cs typeface="Consolas"/>
              </a:rPr>
              <a:t>PROPOSED MODEL     /     PUBLIC BETA REMAINS FREE</a:t>
            </a:r>
          </a:p>
        </p:txBody>
      </p:sp>
    </p:spTree>
    <p:extLst>
      <p:ext uri="{BB962C8B-B14F-4D97-AF65-F5344CB8AC3E}">
        <p14:creationId xmlns:p14="http://schemas.microsoft.com/office/powerpoint/2010/main" val="1752348445"/>
      </p:ext>
    </p:extLst>
  </p:cSld>
</p:sld>
</file>

<file path=ppt/slides/slide12.xml><?xml version="1.0" encoding="utf-8"?>
<p:sld xmlns:p="http://schemas.openxmlformats.org/presentationml/2006/main">
  <p:cSld>
    <p:bg>
      <p:bgPr>
        <a:solidFill xmlns:a="http://schemas.openxmlformats.org/drawingml/2006/main">
          <a:srgbClr val="14263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0FCF69C-3B31-4BE1-B3ED-7B26B5AE974D}"/>
              </a:ext>
            </a:extLst>
          </p:cNvPr>
          <p:cNvSpPr>
            <a:spLocks xmlns:a="http://schemas.openxmlformats.org/drawingml/2006/main" noGrp="1"/>
          </p:cNvSpPr>
          <p:nvPr/>
        </p:nvSpPr>
        <p:spPr>
          <a:xfrm xmlns:a="http://schemas.openxmlformats.org/drawingml/2006/main">
            <a:off x="781050" y="590550"/>
            <a:ext cx="1038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E7AE34"/>
                </a:solidFill>
                <a:latin typeface="Consolas"/>
                <a:ea typeface="Consolas"/>
                <a:cs typeface="Consolas"/>
              </a:defRPr>
            </a:pPr>
            <a:r>
              <a:rPr sz="1350" b="0">
                <a:solidFill>
                  <a:srgbClr val="E7AE34"/>
                </a:solidFill>
                <a:latin typeface="Consolas"/>
                <a:ea typeface="Consolas"/>
                <a:cs typeface="Consolas"/>
              </a:rPr>
              <a:t>11     /     FOUNDER</a:t>
            </a:r>
          </a:p>
        </p:txBody>
      </p:sp>
      <p:sp>
        <p:nvSpPr>
          <p:cNvPr id="2" name="">
            <a:extLst xmlns:a="http://schemas.openxmlformats.org/drawingml/2006/main">
              <a:ext uri="{FF2B5EF4-FFF2-40B4-BE49-F238E27FC236}">
                <a16:creationId xmlns:a16="http://schemas.microsoft.com/office/drawing/2014/main" id="{40B2BD8F-6EF0-452F-9FAB-8FC5B2F06025}"/>
              </a:ext>
            </a:extLst>
          </p:cNvPr>
          <p:cNvSpPr>
            <a:spLocks xmlns:a="http://schemas.openxmlformats.org/drawingml/2006/main" noGrp="1"/>
          </p:cNvSpPr>
          <p:nvPr/>
        </p:nvSpPr>
        <p:spPr>
          <a:xfrm xmlns:a="http://schemas.openxmlformats.org/drawingml/2006/main">
            <a:off x="781050" y="1333500"/>
            <a:ext cx="46672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AFAF3"/>
                </a:solidFill>
                <a:latin typeface="Arial"/>
                <a:ea typeface="Arial"/>
                <a:cs typeface="Arial"/>
              </a:defRPr>
            </a:pPr>
            <a:r>
              <a:rPr sz="4650" b="1">
                <a:solidFill>
                  <a:srgbClr val="FAFAF3"/>
                </a:solidFill>
                <a:latin typeface="Arial"/>
                <a:ea typeface="Arial"/>
                <a:cs typeface="Arial"/>
              </a:rPr>
              <a:t>Daniyar</a:t>
            </a:r>
          </a:p>
          <a:p xmlns:a="http://schemas.openxmlformats.org/drawingml/2006/main">
            <a:pPr algn="l">
              <a:defRPr sz="4650" b="1">
                <a:solidFill>
                  <a:srgbClr val="FAFAF3"/>
                </a:solidFill>
                <a:latin typeface="Arial"/>
                <a:ea typeface="Arial"/>
                <a:cs typeface="Arial"/>
              </a:defRPr>
            </a:pPr>
            <a:r>
              <a:rPr sz="4650" b="1">
                <a:solidFill>
                  <a:srgbClr val="FAFAF3"/>
                </a:solidFill>
                <a:latin typeface="Arial"/>
                <a:ea typeface="Arial"/>
                <a:cs typeface="Arial"/>
              </a:rPr>
              <a:t>Gabdullin</a:t>
            </a:r>
          </a:p>
        </p:txBody>
      </p:sp>
      <p:sp>
        <p:nvSpPr>
          <p:cNvPr id="3" name="">
            <a:extLst xmlns:a="http://schemas.openxmlformats.org/drawingml/2006/main">
              <a:ext uri="{FF2B5EF4-FFF2-40B4-BE49-F238E27FC236}">
                <a16:creationId xmlns:a16="http://schemas.microsoft.com/office/drawing/2014/main" id="{B95BCB38-82B7-462B-9E34-34C5BC6213F8}"/>
              </a:ext>
            </a:extLst>
          </p:cNvPr>
          <p:cNvSpPr>
            <a:spLocks xmlns:a="http://schemas.openxmlformats.org/drawingml/2006/main" noGrp="1"/>
          </p:cNvSpPr>
          <p:nvPr/>
        </p:nvSpPr>
        <p:spPr>
          <a:xfrm xmlns:a="http://schemas.openxmlformats.org/drawingml/2006/main">
            <a:off x="781050" y="3257550"/>
            <a:ext cx="466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D9DFE4"/>
                </a:solidFill>
                <a:latin typeface="Consolas"/>
                <a:ea typeface="Consolas"/>
                <a:cs typeface="Consolas"/>
              </a:defRPr>
            </a:pPr>
            <a:r>
              <a:rPr sz="1350" b="0">
                <a:solidFill>
                  <a:srgbClr val="D9DFE4"/>
                </a:solidFill>
                <a:latin typeface="Consolas"/>
                <a:ea typeface="Consolas"/>
                <a:cs typeface="Consolas"/>
              </a:rPr>
              <a:t>SOLO FOUNDER     /     ALMATY, KAZAKHSTAN</a:t>
            </a:r>
          </a:p>
        </p:txBody>
      </p:sp>
      <p:sp>
        <p:nvSpPr>
          <p:cNvPr id="4" name="">
            <a:extLst xmlns:a="http://schemas.openxmlformats.org/drawingml/2006/main">
              <a:ext uri="{FF2B5EF4-FFF2-40B4-BE49-F238E27FC236}">
                <a16:creationId xmlns:a16="http://schemas.microsoft.com/office/drawing/2014/main" id="{898B4D6C-B154-46B4-A1CC-2B42456BE604}"/>
              </a:ext>
            </a:extLst>
          </p:cNvPr>
          <p:cNvSpPr>
            <a:spLocks xmlns:a="http://schemas.openxmlformats.org/drawingml/2006/main" noGrp="1"/>
          </p:cNvSpPr>
          <p:nvPr/>
        </p:nvSpPr>
        <p:spPr>
          <a:xfrm xmlns:a="http://schemas.openxmlformats.org/drawingml/2006/main">
            <a:off x="6286500" y="1314450"/>
            <a:ext cx="4857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FAFAF3"/>
                </a:solidFill>
                <a:latin typeface="Arial"/>
                <a:ea typeface="Arial"/>
                <a:cs typeface="Arial"/>
              </a:defRPr>
            </a:pPr>
            <a:r>
              <a:rPr sz="2100" b="1">
                <a:solidFill>
                  <a:srgbClr val="FAFAF3"/>
                </a:solidFill>
                <a:latin typeface="Arial"/>
                <a:ea typeface="Arial"/>
                <a:cs typeface="Arial"/>
              </a:rPr>
              <a:t>Independent mobile, Web3, and AI product work since 2019.</a:t>
            </a:r>
          </a:p>
        </p:txBody>
      </p:sp>
      <p:sp>
        <p:nvSpPr>
          <p:cNvPr id="5" name="">
            <a:extLst xmlns:a="http://schemas.openxmlformats.org/drawingml/2006/main">
              <a:ext uri="{FF2B5EF4-FFF2-40B4-BE49-F238E27FC236}">
                <a16:creationId xmlns:a16="http://schemas.microsoft.com/office/drawing/2014/main" id="{FD2AF790-337B-455A-A6EE-808EE3336B20}"/>
              </a:ext>
            </a:extLst>
          </p:cNvPr>
          <p:cNvSpPr>
            <a:spLocks xmlns:a="http://schemas.openxmlformats.org/drawingml/2006/main" noGrp="1"/>
          </p:cNvSpPr>
          <p:nvPr/>
        </p:nvSpPr>
        <p:spPr>
          <a:xfrm xmlns:a="http://schemas.openxmlformats.org/drawingml/2006/main">
            <a:off x="6286500" y="2343150"/>
            <a:ext cx="4857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FAFAF3"/>
                </a:solidFill>
                <a:latin typeface="Arial"/>
                <a:ea typeface="Arial"/>
                <a:cs typeface="Arial"/>
              </a:defRPr>
            </a:pPr>
            <a:r>
              <a:rPr sz="2100" b="1">
                <a:solidFill>
                  <a:srgbClr val="FAFAF3"/>
                </a:solidFill>
                <a:latin typeface="Arial"/>
                <a:ea typeface="Arial"/>
                <a:cs typeface="Arial"/>
              </a:rPr>
              <a:t>Blockchain, dApp, and wallet QA experience since 2020.</a:t>
            </a:r>
          </a:p>
        </p:txBody>
      </p:sp>
      <p:sp>
        <p:nvSpPr>
          <p:cNvPr id="6" name="">
            <a:extLst xmlns:a="http://schemas.openxmlformats.org/drawingml/2006/main">
              <a:ext uri="{FF2B5EF4-FFF2-40B4-BE49-F238E27FC236}">
                <a16:creationId xmlns:a16="http://schemas.microsoft.com/office/drawing/2014/main" id="{9DC71B11-EA73-4EFA-AECF-E27EF04C1EB1}"/>
              </a:ext>
            </a:extLst>
          </p:cNvPr>
          <p:cNvSpPr>
            <a:spLocks xmlns:a="http://schemas.openxmlformats.org/drawingml/2006/main" noGrp="1"/>
          </p:cNvSpPr>
          <p:nvPr/>
        </p:nvSpPr>
        <p:spPr>
          <a:xfrm xmlns:a="http://schemas.openxmlformats.org/drawingml/2006/main">
            <a:off x="6286500" y="3505200"/>
            <a:ext cx="4857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FAFAF3"/>
                </a:solidFill>
                <a:latin typeface="Arial"/>
                <a:ea typeface="Arial"/>
                <a:cs typeface="Arial"/>
              </a:defRPr>
            </a:pPr>
            <a:r>
              <a:rPr sz="1875" b="0">
                <a:solidFill>
                  <a:srgbClr val="FAFAF3"/>
                </a:solidFill>
                <a:latin typeface="Arial"/>
                <a:ea typeface="Arial"/>
                <a:cs typeface="Arial"/>
              </a:rPr>
              <a:t>Built and shipped Seeker Vault and X-Booster / Aibat for the Solana Seeker dApp Store.</a:t>
            </a:r>
          </a:p>
        </p:txBody>
      </p:sp>
      <p:sp>
        <p:nvSpPr>
          <p:cNvPr id="7" name="">
            <a:extLst xmlns:a="http://schemas.openxmlformats.org/drawingml/2006/main">
              <a:ext uri="{FF2B5EF4-FFF2-40B4-BE49-F238E27FC236}">
                <a16:creationId xmlns:a16="http://schemas.microsoft.com/office/drawing/2014/main" id="{62D9DD7B-EE56-4388-A805-6BD71007403A}"/>
              </a:ext>
            </a:extLst>
          </p:cNvPr>
          <p:cNvSpPr>
            <a:spLocks xmlns:a="http://schemas.openxmlformats.org/drawingml/2006/main" noGrp="1"/>
          </p:cNvSpPr>
          <p:nvPr/>
        </p:nvSpPr>
        <p:spPr>
          <a:xfrm xmlns:a="http://schemas.openxmlformats.org/drawingml/2006/main">
            <a:off x="781050" y="605790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0">
                <a:solidFill>
                  <a:srgbClr val="D9DFE4"/>
                </a:solidFill>
                <a:latin typeface="Consolas"/>
                <a:ea typeface="Consolas"/>
                <a:cs typeface="Consolas"/>
              </a:defRPr>
            </a:pPr>
            <a:r>
              <a:rPr sz="1200" b="0">
                <a:solidFill>
                  <a:srgbClr val="D9DFE4"/>
                </a:solidFill>
                <a:latin typeface="Consolas"/>
                <a:ea typeface="Consolas"/>
                <a:cs typeface="Consolas"/>
              </a:rPr>
              <a:t>PORTFOLIO.WHOIM.SPACE     /     LINKEDIN.COM/IN/DANIYAR-GABDULLIN-11312B252</a:t>
            </a:r>
          </a:p>
        </p:txBody>
      </p:sp>
    </p:spTree>
    <p:extLst>
      <p:ext uri="{BB962C8B-B14F-4D97-AF65-F5344CB8AC3E}">
        <p14:creationId xmlns:p14="http://schemas.microsoft.com/office/powerpoint/2010/main" val="1240587608"/>
      </p:ext>
    </p:extLst>
  </p:cSld>
</p:sld>
</file>

<file path=ppt/slides/slide13.xml><?xml version="1.0" encoding="utf-8"?>
<p:sld xmlns:p="http://schemas.openxmlformats.org/presentationml/2006/main">
  <p:cSld>
    <p:bg>
      <p:bgPr>
        <a:solidFill xmlns:a="http://schemas.openxmlformats.org/drawingml/2006/main">
          <a:srgbClr val="E7AE3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C7E2260-C41B-4D9F-9324-BC25D1AE2E78}"/>
              </a:ext>
            </a:extLst>
          </p:cNvPr>
          <p:cNvSpPr>
            <a:spLocks xmlns:a="http://schemas.openxmlformats.org/drawingml/2006/main" noGrp="1"/>
          </p:cNvSpPr>
          <p:nvPr/>
        </p:nvSpPr>
        <p:spPr>
          <a:xfrm xmlns:a="http://schemas.openxmlformats.org/drawingml/2006/main">
            <a:off x="781050" y="590550"/>
            <a:ext cx="1038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1401C"/>
                </a:solidFill>
                <a:latin typeface="Consolas"/>
                <a:ea typeface="Consolas"/>
                <a:cs typeface="Consolas"/>
              </a:defRPr>
            </a:pPr>
            <a:r>
              <a:rPr sz="1350" b="0">
                <a:solidFill>
                  <a:srgbClr val="51401C"/>
                </a:solidFill>
                <a:latin typeface="Consolas"/>
                <a:ea typeface="Consolas"/>
                <a:cs typeface="Consolas"/>
              </a:rPr>
              <a:t>12     /     FREE PUBLIC BETA</a:t>
            </a:r>
          </a:p>
        </p:txBody>
      </p:sp>
      <p:sp>
        <p:nvSpPr>
          <p:cNvPr id="2" name="">
            <a:extLst xmlns:a="http://schemas.openxmlformats.org/drawingml/2006/main">
              <a:ext uri="{FF2B5EF4-FFF2-40B4-BE49-F238E27FC236}">
                <a16:creationId xmlns:a16="http://schemas.microsoft.com/office/drawing/2014/main" id="{9A178169-42EE-41F2-B24C-49915382BF61}"/>
              </a:ext>
            </a:extLst>
          </p:cNvPr>
          <p:cNvSpPr>
            <a:spLocks xmlns:a="http://schemas.openxmlformats.org/drawingml/2006/main" noGrp="1"/>
          </p:cNvSpPr>
          <p:nvPr/>
        </p:nvSpPr>
        <p:spPr>
          <a:xfrm xmlns:a="http://schemas.openxmlformats.org/drawingml/2006/main">
            <a:off x="781050" y="1352550"/>
            <a:ext cx="104775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725" b="1">
                <a:solidFill>
                  <a:srgbClr val="1A1A1A"/>
                </a:solidFill>
                <a:latin typeface="Arial"/>
                <a:ea typeface="Arial"/>
                <a:cs typeface="Arial"/>
              </a:defRPr>
            </a:pPr>
            <a:r>
              <a:rPr sz="4725" b="1">
                <a:solidFill>
                  <a:srgbClr val="1A1A1A"/>
                </a:solidFill>
                <a:latin typeface="Arial"/>
                <a:ea typeface="Arial"/>
                <a:cs typeface="Arial"/>
              </a:rPr>
              <a:t>Bring a Web3 design</a:t>
            </a:r>
          </a:p>
          <a:p xmlns:a="http://schemas.openxmlformats.org/drawingml/2006/main">
            <a:pPr algn="l">
              <a:defRPr sz="4725" b="1">
                <a:solidFill>
                  <a:srgbClr val="1A1A1A"/>
                </a:solidFill>
                <a:latin typeface="Arial"/>
                <a:ea typeface="Arial"/>
                <a:cs typeface="Arial"/>
              </a:defRPr>
            </a:pPr>
            <a:r>
              <a:rPr sz="4725" b="1">
                <a:solidFill>
                  <a:srgbClr val="1A1A1A"/>
                </a:solidFill>
                <a:latin typeface="Arial"/>
                <a:ea typeface="Arial"/>
                <a:cs typeface="Arial"/>
              </a:rPr>
              <a:t>question. Test it with</a:t>
            </a:r>
          </a:p>
          <a:p xmlns:a="http://schemas.openxmlformats.org/drawingml/2006/main">
            <a:pPr algn="l">
              <a:defRPr sz="4725" b="1">
                <a:solidFill>
                  <a:srgbClr val="1A1A1A"/>
                </a:solidFill>
                <a:latin typeface="Arial"/>
                <a:ea typeface="Arial"/>
                <a:cs typeface="Arial"/>
              </a:defRPr>
            </a:pPr>
            <a:r>
              <a:rPr sz="4725" b="1">
                <a:solidFill>
                  <a:srgbClr val="1A1A1A"/>
                </a:solidFill>
                <a:latin typeface="Arial"/>
                <a:ea typeface="Arial"/>
                <a:cs typeface="Arial"/>
              </a:rPr>
              <a:t>your agent.</a:t>
            </a:r>
          </a:p>
        </p:txBody>
      </p:sp>
      <p:sp>
        <p:nvSpPr>
          <p:cNvPr id="3" name="">
            <a:extLst xmlns:a="http://schemas.openxmlformats.org/drawingml/2006/main">
              <a:ext uri="{FF2B5EF4-FFF2-40B4-BE49-F238E27FC236}">
                <a16:creationId xmlns:a16="http://schemas.microsoft.com/office/drawing/2014/main" id="{A2FB12D3-076B-4EB2-98F0-9E6B42EEBB02}"/>
              </a:ext>
            </a:extLst>
          </p:cNvPr>
          <p:cNvSpPr>
            <a:spLocks xmlns:a="http://schemas.openxmlformats.org/drawingml/2006/main" noGrp="1"/>
          </p:cNvSpPr>
          <p:nvPr/>
        </p:nvSpPr>
        <p:spPr>
          <a:xfrm xmlns:a="http://schemas.openxmlformats.org/drawingml/2006/main">
            <a:off x="800100" y="40386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1401C"/>
                </a:solidFill>
                <a:latin typeface="Consolas"/>
                <a:ea typeface="Consolas"/>
                <a:cs typeface="Consolas"/>
              </a:defRPr>
            </a:pPr>
            <a:r>
              <a:rPr sz="1350" b="0">
                <a:solidFill>
                  <a:srgbClr val="51401C"/>
                </a:solidFill>
                <a:latin typeface="Consolas"/>
                <a:ea typeface="Consolas"/>
                <a:cs typeface="Consolas"/>
              </a:rPr>
              <a:t>CODEX MCP SETUP</a:t>
            </a:r>
          </a:p>
        </p:txBody>
      </p:sp>
      <p:sp>
        <p:nvSpPr>
          <p:cNvPr id="4" name="">
            <a:extLst xmlns:a="http://schemas.openxmlformats.org/drawingml/2006/main">
              <a:ext uri="{FF2B5EF4-FFF2-40B4-BE49-F238E27FC236}">
                <a16:creationId xmlns:a16="http://schemas.microsoft.com/office/drawing/2014/main" id="{48D36DFB-35CB-424D-8D3F-0D6735BCFE74}"/>
              </a:ext>
            </a:extLst>
          </p:cNvPr>
          <p:cNvSpPr>
            <a:spLocks xmlns:a="http://schemas.openxmlformats.org/drawingml/2006/main" noGrp="1"/>
          </p:cNvSpPr>
          <p:nvPr/>
        </p:nvSpPr>
        <p:spPr>
          <a:xfrm xmlns:a="http://schemas.openxmlformats.org/drawingml/2006/main">
            <a:off x="800100" y="4514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1A1A1A"/>
                </a:solidFill>
                <a:latin typeface="Consolas"/>
                <a:ea typeface="Consolas"/>
                <a:cs typeface="Consolas"/>
              </a:defRPr>
            </a:pPr>
            <a:r>
              <a:rPr sz="1800" b="0">
                <a:solidFill>
                  <a:srgbClr val="1A1A1A"/>
                </a:solidFill>
                <a:latin typeface="Consolas"/>
                <a:ea typeface="Consolas"/>
                <a:cs typeface="Consolas"/>
              </a:rPr>
              <a:t>codex mcp add dtox --url https://read.whoim.space/mcp</a:t>
            </a:r>
          </a:p>
        </p:txBody>
      </p:sp>
      <p:sp>
        <p:nvSpPr>
          <p:cNvPr id="5" name="">
            <a:extLst xmlns:a="http://schemas.openxmlformats.org/drawingml/2006/main">
              <a:ext uri="{FF2B5EF4-FFF2-40B4-BE49-F238E27FC236}">
                <a16:creationId xmlns:a16="http://schemas.microsoft.com/office/drawing/2014/main" id="{FE8F1826-AD24-4310-9919-61109C57943F}"/>
              </a:ext>
            </a:extLst>
          </p:cNvPr>
          <p:cNvSpPr>
            <a:spLocks xmlns:a="http://schemas.openxmlformats.org/drawingml/2006/main" noGrp="1"/>
          </p:cNvSpPr>
          <p:nvPr/>
        </p:nvSpPr>
        <p:spPr>
          <a:xfrm xmlns:a="http://schemas.openxmlformats.org/drawingml/2006/main">
            <a:off x="800100" y="53340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1A1A1A"/>
                </a:solidFill>
                <a:latin typeface="Consolas"/>
                <a:ea typeface="Consolas"/>
                <a:cs typeface="Consolas"/>
              </a:defRPr>
            </a:pPr>
            <a:r>
              <a:rPr sz="1575" b="0">
                <a:solidFill>
                  <a:srgbClr val="1A1A1A"/>
                </a:solidFill>
                <a:latin typeface="Consolas"/>
                <a:ea typeface="Consolas"/>
                <a:cs typeface="Consolas"/>
              </a:rPr>
              <a:t>read.whoim.space/research/     /     github.com/who1900/dtox-research</a:t>
            </a:r>
          </a:p>
        </p:txBody>
      </p:sp>
      <p:sp>
        <p:nvSpPr>
          <p:cNvPr id="6" name="">
            <a:extLst xmlns:a="http://schemas.openxmlformats.org/drawingml/2006/main">
              <a:ext uri="{FF2B5EF4-FFF2-40B4-BE49-F238E27FC236}">
                <a16:creationId xmlns:a16="http://schemas.microsoft.com/office/drawing/2014/main" id="{9C091F9C-0068-4E81-B9A7-5A402366CA4C}"/>
              </a:ext>
            </a:extLst>
          </p:cNvPr>
          <p:cNvSpPr>
            <a:spLocks xmlns:a="http://schemas.openxmlformats.org/drawingml/2006/main" noGrp="1"/>
          </p:cNvSpPr>
          <p:nvPr/>
        </p:nvSpPr>
        <p:spPr>
          <a:xfrm xmlns:a="http://schemas.openxmlformats.org/drawingml/2006/main">
            <a:off x="800100" y="605790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1401C"/>
                </a:solidFill>
                <a:latin typeface="Consolas"/>
                <a:ea typeface="Consolas"/>
                <a:cs typeface="Consolas"/>
              </a:defRPr>
            </a:pPr>
            <a:r>
              <a:rPr sz="1350" b="0">
                <a:solidFill>
                  <a:srgbClr val="51401C"/>
                </a:solidFill>
                <a:latin typeface="Consolas"/>
                <a:ea typeface="Consolas"/>
                <a:cs typeface="Consolas"/>
              </a:rPr>
              <a:t>PUBLIC MCP     /     READ.WHOIM.SPACE/MCP</a:t>
            </a:r>
          </a:p>
        </p:txBody>
      </p:sp>
    </p:spTree>
    <p:extLst>
      <p:ext uri="{BB962C8B-B14F-4D97-AF65-F5344CB8AC3E}">
        <p14:creationId xmlns:p14="http://schemas.microsoft.com/office/powerpoint/2010/main" val="1370594527"/>
      </p:ext>
    </p:extLst>
  </p:cSld>
</p:sld>
</file>

<file path=ppt/slides/slide14.xml><?xml version="1.0" encoding="utf-8"?>
<p:sld xmlns:p="http://schemas.openxmlformats.org/presentationml/2006/main">
  <p:cSld>
    <p:bg>
      <p:bgPr>
        <a:solidFill xmlns:a="http://schemas.openxmlformats.org/drawingml/2006/main">
          <a:srgbClr val="F3F0E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1067303-81D4-4CE9-BB88-B0305C515248}"/>
              </a:ext>
            </a:extLst>
          </p:cNvPr>
          <p:cNvSpPr>
            <a:spLocks xmlns:a="http://schemas.openxmlformats.org/drawingml/2006/main" noGrp="1"/>
          </p:cNvSpPr>
          <p:nvPr/>
        </p:nvSpPr>
        <p:spPr>
          <a:xfrm xmlns:a="http://schemas.openxmlformats.org/drawingml/2006/main">
            <a:off x="781050" y="590550"/>
            <a:ext cx="1038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86777"/>
                </a:solidFill>
                <a:latin typeface="Consolas"/>
                <a:ea typeface="Consolas"/>
                <a:cs typeface="Consolas"/>
              </a:defRPr>
            </a:pPr>
            <a:r>
              <a:rPr sz="1350" b="0">
                <a:solidFill>
                  <a:srgbClr val="586777"/>
                </a:solidFill>
                <a:latin typeface="Consolas"/>
                <a:ea typeface="Consolas"/>
                <a:cs typeface="Consolas"/>
              </a:rPr>
              <a:t>APPENDIX A     /     EVIDENCE BOUNDARIES</a:t>
            </a:r>
          </a:p>
        </p:txBody>
      </p:sp>
      <p:sp>
        <p:nvSpPr>
          <p:cNvPr id="2" name="">
            <a:extLst xmlns:a="http://schemas.openxmlformats.org/drawingml/2006/main">
              <a:ext uri="{FF2B5EF4-FFF2-40B4-BE49-F238E27FC236}">
                <a16:creationId xmlns:a16="http://schemas.microsoft.com/office/drawing/2014/main" id="{9C747B1A-F17F-41CB-9BFE-2AE1436701A3}"/>
              </a:ext>
            </a:extLst>
          </p:cNvPr>
          <p:cNvSpPr>
            <a:spLocks xmlns:a="http://schemas.openxmlformats.org/drawingml/2006/main" noGrp="1"/>
          </p:cNvSpPr>
          <p:nvPr/>
        </p:nvSpPr>
        <p:spPr>
          <a:xfrm xmlns:a="http://schemas.openxmlformats.org/drawingml/2006/main">
            <a:off x="781050" y="1238250"/>
            <a:ext cx="9525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350" b="1">
                <a:solidFill>
                  <a:srgbClr val="1A1A1A"/>
                </a:solidFill>
                <a:latin typeface="Arial"/>
                <a:ea typeface="Arial"/>
                <a:cs typeface="Arial"/>
              </a:defRPr>
            </a:pPr>
            <a:r>
              <a:rPr sz="4350" b="1">
                <a:solidFill>
                  <a:srgbClr val="1A1A1A"/>
                </a:solidFill>
                <a:latin typeface="Arial"/>
                <a:ea typeface="Arial"/>
                <a:cs typeface="Arial"/>
              </a:rPr>
              <a:t>Source coverage</a:t>
            </a:r>
          </a:p>
          <a:p xmlns:a="http://schemas.openxmlformats.org/drawingml/2006/main">
            <a:pPr algn="l">
              <a:defRPr sz="4350" b="1">
                <a:solidFill>
                  <a:srgbClr val="1A1A1A"/>
                </a:solidFill>
                <a:latin typeface="Arial"/>
                <a:ea typeface="Arial"/>
                <a:cs typeface="Arial"/>
              </a:defRPr>
            </a:pPr>
            <a:r>
              <a:rPr sz="4350" b="1">
                <a:solidFill>
                  <a:srgbClr val="1A1A1A"/>
                </a:solidFill>
                <a:latin typeface="Arial"/>
                <a:ea typeface="Arial"/>
                <a:cs typeface="Arial"/>
              </a:rPr>
              <a:t>and evidence boundaries.</a:t>
            </a:r>
          </a:p>
        </p:txBody>
      </p:sp>
      <p:sp>
        <p:nvSpPr>
          <p:cNvPr id="3" name="">
            <a:extLst xmlns:a="http://schemas.openxmlformats.org/drawingml/2006/main">
              <a:ext uri="{FF2B5EF4-FFF2-40B4-BE49-F238E27FC236}">
                <a16:creationId xmlns:a16="http://schemas.microsoft.com/office/drawing/2014/main" id="{CB223C19-718A-4212-88CA-3F5C3DB4AF53}"/>
              </a:ext>
            </a:extLst>
          </p:cNvPr>
          <p:cNvSpPr>
            <a:spLocks xmlns:a="http://schemas.openxmlformats.org/drawingml/2006/main" noGrp="1"/>
          </p:cNvSpPr>
          <p:nvPr/>
        </p:nvSpPr>
        <p:spPr>
          <a:xfrm xmlns:a="http://schemas.openxmlformats.org/drawingml/2006/main">
            <a:off x="781050" y="30289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1">
                <a:solidFill>
                  <a:srgbClr val="1A1A1A"/>
                </a:solidFill>
                <a:latin typeface="Arial"/>
                <a:ea typeface="Arial"/>
                <a:cs typeface="Arial"/>
              </a:defRPr>
            </a:pPr>
            <a:r>
              <a:rPr sz="2550" b="1">
                <a:solidFill>
                  <a:srgbClr val="1A1A1A"/>
                </a:solidFill>
                <a:latin typeface="Arial"/>
                <a:ea typeface="Arial"/>
                <a:cs typeface="Arial"/>
              </a:rPr>
              <a:t>Full text varies</a:t>
            </a:r>
          </a:p>
          <a:p xmlns:a="http://schemas.openxmlformats.org/drawingml/2006/main">
            <a:pPr algn="l">
              <a:defRPr sz="2550" b="1">
                <a:solidFill>
                  <a:srgbClr val="1A1A1A"/>
                </a:solidFill>
                <a:latin typeface="Arial"/>
                <a:ea typeface="Arial"/>
                <a:cs typeface="Arial"/>
              </a:defRPr>
            </a:pPr>
            <a:r>
              <a:rPr sz="2550" b="1">
                <a:solidFill>
                  <a:srgbClr val="1A1A1A"/>
                </a:solidFill>
                <a:latin typeface="Arial"/>
                <a:ea typeface="Arial"/>
                <a:cs typeface="Arial"/>
              </a:rPr>
              <a:t>by record.</a:t>
            </a:r>
          </a:p>
        </p:txBody>
      </p:sp>
      <p:sp>
        <p:nvSpPr>
          <p:cNvPr id="4" name="">
            <a:extLst xmlns:a="http://schemas.openxmlformats.org/drawingml/2006/main">
              <a:ext uri="{FF2B5EF4-FFF2-40B4-BE49-F238E27FC236}">
                <a16:creationId xmlns:a16="http://schemas.microsoft.com/office/drawing/2014/main" id="{D3019599-427D-4A07-A08B-665265A3E1DB}"/>
              </a:ext>
            </a:extLst>
          </p:cNvPr>
          <p:cNvSpPr>
            <a:spLocks xmlns:a="http://schemas.openxmlformats.org/drawingml/2006/main" noGrp="1"/>
          </p:cNvSpPr>
          <p:nvPr/>
        </p:nvSpPr>
        <p:spPr>
          <a:xfrm xmlns:a="http://schemas.openxmlformats.org/drawingml/2006/main">
            <a:off x="781050" y="4343400"/>
            <a:ext cx="466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1A1A1A"/>
                </a:solidFill>
                <a:latin typeface="Arial"/>
                <a:ea typeface="Arial"/>
                <a:cs typeface="Arial"/>
              </a:defRPr>
            </a:pPr>
            <a:r>
              <a:rPr sz="1875" b="0">
                <a:solidFill>
                  <a:srgbClr val="1A1A1A"/>
                </a:solidFill>
                <a:latin typeface="Arial"/>
                <a:ea typeface="Arial"/>
                <a:cs typeface="Arial"/>
              </a:rPr>
              <a:t>Abstract-only fallbacks remain possible.</a:t>
            </a:r>
          </a:p>
        </p:txBody>
      </p:sp>
      <p:sp>
        <p:nvSpPr>
          <p:cNvPr id="5" name="">
            <a:extLst xmlns:a="http://schemas.openxmlformats.org/drawingml/2006/main">
              <a:ext uri="{FF2B5EF4-FFF2-40B4-BE49-F238E27FC236}">
                <a16:creationId xmlns:a16="http://schemas.microsoft.com/office/drawing/2014/main" id="{9D9335F6-A80A-4624-AC5D-E15C141BA990}"/>
              </a:ext>
            </a:extLst>
          </p:cNvPr>
          <p:cNvSpPr>
            <a:spLocks xmlns:a="http://schemas.openxmlformats.org/drawingml/2006/main" noGrp="1"/>
          </p:cNvSpPr>
          <p:nvPr/>
        </p:nvSpPr>
        <p:spPr>
          <a:xfrm xmlns:a="http://schemas.openxmlformats.org/drawingml/2006/main">
            <a:off x="6553200" y="3028950"/>
            <a:ext cx="4572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1A1A1A"/>
                </a:solidFill>
                <a:latin typeface="Arial"/>
                <a:ea typeface="Arial"/>
                <a:cs typeface="Arial"/>
              </a:defRPr>
            </a:pPr>
            <a:r>
              <a:rPr sz="2250" b="1">
                <a:solidFill>
                  <a:srgbClr val="1A1A1A"/>
                </a:solidFill>
                <a:latin typeface="Arial"/>
                <a:ea typeface="Arial"/>
                <a:cs typeface="Arial"/>
              </a:rPr>
              <a:t>Empty results do not establish novelty.</a:t>
            </a:r>
          </a:p>
        </p:txBody>
      </p:sp>
      <p:sp>
        <p:nvSpPr>
          <p:cNvPr id="6" name="">
            <a:extLst xmlns:a="http://schemas.openxmlformats.org/drawingml/2006/main">
              <a:ext uri="{FF2B5EF4-FFF2-40B4-BE49-F238E27FC236}">
                <a16:creationId xmlns:a16="http://schemas.microsoft.com/office/drawing/2014/main" id="{BC2A826B-D2F5-4BAE-938C-0EB963E93216}"/>
              </a:ext>
            </a:extLst>
          </p:cNvPr>
          <p:cNvSpPr>
            <a:spLocks xmlns:a="http://schemas.openxmlformats.org/drawingml/2006/main" noGrp="1"/>
          </p:cNvSpPr>
          <p:nvPr/>
        </p:nvSpPr>
        <p:spPr>
          <a:xfrm xmlns:a="http://schemas.openxmlformats.org/drawingml/2006/main">
            <a:off x="6553200" y="4171950"/>
            <a:ext cx="4572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0">
                <a:solidFill>
                  <a:srgbClr val="1A1A1A"/>
                </a:solidFill>
                <a:latin typeface="Arial"/>
                <a:ea typeface="Arial"/>
                <a:cs typeface="Arial"/>
              </a:defRPr>
            </a:pPr>
            <a:r>
              <a:rPr sz="2100" b="0">
                <a:solidFill>
                  <a:srgbClr val="1A1A1A"/>
                </a:solidFill>
                <a:latin typeface="Arial"/>
                <a:ea typeface="Arial"/>
                <a:cs typeface="Arial"/>
              </a:rPr>
              <a:t>Patents are outside the index.</a:t>
            </a:r>
          </a:p>
        </p:txBody>
      </p:sp>
      <p:sp>
        <p:nvSpPr>
          <p:cNvPr id="7" name="">
            <a:extLst xmlns:a="http://schemas.openxmlformats.org/drawingml/2006/main">
              <a:ext uri="{FF2B5EF4-FFF2-40B4-BE49-F238E27FC236}">
                <a16:creationId xmlns:a16="http://schemas.microsoft.com/office/drawing/2014/main" id="{E66014B4-8D53-4588-95EF-914CAA446E7B}"/>
              </a:ext>
            </a:extLst>
          </p:cNvPr>
          <p:cNvSpPr>
            <a:spLocks xmlns:a="http://schemas.openxmlformats.org/drawingml/2006/main" noGrp="1"/>
          </p:cNvSpPr>
          <p:nvPr/>
        </p:nvSpPr>
        <p:spPr>
          <a:xfrm xmlns:a="http://schemas.openxmlformats.org/drawingml/2006/main">
            <a:off x="6553200" y="5219700"/>
            <a:ext cx="4572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1A1A1A"/>
                </a:solidFill>
                <a:latin typeface="Arial"/>
                <a:ea typeface="Arial"/>
                <a:cs typeface="Arial"/>
              </a:defRPr>
            </a:pPr>
            <a:r>
              <a:rPr sz="1800" b="0">
                <a:solidFill>
                  <a:srgbClr val="1A1A1A"/>
                </a:solidFill>
                <a:latin typeface="Arial"/>
                <a:ea typeface="Arial"/>
                <a:cs typeface="Arial"/>
              </a:rPr>
              <a:t>Exact LaTeX only when sourced.</a:t>
            </a:r>
          </a:p>
        </p:txBody>
      </p:sp>
      <p:sp>
        <p:nvSpPr>
          <p:cNvPr id="8" name="">
            <a:extLst xmlns:a="http://schemas.openxmlformats.org/drawingml/2006/main">
              <a:ext uri="{FF2B5EF4-FFF2-40B4-BE49-F238E27FC236}">
                <a16:creationId xmlns:a16="http://schemas.microsoft.com/office/drawing/2014/main" id="{EF3380E0-94DE-4433-A2EF-19839BFAFCFF}"/>
              </a:ext>
            </a:extLst>
          </p:cNvPr>
          <p:cNvSpPr>
            <a:spLocks xmlns:a="http://schemas.openxmlformats.org/drawingml/2006/main" noGrp="1"/>
          </p:cNvSpPr>
          <p:nvPr/>
        </p:nvSpPr>
        <p:spPr>
          <a:xfrm xmlns:a="http://schemas.openxmlformats.org/drawingml/2006/main">
            <a:off x="781050" y="605790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86777"/>
                </a:solidFill>
                <a:latin typeface="Consolas"/>
                <a:ea typeface="Consolas"/>
                <a:cs typeface="Consolas"/>
              </a:defRPr>
            </a:pPr>
            <a:r>
              <a:rPr sz="1275" b="0">
                <a:solidFill>
                  <a:srgbClr val="586777"/>
                </a:solidFill>
                <a:latin typeface="Consolas"/>
                <a:ea typeface="Consolas"/>
                <a:cs typeface="Consolas"/>
              </a:rPr>
              <a:t>PROVENANCE AND SCOPE SIGNALS SHOULD TRAVEL WITH EVERY CLAIM</a:t>
            </a:r>
          </a:p>
        </p:txBody>
      </p:sp>
    </p:spTree>
    <p:extLst>
      <p:ext uri="{BB962C8B-B14F-4D97-AF65-F5344CB8AC3E}">
        <p14:creationId xmlns:p14="http://schemas.microsoft.com/office/powerpoint/2010/main" val="355532826"/>
      </p:ext>
    </p:extLst>
  </p:cSld>
</p:sld>
</file>

<file path=ppt/slides/slide15.xml><?xml version="1.0" encoding="utf-8"?>
<p:sld xmlns:p="http://schemas.openxmlformats.org/presentationml/2006/main">
  <p:cSld>
    <p:bg>
      <p:bgPr>
        <a:solidFill xmlns:a="http://schemas.openxmlformats.org/drawingml/2006/main">
          <a:srgbClr val="14263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350CFBD-6743-4AFD-B78C-4D62BA8DDF11}"/>
              </a:ext>
            </a:extLst>
          </p:cNvPr>
          <p:cNvSpPr>
            <a:spLocks xmlns:a="http://schemas.openxmlformats.org/drawingml/2006/main" noGrp="1"/>
          </p:cNvSpPr>
          <p:nvPr/>
        </p:nvSpPr>
        <p:spPr>
          <a:xfrm xmlns:a="http://schemas.openxmlformats.org/drawingml/2006/main">
            <a:off x="781050" y="590550"/>
            <a:ext cx="1038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E7AE34"/>
                </a:solidFill>
                <a:latin typeface="Consolas"/>
                <a:ea typeface="Consolas"/>
                <a:cs typeface="Consolas"/>
              </a:defRPr>
            </a:pPr>
            <a:r>
              <a:rPr sz="1350" b="0">
                <a:solidFill>
                  <a:srgbClr val="E7AE34"/>
                </a:solidFill>
                <a:latin typeface="Consolas"/>
                <a:ea typeface="Consolas"/>
                <a:cs typeface="Consolas"/>
              </a:rPr>
              <a:t>APPENDIX B     /     CONTEST PRIOR-WORK DISCLOSURE</a:t>
            </a:r>
          </a:p>
        </p:txBody>
      </p:sp>
      <p:sp>
        <p:nvSpPr>
          <p:cNvPr id="2" name="">
            <a:extLst xmlns:a="http://schemas.openxmlformats.org/drawingml/2006/main">
              <a:ext uri="{FF2B5EF4-FFF2-40B4-BE49-F238E27FC236}">
                <a16:creationId xmlns:a16="http://schemas.microsoft.com/office/drawing/2014/main" id="{3C4871BA-7E62-4982-9015-09831823A071}"/>
              </a:ext>
            </a:extLst>
          </p:cNvPr>
          <p:cNvSpPr>
            <a:spLocks xmlns:a="http://schemas.openxmlformats.org/drawingml/2006/main" noGrp="1"/>
          </p:cNvSpPr>
          <p:nvPr/>
        </p:nvSpPr>
        <p:spPr>
          <a:xfrm xmlns:a="http://schemas.openxmlformats.org/drawingml/2006/main">
            <a:off x="781050" y="1200150"/>
            <a:ext cx="9906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350" b="1">
                <a:solidFill>
                  <a:srgbClr val="FAFAF3"/>
                </a:solidFill>
                <a:latin typeface="Arial"/>
                <a:ea typeface="Arial"/>
                <a:cs typeface="Arial"/>
              </a:defRPr>
            </a:pPr>
            <a:r>
              <a:rPr sz="4350" b="1">
                <a:solidFill>
                  <a:srgbClr val="FAFAF3"/>
                </a:solidFill>
                <a:latin typeface="Arial"/>
                <a:ea typeface="Arial"/>
                <a:cs typeface="Arial"/>
              </a:rPr>
              <a:t>The platform predates</a:t>
            </a:r>
          </a:p>
          <a:p xmlns:a="http://schemas.openxmlformats.org/drawingml/2006/main">
            <a:pPr algn="l">
              <a:defRPr sz="4350" b="1">
                <a:solidFill>
                  <a:srgbClr val="FAFAF3"/>
                </a:solidFill>
                <a:latin typeface="Arial"/>
                <a:ea typeface="Arial"/>
                <a:cs typeface="Arial"/>
              </a:defRPr>
            </a:pPr>
            <a:r>
              <a:rPr sz="4350" b="1">
                <a:solidFill>
                  <a:srgbClr val="FAFAF3"/>
                </a:solidFill>
                <a:latin typeface="Arial"/>
                <a:ea typeface="Arial"/>
                <a:cs typeface="Arial"/>
              </a:rPr>
              <a:t>the contest.</a:t>
            </a:r>
          </a:p>
        </p:txBody>
      </p:sp>
      <p:sp>
        <p:nvSpPr>
          <p:cNvPr id="3" name="">
            <a:extLst xmlns:a="http://schemas.openxmlformats.org/drawingml/2006/main">
              <a:ext uri="{FF2B5EF4-FFF2-40B4-BE49-F238E27FC236}">
                <a16:creationId xmlns:a16="http://schemas.microsoft.com/office/drawing/2014/main" id="{A6F94C2A-2ABA-4FF5-8399-C2878441C30F}"/>
              </a:ext>
            </a:extLst>
          </p:cNvPr>
          <p:cNvSpPr>
            <a:spLocks xmlns:a="http://schemas.openxmlformats.org/drawingml/2006/main" noGrp="1"/>
          </p:cNvSpPr>
          <p:nvPr/>
        </p:nvSpPr>
        <p:spPr>
          <a:xfrm xmlns:a="http://schemas.openxmlformats.org/drawingml/2006/main">
            <a:off x="781050" y="2924175"/>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D9DFE4"/>
                </a:solidFill>
                <a:latin typeface="Consolas"/>
                <a:ea typeface="Consolas"/>
                <a:cs typeface="Consolas"/>
              </a:defRPr>
            </a:pPr>
            <a:r>
              <a:rPr sz="1350" b="0">
                <a:solidFill>
                  <a:srgbClr val="D9DFE4"/>
                </a:solidFill>
                <a:latin typeface="Consolas"/>
                <a:ea typeface="Consolas"/>
                <a:cs typeface="Consolas"/>
              </a:rPr>
              <a:t>PLATFORM STARTED     /     JULY 31 2026</a:t>
            </a:r>
          </a:p>
        </p:txBody>
      </p:sp>
      <p:sp>
        <p:nvSpPr>
          <p:cNvPr id="4" name="">
            <a:extLst xmlns:a="http://schemas.openxmlformats.org/drawingml/2006/main">
              <a:ext uri="{FF2B5EF4-FFF2-40B4-BE49-F238E27FC236}">
                <a16:creationId xmlns:a16="http://schemas.microsoft.com/office/drawing/2014/main" id="{35B25CE4-9ED8-484C-AB52-173C8E34616C}"/>
              </a:ext>
            </a:extLst>
          </p:cNvPr>
          <p:cNvSpPr>
            <a:spLocks xmlns:a="http://schemas.openxmlformats.org/drawingml/2006/main" noGrp="1"/>
          </p:cNvSpPr>
          <p:nvPr/>
        </p:nvSpPr>
        <p:spPr>
          <a:xfrm xmlns:a="http://schemas.openxmlformats.org/drawingml/2006/main">
            <a:off x="781050" y="340995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FAFAF3"/>
                </a:solidFill>
                <a:latin typeface="Arial"/>
                <a:ea typeface="Arial"/>
                <a:cs typeface="Arial"/>
              </a:defRPr>
            </a:pPr>
            <a:r>
              <a:rPr sz="2475" b="1">
                <a:solidFill>
                  <a:srgbClr val="FAFAF3"/>
                </a:solidFill>
                <a:latin typeface="Arial"/>
                <a:ea typeface="Arial"/>
                <a:cs typeface="Arial"/>
              </a:rPr>
              <a:t>Crypto World’s Fair began September 14, 2026.</a:t>
            </a:r>
          </a:p>
        </p:txBody>
      </p:sp>
      <p:sp>
        <p:nvSpPr>
          <p:cNvPr id="5" name="">
            <a:extLst xmlns:a="http://schemas.openxmlformats.org/drawingml/2006/main">
              <a:ext uri="{FF2B5EF4-FFF2-40B4-BE49-F238E27FC236}">
                <a16:creationId xmlns:a16="http://schemas.microsoft.com/office/drawing/2014/main" id="{C9829565-DB6E-43A7-AF30-398FDDDED6C0}"/>
              </a:ext>
            </a:extLst>
          </p:cNvPr>
          <p:cNvSpPr>
            <a:spLocks xmlns:a="http://schemas.openxmlformats.org/drawingml/2006/main" noGrp="1"/>
          </p:cNvSpPr>
          <p:nvPr/>
        </p:nvSpPr>
        <p:spPr>
          <a:xfrm xmlns:a="http://schemas.openxmlformats.org/drawingml/2006/main">
            <a:off x="781050" y="4229100"/>
            <a:ext cx="10191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0">
                <a:solidFill>
                  <a:srgbClr val="FAFAF3"/>
                </a:solidFill>
                <a:latin typeface="Arial"/>
                <a:ea typeface="Arial"/>
                <a:cs typeface="Arial"/>
              </a:defRPr>
            </a:pPr>
            <a:r>
              <a:rPr sz="2100" b="0">
                <a:solidFill>
                  <a:srgbClr val="FAFAF3"/>
                </a:solidFill>
                <a:latin typeface="Arial"/>
                <a:ea typeface="Arial"/>
                <a:cs typeface="Arial"/>
              </a:rPr>
              <a:t>During the contest: signed Solana attestations, devnet x402 settlement, hierarchical retrieval, and a Web3 evidence demo.</a:t>
            </a:r>
          </a:p>
        </p:txBody>
      </p:sp>
      <p:sp>
        <p:nvSpPr>
          <p:cNvPr id="6" name="">
            <a:extLst xmlns:a="http://schemas.openxmlformats.org/drawingml/2006/main">
              <a:ext uri="{FF2B5EF4-FFF2-40B4-BE49-F238E27FC236}">
                <a16:creationId xmlns:a16="http://schemas.microsoft.com/office/drawing/2014/main" id="{556F2608-9C0C-404F-818C-D87EAF892703}"/>
              </a:ext>
            </a:extLst>
          </p:cNvPr>
          <p:cNvSpPr>
            <a:spLocks xmlns:a="http://schemas.openxmlformats.org/drawingml/2006/main" noGrp="1"/>
          </p:cNvSpPr>
          <p:nvPr/>
        </p:nvSpPr>
        <p:spPr>
          <a:xfrm xmlns:a="http://schemas.openxmlformats.org/drawingml/2006/main">
            <a:off x="781050" y="5476875"/>
            <a:ext cx="1019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D9DFE4"/>
                </a:solidFill>
                <a:latin typeface="Arial"/>
                <a:ea typeface="Arial"/>
                <a:cs typeface="Arial"/>
              </a:defRPr>
            </a:pPr>
            <a:r>
              <a:rPr sz="1650" b="0">
                <a:solidFill>
                  <a:srgbClr val="D9DFE4"/>
                </a:solidFill>
                <a:latin typeface="Arial"/>
                <a:ea typeface="Arial"/>
                <a:cs typeface="Arial"/>
              </a:rPr>
              <a:t>The platform's pre-contest history is disclosed.</a:t>
            </a:r>
          </a:p>
        </p:txBody>
      </p:sp>
      <p:sp>
        <p:nvSpPr>
          <p:cNvPr id="7" name="">
            <a:extLst xmlns:a="http://schemas.openxmlformats.org/drawingml/2006/main">
              <a:ext uri="{FF2B5EF4-FFF2-40B4-BE49-F238E27FC236}">
                <a16:creationId xmlns:a16="http://schemas.microsoft.com/office/drawing/2014/main" id="{C5E7C837-C55B-421A-BE79-404993AB9CEB}"/>
              </a:ext>
            </a:extLst>
          </p:cNvPr>
          <p:cNvSpPr>
            <a:spLocks xmlns:a="http://schemas.openxmlformats.org/drawingml/2006/main" noGrp="1"/>
          </p:cNvSpPr>
          <p:nvPr/>
        </p:nvSpPr>
        <p:spPr>
          <a:xfrm xmlns:a="http://schemas.openxmlformats.org/drawingml/2006/main">
            <a:off x="781050" y="605790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D9DFE4"/>
                </a:solidFill>
                <a:latin typeface="Consolas"/>
                <a:ea typeface="Consolas"/>
                <a:cs typeface="Consolas"/>
              </a:defRPr>
            </a:pPr>
            <a:r>
              <a:rPr sz="1275" b="0">
                <a:solidFill>
                  <a:srgbClr val="D9DFE4"/>
                </a:solidFill>
                <a:latin typeface="Consolas"/>
                <a:ea typeface="Consolas"/>
                <a:cs typeface="Consolas"/>
              </a:rPr>
              <a:t>DATES AND SCOPE FROM THE PUBLIC PROJECT SUBMISSION</a:t>
            </a:r>
          </a:p>
        </p:txBody>
      </p:sp>
    </p:spTree>
    <p:extLst>
      <p:ext uri="{BB962C8B-B14F-4D97-AF65-F5344CB8AC3E}">
        <p14:creationId xmlns:p14="http://schemas.microsoft.com/office/powerpoint/2010/main" val="4291365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2026-10-05T10:04:03.4200000Z</dcterms:created>
  <dcterms:modified xsi:type="dcterms:W3CDTF">2026-10-05T10:04:03.4200000Z</dcterms:modified>
</coreProperties>
</file>